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7a9520faac44f4" /><Relationship Type="http://schemas.openxmlformats.org/officeDocument/2006/relationships/extended-properties" Target="/docProps/app.xml" Id="R27a93065eb064e22" /><Relationship Type="http://schemas.openxmlformats.org/officeDocument/2006/relationships/officeDocument" Target="/ppt/presentation.xml" Id="R09698529fc0b4474" /></Relationships>
</file>

<file path=ppt/presentation.xml><?xml version="1.0" encoding="utf-8"?>
<p:presentation xmlns:p="http://schemas.openxmlformats.org/presentationml/2006/main">
  <p:sldMasterIdLst>
    <p:sldMasterId xmlns:r="http://schemas.openxmlformats.org/officeDocument/2006/relationships" id="2147483648" r:id="R23c9d09706a84a9e"/>
  </p:sldMasterIdLst>
  <p:notesMasterIdLst>
    <p:notesMasterId xmlns:r="http://schemas.openxmlformats.org/officeDocument/2006/relationships" r:id="Rbffb824e442345d3"/>
  </p:notesMasterIdLst>
  <p:sldIdLst>
    <p:sldId xmlns:r="http://schemas.openxmlformats.org/officeDocument/2006/relationships" id="256" r:id="Re71acd19161246c7"/>
    <p:sldId xmlns:r="http://schemas.openxmlformats.org/officeDocument/2006/relationships" id="257" r:id="R899cc3c45bb04e7d"/>
    <p:sldId xmlns:r="http://schemas.openxmlformats.org/officeDocument/2006/relationships" id="258" r:id="R1cdc6cecc5f14913"/>
    <p:sldId xmlns:r="http://schemas.openxmlformats.org/officeDocument/2006/relationships" id="259" r:id="R48b08090e4c54f7b"/>
    <p:sldId xmlns:r="http://schemas.openxmlformats.org/officeDocument/2006/relationships" id="260" r:id="R7ffe30ad53504aa4"/>
    <p:sldId xmlns:r="http://schemas.openxmlformats.org/officeDocument/2006/relationships" id="261" r:id="Rdd47cd92b3844785"/>
    <p:sldId xmlns:r="http://schemas.openxmlformats.org/officeDocument/2006/relationships" id="262" r:id="R03afb1734c7a41f6"/>
    <p:sldId xmlns:r="http://schemas.openxmlformats.org/officeDocument/2006/relationships" id="263" r:id="Ra664ac2026984f3f"/>
    <p:sldId xmlns:r="http://schemas.openxmlformats.org/officeDocument/2006/relationships" id="264" r:id="R803aed1addbc42bf"/>
    <p:sldId xmlns:r="http://schemas.openxmlformats.org/officeDocument/2006/relationships" id="265" r:id="Rb60926cc2b7d41b0"/>
    <p:sldId xmlns:r="http://schemas.openxmlformats.org/officeDocument/2006/relationships" id="266" r:id="Rc2463be40e774b3b"/>
    <p:sldId xmlns:r="http://schemas.openxmlformats.org/officeDocument/2006/relationships" id="267" r:id="R79d8b55c92c3434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b8ec90814ff4d57" /><Relationship Type="http://schemas.openxmlformats.org/officeDocument/2006/relationships/slideMaster" Target="/ppt/slideMasters/slideMaster1.xml" Id="R23c9d09706a84a9e" /><Relationship Type="http://schemas.openxmlformats.org/officeDocument/2006/relationships/notesMaster" Target="/ppt/notesMasters/notesMaster1.xml" Id="Rbffb824e442345d3" /><Relationship Type="http://schemas.openxmlformats.org/officeDocument/2006/relationships/presProps" Target="/ppt/presProps.xml" Id="R91dab8d5f9c6434d" /><Relationship Type="http://schemas.openxmlformats.org/officeDocument/2006/relationships/viewProps" Target="/ppt/viewProps.xml" Id="R6d2a061416ba4aee" /><Relationship Type="http://schemas.openxmlformats.org/officeDocument/2006/relationships/tableStyles" Target="/ppt/tableStyles.xml" Id="Rf336f9f30c1f470d" /><Relationship Type="http://schemas.openxmlformats.org/officeDocument/2006/relationships/slide" Target="/ppt/slides/slide1.xml" Id="Re71acd19161246c7" /><Relationship Type="http://schemas.openxmlformats.org/officeDocument/2006/relationships/slide" Target="/ppt/slides/slide2.xml" Id="R899cc3c45bb04e7d" /><Relationship Type="http://schemas.openxmlformats.org/officeDocument/2006/relationships/slide" Target="/ppt/slides/slide3.xml" Id="R1cdc6cecc5f14913" /><Relationship Type="http://schemas.openxmlformats.org/officeDocument/2006/relationships/slide" Target="/ppt/slides/slide4.xml" Id="R48b08090e4c54f7b" /><Relationship Type="http://schemas.openxmlformats.org/officeDocument/2006/relationships/slide" Target="/ppt/slides/slide5.xml" Id="R7ffe30ad53504aa4" /><Relationship Type="http://schemas.openxmlformats.org/officeDocument/2006/relationships/slide" Target="/ppt/slides/slide6.xml" Id="Rdd47cd92b3844785" /><Relationship Type="http://schemas.openxmlformats.org/officeDocument/2006/relationships/slide" Target="/ppt/slides/slide7.xml" Id="R03afb1734c7a41f6" /><Relationship Type="http://schemas.openxmlformats.org/officeDocument/2006/relationships/slide" Target="/ppt/slides/slide8.xml" Id="Ra664ac2026984f3f" /><Relationship Type="http://schemas.openxmlformats.org/officeDocument/2006/relationships/slide" Target="/ppt/slides/slide9.xml" Id="R803aed1addbc42bf" /><Relationship Type="http://schemas.openxmlformats.org/officeDocument/2006/relationships/slide" Target="/ppt/slides/slide10.xml" Id="Rb60926cc2b7d41b0" /><Relationship Type="http://schemas.openxmlformats.org/officeDocument/2006/relationships/slide" Target="/ppt/slides/slide11.xml" Id="Rc2463be40e774b3b" /><Relationship Type="http://schemas.openxmlformats.org/officeDocument/2006/relationships/slide" Target="/ppt/slides/slide12.xml" Id="R79d8b55c92c343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06b1bf5f4444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roject">
  <a:themeElements>
    <a:clrScheme name="Projec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Projec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66c8b23bd34204" /><Relationship Type="http://schemas.openxmlformats.org/officeDocument/2006/relationships/notesMaster" Target="/ppt/notesMasters/notesMaster1.xml" Id="R27a9cd4846e441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c7448f21f542f3" /><Relationship Type="http://schemas.openxmlformats.org/officeDocument/2006/relationships/notesMaster" Target="/ppt/notesMasters/notesMaster1.xml" Id="R72c382f4b25448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a7d25d1e314b53" /><Relationship Type="http://schemas.openxmlformats.org/officeDocument/2006/relationships/notesMaster" Target="/ppt/notesMasters/notesMaster1.xml" Id="Rf0068f8ef8604f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e9e7738edd4ccc" /><Relationship Type="http://schemas.openxmlformats.org/officeDocument/2006/relationships/notesMaster" Target="/ppt/notesMasters/notesMaster1.xml" Id="R83719354d61a45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6d9bd96cc44b34" /><Relationship Type="http://schemas.openxmlformats.org/officeDocument/2006/relationships/notesMaster" Target="/ppt/notesMasters/notesMaster1.xml" Id="R0ef228cd292346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2684b7f63c4f7f" /><Relationship Type="http://schemas.openxmlformats.org/officeDocument/2006/relationships/notesMaster" Target="/ppt/notesMasters/notesMaster1.xml" Id="R91d5834387584d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8edb0b31ec4ca3" /><Relationship Type="http://schemas.openxmlformats.org/officeDocument/2006/relationships/notesMaster" Target="/ppt/notesMasters/notesMaster1.xml" Id="R35b988ac95a347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5fc4f502b54ca5" /><Relationship Type="http://schemas.openxmlformats.org/officeDocument/2006/relationships/notesMaster" Target="/ppt/notesMasters/notesMaster1.xml" Id="R343fa3adaebf4e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0f2f0899f5240a2" /><Relationship Type="http://schemas.openxmlformats.org/officeDocument/2006/relationships/notesMaster" Target="/ppt/notesMasters/notesMaster1.xml" Id="R434b2e169fc549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8b7e07705c4349" /><Relationship Type="http://schemas.openxmlformats.org/officeDocument/2006/relationships/notesMaster" Target="/ppt/notesMasters/notesMaster1.xml" Id="R7d8e95a6b9c04de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00d8c3d65c4c0a" /><Relationship Type="http://schemas.openxmlformats.org/officeDocument/2006/relationships/notesMaster" Target="/ppt/notesMasters/notesMaster1.xml" Id="R0e3733ef64a9488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1c8219d9e07488e" /><Relationship Type="http://schemas.openxmlformats.org/officeDocument/2006/relationships/notesMaster" Target="/ppt/notesMasters/notesMaster1.xml" Id="R617b8debe78742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saying that this project is a complete visual alarm prototype built around the ESP32-S3-EYE board. The board runs the people detector locally, so the camera image is not sent to a cloud model. The alarm is converted into a small MQTT JSON event, and a Python script forwards that event to the Telegram bot. Point to the two images: the board display proves the local detection, and the Telegram screenshot proves the notification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this slide as the requirement baseline for the system. The project is not just a camera demo: it needs embedded vision, a clear alarm policy, a network event format, and a user notification bridge. Each block maps to a real component in the implementation, which keeps the architecture easy to explain and easy to verify.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ESP32-S3-EYE captures frames, the detector runs on-device, the policy waits for repeated positive frames, and only then the firmware publishes MQTT JSON. The backend is a separate Python process on the laptop. It subscribes to the topic and sends a Telegram message. The slide also lists the real technologies used: ESP-IDF, ESP-WHO/ESP-DL, Mosquitto, paho-mqtt, requests, and Telegram Bot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explains what happens inside the firmware. The firmware starts the board hardware, begins capture, runs the detector, draws a visual bounding box on the LCD, and then applies the alarm policy. The policy is important because it prevents a single noisy frame from creating a Telegram message. Also mention that the firmware can keep running without network setup and log JSON over serial, which helps debugging.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AI model is not running on a laptop or cloud API. The firmware embeds Espressif's PICO_S8_V1 pedestrian detector as an ESP-DL model artifact. The compiled model blob is 435,328 bytes in flash, the input is 224 by 224 by 3, and the reported model inference step on ESP32-S3 is around 118.3 ms. The detector produces a bounding box and confidence score, and the alarm policy decides whether that result becomes an alert.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detections are not forwarded immediately. The firmware first checks the confidence threshold, then counts positive frames. Once the configured confirmation count is reached and cooldown is not active, it creates a JSON event. The event includes the device ID, event ID, timestamp, label, confidence, confirmation frames, and box coordinates. This is why the Telegram message is informative but still lightweight.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backend side. The Python bridge is intentionally small because it should be easy to test, audit, and run during a live demo. The script loads environment variables, connects to the MQTT broker, subscribes to the topic, validates the event, formats it into readable lines, and sends it to Telegram. The validation and cooldown are there so malformed messages or repeated events do not create confusing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device-side proof. The important point is that the red bounding box is visible directly on the ESP32-S3-EYE screen. That means the camera frame is captured and processed locally, and the detector result is available before MQTT or Telegram are involved.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rows of the Telegram message. Device identifies the board, Event is a unique alarm ID, Detection is the class label, Confidence is the model score, Confirmation frames shows that this was not a single noisy frame, Timestamp is the device uptime, and Box is the detector bounding box. The main design point is that the user receives enough detail to understand the alert without sending the camera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that the prototype has clear directions for improvement. The most useful next step would be structured testing: different lighting, empty scenes, moving objects, and repeated timing measurements. After that, I would improve security and reliability around MQTT and credentials, and then add product features like event history or configurable detection zones.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complete system path. The project combines embedded camera capture, on-device pedestrian detection, an alarm policy, MQTT event publishing, and a Python Telegram bridge. The strongest design decision is that the device sends useful event metadata rather than raw camera frames, which keeps the pipeline lightweight and privacy-aware.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final slide as the complete walkthrough. First, the ESP32-S3-EYE captures the frame and displays the local preview. The AI inference also runs on the board, then the firmware checks the confidence, confirmation-frame count, and cooldown rule. Only after that does compact metadata leave the device. MQTT carries the JSON event to Mosquitto, the Python backend validates and formats it, and Telegram delivers the readable alert to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fea7dc79b04b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31b81f6e544792" /><Relationship Type="http://schemas.openxmlformats.org/officeDocument/2006/relationships/slideLayout" Target="/ppt/slideLayouts/slideLayout1.xml" Id="Rd2bbaf697da24b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bbaf697da24b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Project">
  <a:themeElements>
    <a:clrScheme name="Projec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Projec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5f403fa5e3405d" /><Relationship Type="http://schemas.openxmlformats.org/officeDocument/2006/relationships/image" Target="/ppt/media/image.png" Id="Raa24edd5a1654382" /><Relationship Type="http://schemas.openxmlformats.org/officeDocument/2006/relationships/image" Target="/ppt/media/image2.png" Id="R0c4106eee6194ca3" /><Relationship Type="http://schemas.openxmlformats.org/officeDocument/2006/relationships/image" Target="/ppt/media/image3.png" Id="Rc315cd8081f04f2f" /><Relationship Type="http://schemas.openxmlformats.org/officeDocument/2006/relationships/image" Target="/ppt/media/image.svg" Id="R5076c9af3f3846db" /><Relationship Type="http://schemas.openxmlformats.org/officeDocument/2006/relationships/image" Target="/ppt/media/image4.png" Id="Re323c42823e940df" /><Relationship Type="http://schemas.openxmlformats.org/officeDocument/2006/relationships/image" Target="/ppt/media/image2.svg" Id="Rc6eb90cc1b144a90" /><Relationship Type="http://schemas.openxmlformats.org/officeDocument/2006/relationships/image" Target="/ppt/media/image5.png" Id="Ra1dee120b1c749df" /><Relationship Type="http://schemas.openxmlformats.org/officeDocument/2006/relationships/image" Target="/ppt/media/image3.svg" Id="R57f40fca09754624" /><Relationship Type="http://schemas.openxmlformats.org/officeDocument/2006/relationships/notesSlide" Target="/ppt/notesSlides/notesSlide1.xml" Id="R1cf8ad3d1c7b41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df1ce0b9d6e4599" /><Relationship Type="http://schemas.openxmlformats.org/officeDocument/2006/relationships/image" Target="/ppt/media/image6.png" Id="Rec73b4fa264d4b28" /><Relationship Type="http://schemas.openxmlformats.org/officeDocument/2006/relationships/image" Target="/ppt/media/image4.svg" Id="Rbb4f8f450f634104" /><Relationship Type="http://schemas.openxmlformats.org/officeDocument/2006/relationships/image" Target="/ppt/media/image7.png" Id="Ra9d61de0a27e46e0" /><Relationship Type="http://schemas.openxmlformats.org/officeDocument/2006/relationships/image" Target="/ppt/media/image5.svg" Id="R9736ed2958194ec9" /><Relationship Type="http://schemas.openxmlformats.org/officeDocument/2006/relationships/image" Target="/ppt/media/image8.png" Id="Rbe7258ae885d435c" /><Relationship Type="http://schemas.openxmlformats.org/officeDocument/2006/relationships/image" Target="/ppt/media/image6.svg" Id="Re8fd780ae6704f8b" /><Relationship Type="http://schemas.openxmlformats.org/officeDocument/2006/relationships/image" Target="/ppt/media/image9.png" Id="R1cd350620668451e" /><Relationship Type="http://schemas.openxmlformats.org/officeDocument/2006/relationships/image" Target="/ppt/media/image7.svg" Id="R4d04179d30944cfc" /><Relationship Type="http://schemas.openxmlformats.org/officeDocument/2006/relationships/notesSlide" Target="/ppt/notesSlides/notesSlide2.xml" Id="Rdff41cb9509e47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f8d0a721a9b477b" /><Relationship Type="http://schemas.openxmlformats.org/officeDocument/2006/relationships/image" Target="/ppt/media/image10.png" Id="R2dd19912442743be" /><Relationship Type="http://schemas.openxmlformats.org/officeDocument/2006/relationships/image" Target="/ppt/media/image8.svg" Id="Rf17c72c5d268482a" /><Relationship Type="http://schemas.openxmlformats.org/officeDocument/2006/relationships/image" Target="/ppt/media/image11.png" Id="R251c7130ba8a43d3" /><Relationship Type="http://schemas.openxmlformats.org/officeDocument/2006/relationships/image" Target="/ppt/media/image9.svg" Id="R7eac6ce8e5e043f1" /><Relationship Type="http://schemas.openxmlformats.org/officeDocument/2006/relationships/image" Target="/ppt/media/image12.png" Id="R7a7baee6f89f4c18" /><Relationship Type="http://schemas.openxmlformats.org/officeDocument/2006/relationships/image" Target="/ppt/media/image10.svg" Id="R92513d7a1cab4995" /><Relationship Type="http://schemas.openxmlformats.org/officeDocument/2006/relationships/image" Target="/ppt/media/image13.png" Id="R422cd0c8df9749a1" /><Relationship Type="http://schemas.openxmlformats.org/officeDocument/2006/relationships/image" Target="/ppt/media/image11.svg" Id="R1e84689948564bf3" /><Relationship Type="http://schemas.openxmlformats.org/officeDocument/2006/relationships/image" Target="/ppt/media/image14.png" Id="R68a11d9ea7fa4c6e" /><Relationship Type="http://schemas.openxmlformats.org/officeDocument/2006/relationships/image" Target="/ppt/media/image12.svg" Id="Re7f517d1a79247fa" /><Relationship Type="http://schemas.openxmlformats.org/officeDocument/2006/relationships/image" Target="/ppt/media/image15.png" Id="Rc6b6c5a5290e45bf" /><Relationship Type="http://schemas.openxmlformats.org/officeDocument/2006/relationships/image" Target="/ppt/media/image13.svg" Id="R6c89b74290bb4089" /><Relationship Type="http://schemas.openxmlformats.org/officeDocument/2006/relationships/notesSlide" Target="/ppt/notesSlides/notesSlide3.xml" Id="R0960420376c042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39abcde6c0c4fe6" /><Relationship Type="http://schemas.openxmlformats.org/officeDocument/2006/relationships/image" Target="/ppt/media/image16.png" Id="Rc71e56c718224043" /><Relationship Type="http://schemas.openxmlformats.org/officeDocument/2006/relationships/image" Target="/ppt/media/image14.svg" Id="Rf75714eae7cd4888" /><Relationship Type="http://schemas.openxmlformats.org/officeDocument/2006/relationships/notesSlide" Target="/ppt/notesSlides/notesSlide4.xml" Id="Rc4577613a74844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a0f651746a64829" /><Relationship Type="http://schemas.openxmlformats.org/officeDocument/2006/relationships/image" Target="/ppt/media/image17.png" Id="R5a73c37158b64ecc" /><Relationship Type="http://schemas.openxmlformats.org/officeDocument/2006/relationships/image" Target="/ppt/media/image15.svg" Id="R1ecc2ba5ed1541dc" /><Relationship Type="http://schemas.openxmlformats.org/officeDocument/2006/relationships/image" Target="/ppt/media/image18.png" Id="Rd01f1bea83a54333" /><Relationship Type="http://schemas.openxmlformats.org/officeDocument/2006/relationships/image" Target="/ppt/media/image16.svg" Id="Reb4a6333980b403b" /><Relationship Type="http://schemas.openxmlformats.org/officeDocument/2006/relationships/image" Target="/ppt/media/image19.png" Id="Rf7b1c56bb03a4840" /><Relationship Type="http://schemas.openxmlformats.org/officeDocument/2006/relationships/image" Target="/ppt/media/image17.svg" Id="Radb281d6cacb49ad" /><Relationship Type="http://schemas.openxmlformats.org/officeDocument/2006/relationships/image" Target="/ppt/media/image20.png" Id="Rff1bb5d6923e4416" /><Relationship Type="http://schemas.openxmlformats.org/officeDocument/2006/relationships/image" Target="/ppt/media/image18.svg" Id="R14e468fa2f87496d" /><Relationship Type="http://schemas.openxmlformats.org/officeDocument/2006/relationships/image" Target="/ppt/media/image21.png" Id="Rf383641fe3cc4cd8" /><Relationship Type="http://schemas.openxmlformats.org/officeDocument/2006/relationships/image" Target="/ppt/media/image19.svg" Id="R8e766f2d62a748dc" /><Relationship Type="http://schemas.openxmlformats.org/officeDocument/2006/relationships/image" Target="/ppt/media/image22.png" Id="R0a89fb682c1748db" /><Relationship Type="http://schemas.openxmlformats.org/officeDocument/2006/relationships/image" Target="/ppt/media/image20.svg" Id="R5619572ca90c478c" /><Relationship Type="http://schemas.openxmlformats.org/officeDocument/2006/relationships/image" Target="/ppt/media/image23.png" Id="R572dc44ffcbe4696" /><Relationship Type="http://schemas.openxmlformats.org/officeDocument/2006/relationships/image" Target="/ppt/media/image21.svg" Id="R6007229c956f490b" /><Relationship Type="http://schemas.openxmlformats.org/officeDocument/2006/relationships/image" Target="/ppt/media/image24.png" Id="R4f71ea4e6c784c09" /><Relationship Type="http://schemas.openxmlformats.org/officeDocument/2006/relationships/image" Target="/ppt/media/image22.svg" Id="Rcc8ecacbce954692" /><Relationship Type="http://schemas.openxmlformats.org/officeDocument/2006/relationships/notesSlide" Target="/ppt/notesSlides/notesSlide5.xml" Id="R7e374b581eff4f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f3c628f91f4827" /><Relationship Type="http://schemas.openxmlformats.org/officeDocument/2006/relationships/image" Target="/ppt/media/image25.png" Id="Reb0ffc3d11b64a78" /><Relationship Type="http://schemas.openxmlformats.org/officeDocument/2006/relationships/image" Target="/ppt/media/image23.svg" Id="Ref26f5e4a05c4a36" /><Relationship Type="http://schemas.openxmlformats.org/officeDocument/2006/relationships/image" Target="/ppt/media/image26.png" Id="Radfcfd3244a14ea4" /><Relationship Type="http://schemas.openxmlformats.org/officeDocument/2006/relationships/image" Target="/ppt/media/image24.svg" Id="R04dba90b58ce435c" /><Relationship Type="http://schemas.openxmlformats.org/officeDocument/2006/relationships/image" Target="/ppt/media/image27.png" Id="Re902f0f083964918" /><Relationship Type="http://schemas.openxmlformats.org/officeDocument/2006/relationships/image" Target="/ppt/media/image25.svg" Id="Rccbcbc87cedd404e" /><Relationship Type="http://schemas.openxmlformats.org/officeDocument/2006/relationships/notesSlide" Target="/ppt/notesSlides/notesSlide6.xml" Id="R1ac46975001d46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4cd2dc73e2443d" /><Relationship Type="http://schemas.openxmlformats.org/officeDocument/2006/relationships/image" Target="/ppt/media/image28.png" Id="R17ed746d88eb44ee" /><Relationship Type="http://schemas.openxmlformats.org/officeDocument/2006/relationships/image" Target="/ppt/media/image26.svg" Id="R12351a473ab84e8b" /><Relationship Type="http://schemas.openxmlformats.org/officeDocument/2006/relationships/image" Target="/ppt/media/image29.png" Id="R0cfce527fdc54b42" /><Relationship Type="http://schemas.openxmlformats.org/officeDocument/2006/relationships/image" Target="/ppt/media/image27.svg" Id="R87f19e930c644a33" /><Relationship Type="http://schemas.openxmlformats.org/officeDocument/2006/relationships/image" Target="/ppt/media/image30.png" Id="R78de3aa937d74d4d" /><Relationship Type="http://schemas.openxmlformats.org/officeDocument/2006/relationships/image" Target="/ppt/media/image28.svg" Id="R5570d24464d740eb" /><Relationship Type="http://schemas.openxmlformats.org/officeDocument/2006/relationships/image" Target="/ppt/media/image31.png" Id="R9b81f58e14f245b3" /><Relationship Type="http://schemas.openxmlformats.org/officeDocument/2006/relationships/image" Target="/ppt/media/image29.svg" Id="Rba964363dbd243fc" /><Relationship Type="http://schemas.openxmlformats.org/officeDocument/2006/relationships/image" Target="/ppt/media/image32.png" Id="R1a1bafb9b4e3450c" /><Relationship Type="http://schemas.openxmlformats.org/officeDocument/2006/relationships/image" Target="/ppt/media/image30.svg" Id="R58b42a9ac6d94560" /><Relationship Type="http://schemas.openxmlformats.org/officeDocument/2006/relationships/image" Target="/ppt/media/image33.png" Id="R63db61ff706c4e3a" /><Relationship Type="http://schemas.openxmlformats.org/officeDocument/2006/relationships/image" Target="/ppt/media/image31.svg" Id="Raa07e13197314e1d" /><Relationship Type="http://schemas.openxmlformats.org/officeDocument/2006/relationships/notesSlide" Target="/ppt/notesSlides/notesSlide7.xml" Id="R5d7f33eee4ee47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9b29fa52b204501" /><Relationship Type="http://schemas.openxmlformats.org/officeDocument/2006/relationships/image" Target="/ppt/media/image34.png" Id="R5c4ed268f73d471c" /><Relationship Type="http://schemas.openxmlformats.org/officeDocument/2006/relationships/image" Target="/ppt/media/image35.png" Id="Re92c51d2eeb34823" /><Relationship Type="http://schemas.openxmlformats.org/officeDocument/2006/relationships/image" Target="/ppt/media/image32.svg" Id="R7dea57232d3a49b5" /><Relationship Type="http://schemas.openxmlformats.org/officeDocument/2006/relationships/notesSlide" Target="/ppt/notesSlides/notesSlide8.xml" Id="R2edb6c4d32174a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6e5b6624254f49" /><Relationship Type="http://schemas.openxmlformats.org/officeDocument/2006/relationships/image" Target="/ppt/media/image36.png" Id="Rcf151c806e384785" /><Relationship Type="http://schemas.openxmlformats.org/officeDocument/2006/relationships/notesSlide" Target="/ppt/notesSlides/notesSlide9.xml" Id="R12b2cd508aa648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86e1eff19ff4650" /><Relationship Type="http://schemas.openxmlformats.org/officeDocument/2006/relationships/image" Target="/ppt/media/image37.png" Id="Rb4db260bd3a945af" /><Relationship Type="http://schemas.openxmlformats.org/officeDocument/2006/relationships/image" Target="/ppt/media/image33.svg" Id="Ref4ad88a3e984219" /><Relationship Type="http://schemas.openxmlformats.org/officeDocument/2006/relationships/image" Target="/ppt/media/image38.png" Id="R586ce78c0da943d4" /><Relationship Type="http://schemas.openxmlformats.org/officeDocument/2006/relationships/image" Target="/ppt/media/image34.svg" Id="R74e58ac48f6f4db8" /><Relationship Type="http://schemas.openxmlformats.org/officeDocument/2006/relationships/image" Target="/ppt/media/image39.png" Id="R6c9ee46bf28d4f58" /><Relationship Type="http://schemas.openxmlformats.org/officeDocument/2006/relationships/image" Target="/ppt/media/image35.svg" Id="Rd24ccb17178a462d" /><Relationship Type="http://schemas.openxmlformats.org/officeDocument/2006/relationships/image" Target="/ppt/media/image40.png" Id="R0fdeecb42aff4723" /><Relationship Type="http://schemas.openxmlformats.org/officeDocument/2006/relationships/image" Target="/ppt/media/image36.svg" Id="R98f29b338e7b4ccf" /><Relationship Type="http://schemas.openxmlformats.org/officeDocument/2006/relationships/notesSlide" Target="/ppt/notesSlides/notesSlide10.xml" Id="Rd16c433b002d42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6f2bb8c3b624009" /><Relationship Type="http://schemas.openxmlformats.org/officeDocument/2006/relationships/image" Target="/ppt/media/image41.png" Id="Rcb5729815ae244ff" /><Relationship Type="http://schemas.openxmlformats.org/officeDocument/2006/relationships/image" Target="/ppt/media/image37.svg" Id="Rf3c0dec1e04648fa" /><Relationship Type="http://schemas.openxmlformats.org/officeDocument/2006/relationships/image" Target="/ppt/media/image42.png" Id="Ra92950bebec24797" /><Relationship Type="http://schemas.openxmlformats.org/officeDocument/2006/relationships/image" Target="/ppt/media/image38.svg" Id="Rd627ebc97db64532" /><Relationship Type="http://schemas.openxmlformats.org/officeDocument/2006/relationships/image" Target="/ppt/media/image43.png" Id="R395d97ac86584c6b" /><Relationship Type="http://schemas.openxmlformats.org/officeDocument/2006/relationships/image" Target="/ppt/media/image39.svg" Id="Rd37f790bf7594abd" /><Relationship Type="http://schemas.openxmlformats.org/officeDocument/2006/relationships/notesSlide" Target="/ppt/notesSlides/notesSlide11.xml" Id="R6c7d2c4afcc1455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650d1317c944ff7" /><Relationship Type="http://schemas.openxmlformats.org/officeDocument/2006/relationships/notesSlide" Target="/ppt/notesSlides/notesSlide12.xml" Id="R3f0d8739e0a84b7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9AF28DB-55CA-4731-8EED-FABB4B5F90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B074844-C5A5-4590-A180-78D2D3BE7686}"/>
              </a:ext>
            </a:extLst>
          </p:cNvPr>
          <p:cNvSpPr>
            <a:spLocks xmlns:a="http://schemas.openxmlformats.org/drawingml/2006/main" noGrp="1"/>
          </p:cNvSpPr>
          <p:nvPr/>
        </p:nvSpPr>
        <p:spPr>
          <a:xfrm xmlns:a="http://schemas.openxmlformats.org/drawingml/2006/main">
            <a:off x="552450" y="438150"/>
            <a:ext cx="5905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01820"/>
                </a:solidFill>
                <a:latin typeface="Aptos Display"/>
                <a:ea typeface="Aptos Display"/>
                <a:cs typeface="Aptos Display"/>
              </a:defRPr>
            </a:pPr>
            <a:r>
              <a:rPr sz="3300" b="1">
                <a:solidFill>
                  <a:srgbClr val="101820"/>
                </a:solidFill>
                <a:latin typeface="Aptos Display"/>
                <a:ea typeface="Aptos Display"/>
                <a:cs typeface="Aptos Display"/>
              </a:rPr>
              <a:t>Smart Visual Alarm System</a:t>
            </a:r>
          </a:p>
        </p:txBody>
      </p:sp>
      <p:sp>
        <p:nvSpPr>
          <p:cNvPr id="3" name="">
            <a:extLst xmlns:a="http://schemas.openxmlformats.org/drawingml/2006/main">
              <a:ext uri="{FF2B5EF4-FFF2-40B4-BE49-F238E27FC236}">
                <a16:creationId xmlns:a16="http://schemas.microsoft.com/office/drawing/2014/main" id="{F09C58B6-5981-4F9C-95E7-260DD7E56203}"/>
              </a:ext>
            </a:extLst>
          </p:cNvPr>
          <p:cNvSpPr>
            <a:spLocks xmlns:a="http://schemas.openxmlformats.org/drawingml/2006/main" noGrp="1"/>
          </p:cNvSpPr>
          <p:nvPr/>
        </p:nvSpPr>
        <p:spPr>
          <a:xfrm xmlns:a="http://schemas.openxmlformats.org/drawingml/2006/main">
            <a:off x="571500" y="1809750"/>
            <a:ext cx="4000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E6872"/>
                </a:solidFill>
                <a:latin typeface="Aptos"/>
                <a:ea typeface="Aptos"/>
                <a:cs typeface="Aptos"/>
              </a:defRPr>
            </a:pPr>
            <a:r>
              <a:rPr sz="1275" b="0">
                <a:solidFill>
                  <a:srgbClr val="5E6872"/>
                </a:solidFill>
                <a:latin typeface="Aptos"/>
                <a:ea typeface="Aptos"/>
                <a:cs typeface="Aptos"/>
              </a:rPr>
              <a:t>Ernyei Zoltán | MAT. 265056</a:t>
            </a:r>
          </a:p>
        </p:txBody>
      </p:sp>
      <p:sp>
        <p:nvSpPr>
          <p:cNvPr id="4" name="">
            <a:extLst xmlns:a="http://schemas.openxmlformats.org/drawingml/2006/main">
              <a:ext uri="{FF2B5EF4-FFF2-40B4-BE49-F238E27FC236}">
                <a16:creationId xmlns:a16="http://schemas.microsoft.com/office/drawing/2014/main" id="{09DD715F-DD07-4DF0-9606-AF890A56CBE5}"/>
              </a:ext>
            </a:extLst>
          </p:cNvPr>
          <p:cNvSpPr>
            <a:spLocks xmlns:a="http://schemas.openxmlformats.org/drawingml/2006/main" noGrp="1"/>
          </p:cNvSpPr>
          <p:nvPr/>
        </p:nvSpPr>
        <p:spPr>
          <a:xfrm xmlns:a="http://schemas.openxmlformats.org/drawingml/2006/main">
            <a:off x="8001000" y="533400"/>
            <a:ext cx="2914650" cy="495300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aa24edd5a1654382"/>
          <a:stretch xmlns:a="http://schemas.openxmlformats.org/drawingml/2006/main"/>
        </p:blipFill>
        <p:spPr>
          <a:xfrm xmlns:a="http://schemas.openxmlformats.org/drawingml/2006/main">
            <a:off x="8096250" y="679754"/>
            <a:ext cx="2724150" cy="424119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B546330-5DC1-40AD-8305-A19EE9D051CE}"/>
              </a:ext>
            </a:extLst>
          </p:cNvPr>
          <p:cNvSpPr>
            <a:spLocks xmlns:a="http://schemas.openxmlformats.org/drawingml/2006/main" noGrp="1"/>
          </p:cNvSpPr>
          <p:nvPr/>
        </p:nvSpPr>
        <p:spPr>
          <a:xfrm xmlns:a="http://schemas.openxmlformats.org/drawingml/2006/main">
            <a:off x="8134350" y="5143500"/>
            <a:ext cx="2647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E6872"/>
                </a:solidFill>
                <a:latin typeface="Aptos"/>
                <a:ea typeface="Aptos"/>
                <a:cs typeface="Aptos"/>
              </a:defRPr>
            </a:pPr>
            <a:r>
              <a:rPr sz="975" b="0">
                <a:solidFill>
                  <a:srgbClr val="5E6872"/>
                </a:solidFill>
                <a:latin typeface="Aptos"/>
                <a:ea typeface="Aptos"/>
                <a:cs typeface="Aptos"/>
              </a:rPr>
              <a:t>ESP32-S3-EYE local detection</a:t>
            </a:r>
          </a:p>
        </p:txBody>
      </p:sp>
      <p:sp>
        <p:nvSpPr>
          <p:cNvPr id="7" name="">
            <a:extLst xmlns:a="http://schemas.openxmlformats.org/drawingml/2006/main">
              <a:ext uri="{FF2B5EF4-FFF2-40B4-BE49-F238E27FC236}">
                <a16:creationId xmlns:a16="http://schemas.microsoft.com/office/drawing/2014/main" id="{B9BEAC80-A776-497F-9117-E0858AB3F1E8}"/>
              </a:ext>
            </a:extLst>
          </p:cNvPr>
          <p:cNvSpPr>
            <a:spLocks xmlns:a="http://schemas.openxmlformats.org/drawingml/2006/main" noGrp="1"/>
          </p:cNvSpPr>
          <p:nvPr/>
        </p:nvSpPr>
        <p:spPr>
          <a:xfrm xmlns:a="http://schemas.openxmlformats.org/drawingml/2006/main">
            <a:off x="4057650" y="2952750"/>
            <a:ext cx="3524250" cy="224790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c4106eee6194ca3"/>
          <a:stretch xmlns:a="http://schemas.openxmlformats.org/drawingml/2006/main"/>
        </p:blipFill>
        <p:spPr>
          <a:xfrm xmlns:a="http://schemas.openxmlformats.org/drawingml/2006/main">
            <a:off x="4569264" y="3048000"/>
            <a:ext cx="2501022" cy="16383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A5520F3-105C-491E-90EE-D38385569884}"/>
              </a:ext>
            </a:extLst>
          </p:cNvPr>
          <p:cNvSpPr>
            <a:spLocks xmlns:a="http://schemas.openxmlformats.org/drawingml/2006/main" noGrp="1"/>
          </p:cNvSpPr>
          <p:nvPr/>
        </p:nvSpPr>
        <p:spPr>
          <a:xfrm xmlns:a="http://schemas.openxmlformats.org/drawingml/2006/main">
            <a:off x="4191000" y="4857750"/>
            <a:ext cx="32575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E6872"/>
                </a:solidFill>
                <a:latin typeface="Aptos"/>
                <a:ea typeface="Aptos"/>
                <a:cs typeface="Aptos"/>
              </a:defRPr>
            </a:pPr>
            <a:r>
              <a:rPr sz="975" b="0">
                <a:solidFill>
                  <a:srgbClr val="5E6872"/>
                </a:solidFill>
                <a:latin typeface="Aptos"/>
                <a:ea typeface="Aptos"/>
                <a:cs typeface="Aptos"/>
              </a:rPr>
              <a:t>Telegram alarm from MQTT metadata</a:t>
            </a:r>
          </a:p>
        </p:txBody>
      </p:sp>
      <p:sp>
        <p:nvSpPr>
          <p:cNvPr id="10" name="">
            <a:extLst xmlns:a="http://schemas.openxmlformats.org/drawingml/2006/main">
              <a:ext uri="{FF2B5EF4-FFF2-40B4-BE49-F238E27FC236}">
                <a16:creationId xmlns:a16="http://schemas.microsoft.com/office/drawing/2014/main" id="{0B9CD502-6681-473B-9AE7-A8AA4E4DA6EE}"/>
              </a:ext>
            </a:extLst>
          </p:cNvPr>
          <p:cNvSpPr>
            <a:spLocks xmlns:a="http://schemas.openxmlformats.org/drawingml/2006/main" noGrp="1"/>
          </p:cNvSpPr>
          <p:nvPr/>
        </p:nvSpPr>
        <p:spPr>
          <a:xfrm xmlns:a="http://schemas.openxmlformats.org/drawingml/2006/main">
            <a:off x="571500" y="2457450"/>
            <a:ext cx="3143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01820"/>
                </a:solidFill>
                <a:latin typeface="Aptos"/>
                <a:ea typeface="Aptos"/>
                <a:cs typeface="Aptos"/>
              </a:defRPr>
            </a:pPr>
            <a:r>
              <a:rPr sz="1800" b="1">
                <a:solidFill>
                  <a:srgbClr val="101820"/>
                </a:solidFill>
                <a:latin typeface="Aptos"/>
                <a:ea typeface="Aptos"/>
                <a:cs typeface="Aptos"/>
              </a:rPr>
              <a:t>Frames stay on the board. Only alarm metadata leaves the device.</a:t>
            </a:r>
          </a:p>
        </p:txBody>
      </p:sp>
      <p:sp>
        <p:nvSpPr>
          <p:cNvPr id="11" name="">
            <a:extLst xmlns:a="http://schemas.openxmlformats.org/drawingml/2006/main">
              <a:ext uri="{FF2B5EF4-FFF2-40B4-BE49-F238E27FC236}">
                <a16:creationId xmlns:a16="http://schemas.microsoft.com/office/drawing/2014/main" id="{72CA9288-59A9-4210-9D5E-4EDE25DD6718}"/>
              </a:ext>
            </a:extLst>
          </p:cNvPr>
          <p:cNvSpPr>
            <a:spLocks xmlns:a="http://schemas.openxmlformats.org/drawingml/2006/main" noGrp="1"/>
          </p:cNvSpPr>
          <p:nvPr/>
        </p:nvSpPr>
        <p:spPr>
          <a:xfrm xmlns:a="http://schemas.openxmlformats.org/drawingml/2006/main">
            <a:off x="571500" y="5429250"/>
            <a:ext cx="22860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CCA38D1C-8F5D-4887-AAD6-F92EA25CD87F}"/>
              </a:ext>
            </a:extLst>
          </p:cNvPr>
          <p:cNvSpPr>
            <a:spLocks xmlns:a="http://schemas.openxmlformats.org/drawingml/2006/main" noGrp="1"/>
          </p:cNvSpPr>
          <p:nvPr/>
        </p:nvSpPr>
        <p:spPr>
          <a:xfrm xmlns:a="http://schemas.openxmlformats.org/drawingml/2006/main">
            <a:off x="571500" y="5429250"/>
            <a:ext cx="2286000" cy="47625"/>
          </a:xfrm>
          <a:prstGeom xmlns:a="http://schemas.openxmlformats.org/drawingml/2006/main" prst="rect">
            <a:avLst/>
          </a:prstGeom>
          <a:solidFill xmlns:a="http://schemas.openxmlformats.org/drawingml/2006/main">
            <a:srgbClr val="F2A900"/>
          </a:solidFill>
          <a:ln xmlns:a="http://schemas.openxmlformats.org/drawingml/2006/main" w="0">
            <a:solidFill>
              <a:srgbClr val="000000">
                <a:alpha val="0"/>
              </a:srgbClr>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315cd8081f04f2f">
            <a:extLst>
              <a:ext uri="{96DAC541-7B7A-43D3-8B79-37D633B846F1}">
                <asvg:svgBlip xmlns:asvg="http://schemas.microsoft.com/office/drawing/2016/SVG/main" r:embed="R5076c9af3f3846db"/>
              </a:ext>
            </a:extLst>
          </a:blip>
          <a:stretch xmlns:a="http://schemas.openxmlformats.org/drawingml/2006/main"/>
        </p:blipFill>
        <p:spPr>
          <a:xfrm xmlns:a="http://schemas.openxmlformats.org/drawingml/2006/main">
            <a:off x="723900" y="5619750"/>
            <a:ext cx="266700" cy="2667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904F4CA6-6231-48BD-87F7-3B441F6B04E3}"/>
              </a:ext>
            </a:extLst>
          </p:cNvPr>
          <p:cNvSpPr>
            <a:spLocks xmlns:a="http://schemas.openxmlformats.org/drawingml/2006/main" noGrp="1"/>
          </p:cNvSpPr>
          <p:nvPr/>
        </p:nvSpPr>
        <p:spPr>
          <a:xfrm xmlns:a="http://schemas.openxmlformats.org/drawingml/2006/main">
            <a:off x="1085850" y="5581650"/>
            <a:ext cx="1638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820"/>
                </a:solidFill>
                <a:latin typeface="Aptos"/>
                <a:ea typeface="Aptos"/>
                <a:cs typeface="Aptos"/>
              </a:defRPr>
            </a:pPr>
            <a:r>
              <a:rPr sz="1950" b="1">
                <a:solidFill>
                  <a:srgbClr val="101820"/>
                </a:solidFill>
                <a:latin typeface="Aptos"/>
                <a:ea typeface="Aptos"/>
                <a:cs typeface="Aptos"/>
              </a:rPr>
              <a:t>ESP-DL</a:t>
            </a:r>
          </a:p>
        </p:txBody>
      </p:sp>
      <p:sp>
        <p:nvSpPr>
          <p:cNvPr id="15" name="">
            <a:extLst xmlns:a="http://schemas.openxmlformats.org/drawingml/2006/main">
              <a:ext uri="{FF2B5EF4-FFF2-40B4-BE49-F238E27FC236}">
                <a16:creationId xmlns:a16="http://schemas.microsoft.com/office/drawing/2014/main" id="{A12407A7-C3E4-4BDF-9A85-A38C875025F5}"/>
              </a:ext>
            </a:extLst>
          </p:cNvPr>
          <p:cNvSpPr>
            <a:spLocks xmlns:a="http://schemas.openxmlformats.org/drawingml/2006/main" noGrp="1"/>
          </p:cNvSpPr>
          <p:nvPr/>
        </p:nvSpPr>
        <p:spPr>
          <a:xfrm xmlns:a="http://schemas.openxmlformats.org/drawingml/2006/main">
            <a:off x="742950" y="5962650"/>
            <a:ext cx="1981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5E6872"/>
                </a:solidFill>
                <a:latin typeface="Aptos"/>
                <a:ea typeface="Aptos"/>
                <a:cs typeface="Aptos"/>
              </a:defRPr>
            </a:pPr>
            <a:r>
              <a:rPr sz="1050" b="1">
                <a:solidFill>
                  <a:srgbClr val="5E6872"/>
                </a:solidFill>
                <a:latin typeface="Aptos"/>
                <a:ea typeface="Aptos"/>
                <a:cs typeface="Aptos"/>
              </a:rPr>
              <a:t>embedded inference</a:t>
            </a:r>
          </a:p>
        </p:txBody>
      </p:sp>
      <p:sp>
        <p:nvSpPr>
          <p:cNvPr id="16" name="">
            <a:extLst xmlns:a="http://schemas.openxmlformats.org/drawingml/2006/main">
              <a:ext uri="{FF2B5EF4-FFF2-40B4-BE49-F238E27FC236}">
                <a16:creationId xmlns:a16="http://schemas.microsoft.com/office/drawing/2014/main" id="{40972D8B-4578-4DB1-B9B5-E1D6DB72D6A5}"/>
              </a:ext>
            </a:extLst>
          </p:cNvPr>
          <p:cNvSpPr>
            <a:spLocks xmlns:a="http://schemas.openxmlformats.org/drawingml/2006/main" noGrp="1"/>
          </p:cNvSpPr>
          <p:nvPr/>
        </p:nvSpPr>
        <p:spPr>
          <a:xfrm xmlns:a="http://schemas.openxmlformats.org/drawingml/2006/main">
            <a:off x="742950" y="6153150"/>
            <a:ext cx="1981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E6872"/>
                </a:solidFill>
                <a:latin typeface="Aptos"/>
                <a:ea typeface="Aptos"/>
                <a:cs typeface="Aptos"/>
              </a:defRPr>
            </a:pPr>
            <a:r>
              <a:rPr sz="825" b="0">
                <a:solidFill>
                  <a:srgbClr val="5E6872"/>
                </a:solidFill>
                <a:latin typeface="Aptos"/>
                <a:ea typeface="Aptos"/>
                <a:cs typeface="Aptos"/>
              </a:rPr>
              <a:t>PedestrianDetect on ESP32-S3</a:t>
            </a:r>
          </a:p>
        </p:txBody>
      </p:sp>
      <p:sp>
        <p:nvSpPr>
          <p:cNvPr id="17" name="">
            <a:extLst xmlns:a="http://schemas.openxmlformats.org/drawingml/2006/main">
              <a:ext uri="{FF2B5EF4-FFF2-40B4-BE49-F238E27FC236}">
                <a16:creationId xmlns:a16="http://schemas.microsoft.com/office/drawing/2014/main" id="{CD8E7587-A62E-4143-9AB1-C7A2A34B5DAD}"/>
              </a:ext>
            </a:extLst>
          </p:cNvPr>
          <p:cNvSpPr>
            <a:spLocks xmlns:a="http://schemas.openxmlformats.org/drawingml/2006/main" noGrp="1"/>
          </p:cNvSpPr>
          <p:nvPr/>
        </p:nvSpPr>
        <p:spPr>
          <a:xfrm xmlns:a="http://schemas.openxmlformats.org/drawingml/2006/main">
            <a:off x="3105150" y="5429250"/>
            <a:ext cx="22860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AAD05AE0-8602-45DF-9471-8957A76F972D}"/>
              </a:ext>
            </a:extLst>
          </p:cNvPr>
          <p:cNvSpPr>
            <a:spLocks xmlns:a="http://schemas.openxmlformats.org/drawingml/2006/main" noGrp="1"/>
          </p:cNvSpPr>
          <p:nvPr/>
        </p:nvSpPr>
        <p:spPr>
          <a:xfrm xmlns:a="http://schemas.openxmlformats.org/drawingml/2006/main">
            <a:off x="3105150" y="5429250"/>
            <a:ext cx="2286000" cy="47625"/>
          </a:xfrm>
          <a:prstGeom xmlns:a="http://schemas.openxmlformats.org/drawingml/2006/main" prst="rect">
            <a:avLst/>
          </a:prstGeom>
          <a:solidFill xmlns:a="http://schemas.openxmlformats.org/drawingml/2006/main">
            <a:srgbClr val="0E7C86"/>
          </a:solidFill>
          <a:ln xmlns:a="http://schemas.openxmlformats.org/drawingml/2006/main" w="0">
            <a:solidFill>
              <a:srgbClr val="000000">
                <a:alpha val="0"/>
              </a:srgbClr>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323c42823e940df">
            <a:extLst>
              <a:ext uri="{96DAC541-7B7A-43D3-8B79-37D633B846F1}">
                <asvg:svgBlip xmlns:asvg="http://schemas.microsoft.com/office/drawing/2016/SVG/main" r:embed="Rc6eb90cc1b144a90"/>
              </a:ext>
            </a:extLst>
          </a:blip>
          <a:stretch xmlns:a="http://schemas.openxmlformats.org/drawingml/2006/main"/>
        </p:blipFill>
        <p:spPr>
          <a:xfrm xmlns:a="http://schemas.openxmlformats.org/drawingml/2006/main">
            <a:off x="3257550" y="5619750"/>
            <a:ext cx="266700" cy="2667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A09F641C-1042-4BB2-B86F-B306DD4F7440}"/>
              </a:ext>
            </a:extLst>
          </p:cNvPr>
          <p:cNvSpPr>
            <a:spLocks xmlns:a="http://schemas.openxmlformats.org/drawingml/2006/main" noGrp="1"/>
          </p:cNvSpPr>
          <p:nvPr/>
        </p:nvSpPr>
        <p:spPr>
          <a:xfrm xmlns:a="http://schemas.openxmlformats.org/drawingml/2006/main">
            <a:off x="3619500" y="5581650"/>
            <a:ext cx="1638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820"/>
                </a:solidFill>
                <a:latin typeface="Aptos"/>
                <a:ea typeface="Aptos"/>
                <a:cs typeface="Aptos"/>
              </a:defRPr>
            </a:pPr>
            <a:r>
              <a:rPr sz="1950" b="1">
                <a:solidFill>
                  <a:srgbClr val="101820"/>
                </a:solidFill>
                <a:latin typeface="Aptos"/>
                <a:ea typeface="Aptos"/>
                <a:cs typeface="Aptos"/>
              </a:rPr>
              <a:t>MQTT</a:t>
            </a:r>
          </a:p>
        </p:txBody>
      </p:sp>
      <p:sp>
        <p:nvSpPr>
          <p:cNvPr id="21" name="">
            <a:extLst xmlns:a="http://schemas.openxmlformats.org/drawingml/2006/main">
              <a:ext uri="{FF2B5EF4-FFF2-40B4-BE49-F238E27FC236}">
                <a16:creationId xmlns:a16="http://schemas.microsoft.com/office/drawing/2014/main" id="{D803875E-6D55-4499-9A79-B570C83390A2}"/>
              </a:ext>
            </a:extLst>
          </p:cNvPr>
          <p:cNvSpPr>
            <a:spLocks xmlns:a="http://schemas.openxmlformats.org/drawingml/2006/main" noGrp="1"/>
          </p:cNvSpPr>
          <p:nvPr/>
        </p:nvSpPr>
        <p:spPr>
          <a:xfrm xmlns:a="http://schemas.openxmlformats.org/drawingml/2006/main">
            <a:off x="3276600" y="5962650"/>
            <a:ext cx="1981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5E6872"/>
                </a:solidFill>
                <a:latin typeface="Aptos"/>
                <a:ea typeface="Aptos"/>
                <a:cs typeface="Aptos"/>
              </a:defRPr>
            </a:pPr>
            <a:r>
              <a:rPr sz="1050" b="1">
                <a:solidFill>
                  <a:srgbClr val="5E6872"/>
                </a:solidFill>
                <a:latin typeface="Aptos"/>
                <a:ea typeface="Aptos"/>
                <a:cs typeface="Aptos"/>
              </a:rPr>
              <a:t>event transport</a:t>
            </a:r>
          </a:p>
        </p:txBody>
      </p:sp>
      <p:sp>
        <p:nvSpPr>
          <p:cNvPr id="22" name="">
            <a:extLst xmlns:a="http://schemas.openxmlformats.org/drawingml/2006/main">
              <a:ext uri="{FF2B5EF4-FFF2-40B4-BE49-F238E27FC236}">
                <a16:creationId xmlns:a16="http://schemas.microsoft.com/office/drawing/2014/main" id="{C2EE794A-77E8-40AF-9885-8580EED9D1DA}"/>
              </a:ext>
            </a:extLst>
          </p:cNvPr>
          <p:cNvSpPr>
            <a:spLocks xmlns:a="http://schemas.openxmlformats.org/drawingml/2006/main" noGrp="1"/>
          </p:cNvSpPr>
          <p:nvPr/>
        </p:nvSpPr>
        <p:spPr>
          <a:xfrm xmlns:a="http://schemas.openxmlformats.org/drawingml/2006/main">
            <a:off x="3276600" y="6153150"/>
            <a:ext cx="1981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E6872"/>
                </a:solidFill>
                <a:latin typeface="Aptos"/>
                <a:ea typeface="Aptos"/>
                <a:cs typeface="Aptos"/>
              </a:defRPr>
            </a:pPr>
            <a:r>
              <a:rPr sz="825" b="0">
                <a:solidFill>
                  <a:srgbClr val="5E6872"/>
                </a:solidFill>
                <a:latin typeface="Aptos"/>
                <a:ea typeface="Aptos"/>
                <a:cs typeface="Aptos"/>
              </a:rPr>
              <a:t>JSON topic payload</a:t>
            </a:r>
          </a:p>
        </p:txBody>
      </p:sp>
      <p:sp>
        <p:nvSpPr>
          <p:cNvPr id="23" name="">
            <a:extLst xmlns:a="http://schemas.openxmlformats.org/drawingml/2006/main">
              <a:ext uri="{FF2B5EF4-FFF2-40B4-BE49-F238E27FC236}">
                <a16:creationId xmlns:a16="http://schemas.microsoft.com/office/drawing/2014/main" id="{83CD7F10-C7D9-4AA7-B81D-F24B1A5912B0}"/>
              </a:ext>
            </a:extLst>
          </p:cNvPr>
          <p:cNvSpPr>
            <a:spLocks xmlns:a="http://schemas.openxmlformats.org/drawingml/2006/main" noGrp="1"/>
          </p:cNvSpPr>
          <p:nvPr/>
        </p:nvSpPr>
        <p:spPr>
          <a:xfrm xmlns:a="http://schemas.openxmlformats.org/drawingml/2006/main">
            <a:off x="5638800" y="5429250"/>
            <a:ext cx="22860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369BED0D-342D-43EF-BA9B-ABCA304712A9}"/>
              </a:ext>
            </a:extLst>
          </p:cNvPr>
          <p:cNvSpPr>
            <a:spLocks xmlns:a="http://schemas.openxmlformats.org/drawingml/2006/main" noGrp="1"/>
          </p:cNvSpPr>
          <p:nvPr/>
        </p:nvSpPr>
        <p:spPr>
          <a:xfrm xmlns:a="http://schemas.openxmlformats.org/drawingml/2006/main">
            <a:off x="5638800" y="5429250"/>
            <a:ext cx="2286000" cy="47625"/>
          </a:xfrm>
          <a:prstGeom xmlns:a="http://schemas.openxmlformats.org/drawingml/2006/main" prst="rect">
            <a:avLst/>
          </a:prstGeom>
          <a:solidFill xmlns:a="http://schemas.openxmlformats.org/drawingml/2006/main">
            <a:srgbClr val="C32832"/>
          </a:solidFill>
          <a:ln xmlns:a="http://schemas.openxmlformats.org/drawingml/2006/main" w="0">
            <a:solidFill>
              <a:srgbClr val="000000">
                <a:alpha val="0"/>
              </a:srgbClr>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1dee120b1c749df">
            <a:extLst>
              <a:ext uri="{96DAC541-7B7A-43D3-8B79-37D633B846F1}">
                <asvg:svgBlip xmlns:asvg="http://schemas.microsoft.com/office/drawing/2016/SVG/main" r:embed="R57f40fca09754624"/>
              </a:ext>
            </a:extLst>
          </a:blip>
          <a:stretch xmlns:a="http://schemas.openxmlformats.org/drawingml/2006/main"/>
        </p:blipFill>
        <p:spPr>
          <a:xfrm xmlns:a="http://schemas.openxmlformats.org/drawingml/2006/main">
            <a:off x="5791200" y="5619750"/>
            <a:ext cx="266700" cy="26670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358371AB-A797-406A-86CB-12108093E248}"/>
              </a:ext>
            </a:extLst>
          </p:cNvPr>
          <p:cNvSpPr>
            <a:spLocks xmlns:a="http://schemas.openxmlformats.org/drawingml/2006/main" noGrp="1"/>
          </p:cNvSpPr>
          <p:nvPr/>
        </p:nvSpPr>
        <p:spPr>
          <a:xfrm xmlns:a="http://schemas.openxmlformats.org/drawingml/2006/main">
            <a:off x="6153150" y="5581650"/>
            <a:ext cx="1638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820"/>
                </a:solidFill>
                <a:latin typeface="Aptos"/>
                <a:ea typeface="Aptos"/>
                <a:cs typeface="Aptos"/>
              </a:defRPr>
            </a:pPr>
            <a:r>
              <a:rPr sz="1950" b="1">
                <a:solidFill>
                  <a:srgbClr val="101820"/>
                </a:solidFill>
                <a:latin typeface="Aptos"/>
                <a:ea typeface="Aptos"/>
                <a:cs typeface="Aptos"/>
              </a:rPr>
              <a:t>Telegram</a:t>
            </a:r>
          </a:p>
        </p:txBody>
      </p:sp>
      <p:sp>
        <p:nvSpPr>
          <p:cNvPr id="27" name="">
            <a:extLst xmlns:a="http://schemas.openxmlformats.org/drawingml/2006/main">
              <a:ext uri="{FF2B5EF4-FFF2-40B4-BE49-F238E27FC236}">
                <a16:creationId xmlns:a16="http://schemas.microsoft.com/office/drawing/2014/main" id="{F923A3EF-C1E6-48DD-8BB1-520132DE989F}"/>
              </a:ext>
            </a:extLst>
          </p:cNvPr>
          <p:cNvSpPr>
            <a:spLocks xmlns:a="http://schemas.openxmlformats.org/drawingml/2006/main" noGrp="1"/>
          </p:cNvSpPr>
          <p:nvPr/>
        </p:nvSpPr>
        <p:spPr>
          <a:xfrm xmlns:a="http://schemas.openxmlformats.org/drawingml/2006/main">
            <a:off x="5810250" y="5962650"/>
            <a:ext cx="1981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5E6872"/>
                </a:solidFill>
                <a:latin typeface="Aptos"/>
                <a:ea typeface="Aptos"/>
                <a:cs typeface="Aptos"/>
              </a:defRPr>
            </a:pPr>
            <a:r>
              <a:rPr sz="1050" b="1">
                <a:solidFill>
                  <a:srgbClr val="5E6872"/>
                </a:solidFill>
                <a:latin typeface="Aptos"/>
                <a:ea typeface="Aptos"/>
                <a:cs typeface="Aptos"/>
              </a:rPr>
              <a:t>notification</a:t>
            </a:r>
          </a:p>
        </p:txBody>
      </p:sp>
      <p:sp>
        <p:nvSpPr>
          <p:cNvPr id="28" name="">
            <a:extLst xmlns:a="http://schemas.openxmlformats.org/drawingml/2006/main">
              <a:ext uri="{FF2B5EF4-FFF2-40B4-BE49-F238E27FC236}">
                <a16:creationId xmlns:a16="http://schemas.microsoft.com/office/drawing/2014/main" id="{3710B9E8-CBED-4459-9AB6-8CF82CA29483}"/>
              </a:ext>
            </a:extLst>
          </p:cNvPr>
          <p:cNvSpPr>
            <a:spLocks xmlns:a="http://schemas.openxmlformats.org/drawingml/2006/main" noGrp="1"/>
          </p:cNvSpPr>
          <p:nvPr/>
        </p:nvSpPr>
        <p:spPr>
          <a:xfrm xmlns:a="http://schemas.openxmlformats.org/drawingml/2006/main">
            <a:off x="5810250" y="6153150"/>
            <a:ext cx="1981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E6872"/>
                </a:solidFill>
                <a:latin typeface="Aptos"/>
                <a:ea typeface="Aptos"/>
                <a:cs typeface="Aptos"/>
              </a:defRPr>
            </a:pPr>
            <a:r>
              <a:rPr sz="825" b="0">
                <a:solidFill>
                  <a:srgbClr val="5E6872"/>
                </a:solidFill>
                <a:latin typeface="Aptos"/>
                <a:ea typeface="Aptos"/>
                <a:cs typeface="Aptos"/>
              </a:rPr>
              <a:t>Bot API sendMessage</a:t>
            </a:r>
          </a:p>
        </p:txBody>
      </p:sp>
      <p:sp>
        <p:nvSpPr>
          <p:cNvPr id="29" name="">
            <a:extLst xmlns:a="http://schemas.openxmlformats.org/drawingml/2006/main">
              <a:ext uri="{FF2B5EF4-FFF2-40B4-BE49-F238E27FC236}">
                <a16:creationId xmlns:a16="http://schemas.microsoft.com/office/drawing/2014/main" id="{17A0F18D-084F-4327-A58A-6B4DE62B1197}"/>
              </a:ext>
            </a:extLst>
          </p:cNvPr>
          <p:cNvSpPr>
            <a:spLocks xmlns:a="http://schemas.openxmlformats.org/drawingml/2006/main" noGrp="1"/>
          </p:cNvSpPr>
          <p:nvPr/>
        </p:nvSpPr>
        <p:spPr>
          <a:xfrm xmlns:a="http://schemas.openxmlformats.org/drawingml/2006/main">
            <a:off x="552450" y="64579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E6872"/>
                </a:solidFill>
                <a:latin typeface="Aptos"/>
                <a:ea typeface="Aptos"/>
                <a:cs typeface="Aptos"/>
              </a:defRPr>
            </a:pPr>
            <a:r>
              <a:rPr sz="1050" b="0">
                <a:solidFill>
                  <a:srgbClr val="5E6872"/>
                </a:solidFill>
                <a:latin typeface="Aptos"/>
                <a:ea typeface="Aptos"/>
                <a:cs typeface="Aptos"/>
              </a:rPr>
              <a:t>Smart Visual Alarm System | 01</a:t>
            </a:r>
          </a:p>
        </p:txBody>
      </p:sp>
    </p:spTree>
    <p:extLst>
      <p:ext uri="{BB962C8B-B14F-4D97-AF65-F5344CB8AC3E}">
        <p14:creationId xmlns:p14="http://schemas.microsoft.com/office/powerpoint/2010/main" val="184324839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0D07837-0108-40C6-A0B3-7990BF1B51A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B7255DE-B1CA-486D-AFFC-143F50831007}"/>
              </a:ext>
            </a:extLst>
          </p:cNvPr>
          <p:cNvSpPr>
            <a:spLocks xmlns:a="http://schemas.openxmlformats.org/drawingml/2006/main" noGrp="1"/>
          </p:cNvSpPr>
          <p:nvPr/>
        </p:nvSpPr>
        <p:spPr>
          <a:xfrm xmlns:a="http://schemas.openxmlformats.org/drawingml/2006/main">
            <a:off x="552450" y="438150"/>
            <a:ext cx="8763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01820"/>
                </a:solidFill>
                <a:latin typeface="Aptos Display"/>
                <a:ea typeface="Aptos Display"/>
                <a:cs typeface="Aptos Display"/>
              </a:defRPr>
            </a:pPr>
            <a:r>
              <a:rPr sz="3300" b="1">
                <a:solidFill>
                  <a:srgbClr val="101820"/>
                </a:solidFill>
                <a:latin typeface="Aptos Display"/>
                <a:ea typeface="Aptos Display"/>
                <a:cs typeface="Aptos Display"/>
              </a:rPr>
              <a:t>Requirements drive the runtime design</a:t>
            </a:r>
          </a:p>
        </p:txBody>
      </p:sp>
      <p:sp>
        <p:nvSpPr>
          <p:cNvPr id="3" name="">
            <a:extLst xmlns:a="http://schemas.openxmlformats.org/drawingml/2006/main">
              <a:ext uri="{FF2B5EF4-FFF2-40B4-BE49-F238E27FC236}">
                <a16:creationId xmlns:a16="http://schemas.microsoft.com/office/drawing/2014/main" id="{B55AC2A5-5A34-4AF3-AA7E-B9C482814E20}"/>
              </a:ext>
            </a:extLst>
          </p:cNvPr>
          <p:cNvSpPr>
            <a:spLocks xmlns:a="http://schemas.openxmlformats.org/drawingml/2006/main" noGrp="1"/>
          </p:cNvSpPr>
          <p:nvPr/>
        </p:nvSpPr>
        <p:spPr>
          <a:xfrm xmlns:a="http://schemas.openxmlformats.org/drawingml/2006/main">
            <a:off x="781050" y="1943100"/>
            <a:ext cx="4895850" cy="167640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4" name="">
            <a:extLst xmlns:a="http://schemas.openxmlformats.org/drawingml/2006/main">
              <a:ext uri="{FF2B5EF4-FFF2-40B4-BE49-F238E27FC236}">
                <a16:creationId xmlns:a16="http://schemas.microsoft.com/office/drawing/2014/main" id="{43256AA8-8971-4549-9380-B799A7512256}"/>
              </a:ext>
            </a:extLst>
          </p:cNvPr>
          <p:cNvSpPr>
            <a:spLocks xmlns:a="http://schemas.openxmlformats.org/drawingml/2006/main" noGrp="1"/>
          </p:cNvSpPr>
          <p:nvPr/>
        </p:nvSpPr>
        <p:spPr>
          <a:xfrm xmlns:a="http://schemas.openxmlformats.org/drawingml/2006/main">
            <a:off x="781050" y="1943100"/>
            <a:ext cx="4895850" cy="57150"/>
          </a:xfrm>
          <a:prstGeom xmlns:a="http://schemas.openxmlformats.org/drawingml/2006/main" prst="rect">
            <a:avLst/>
          </a:prstGeom>
          <a:solidFill xmlns:a="http://schemas.openxmlformats.org/drawingml/2006/main">
            <a:srgbClr val="C32832"/>
          </a:solidFill>
          <a:ln xmlns:a="http://schemas.openxmlformats.org/drawingml/2006/main" w="0">
            <a:solidFill>
              <a:srgbClr val="000000">
                <a:alpha val="0"/>
              </a:srgbClr>
            </a:solidFill>
            <a:prstDash val="solid"/>
          </a:ln>
        </p:spPr>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ec73b4fa264d4b28">
            <a:extLst>
              <a:ext uri="{96DAC541-7B7A-43D3-8B79-37D633B846F1}">
                <asvg:svgBlip xmlns:asvg="http://schemas.microsoft.com/office/drawing/2016/SVG/main" r:embed="Rbb4f8f450f634104"/>
              </a:ext>
            </a:extLst>
          </a:blip>
          <a:stretch xmlns:a="http://schemas.openxmlformats.org/drawingml/2006/main"/>
        </p:blipFill>
        <p:spPr>
          <a:xfrm xmlns:a="http://schemas.openxmlformats.org/drawingml/2006/main">
            <a:off x="1009650" y="2228850"/>
            <a:ext cx="323850" cy="3238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70E9565-41ED-4985-BCB0-CE367EB2C0AA}"/>
              </a:ext>
            </a:extLst>
          </p:cNvPr>
          <p:cNvSpPr>
            <a:spLocks xmlns:a="http://schemas.openxmlformats.org/drawingml/2006/main" noGrp="1"/>
          </p:cNvSpPr>
          <p:nvPr/>
        </p:nvSpPr>
        <p:spPr>
          <a:xfrm xmlns:a="http://schemas.openxmlformats.org/drawingml/2006/main">
            <a:off x="1485900" y="2209800"/>
            <a:ext cx="3143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01820"/>
                </a:solidFill>
                <a:latin typeface="Aptos"/>
                <a:ea typeface="Aptos"/>
                <a:cs typeface="Aptos"/>
              </a:defRPr>
            </a:pPr>
            <a:r>
              <a:rPr sz="1875" b="1">
                <a:solidFill>
                  <a:srgbClr val="101820"/>
                </a:solidFill>
                <a:latin typeface="Aptos"/>
                <a:ea typeface="Aptos"/>
                <a:cs typeface="Aptos"/>
              </a:rPr>
              <a:t>Embedded vision</a:t>
            </a:r>
          </a:p>
        </p:txBody>
      </p:sp>
      <p:sp>
        <p:nvSpPr>
          <p:cNvPr id="7" name="">
            <a:extLst xmlns:a="http://schemas.openxmlformats.org/drawingml/2006/main">
              <a:ext uri="{FF2B5EF4-FFF2-40B4-BE49-F238E27FC236}">
                <a16:creationId xmlns:a16="http://schemas.microsoft.com/office/drawing/2014/main" id="{DF3B5FDB-14F6-477C-9820-C2DCD30E0EC7}"/>
              </a:ext>
            </a:extLst>
          </p:cNvPr>
          <p:cNvSpPr>
            <a:spLocks xmlns:a="http://schemas.openxmlformats.org/drawingml/2006/main" noGrp="1"/>
          </p:cNvSpPr>
          <p:nvPr/>
        </p:nvSpPr>
        <p:spPr>
          <a:xfrm xmlns:a="http://schemas.openxmlformats.org/drawingml/2006/main">
            <a:off x="1104900" y="2733675"/>
            <a:ext cx="114300" cy="114300"/>
          </a:xfrm>
          <a:prstGeom xmlns:a="http://schemas.openxmlformats.org/drawingml/2006/main" prst="ellipse">
            <a:avLst/>
          </a:prstGeom>
          <a:solidFill xmlns:a="http://schemas.openxmlformats.org/drawingml/2006/main">
            <a:srgbClr val="C3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CC0DFE52-37A5-4CCB-9457-D6976E1941F5}"/>
              </a:ext>
            </a:extLst>
          </p:cNvPr>
          <p:cNvSpPr>
            <a:spLocks xmlns:a="http://schemas.openxmlformats.org/drawingml/2006/main" noGrp="1"/>
          </p:cNvSpPr>
          <p:nvPr/>
        </p:nvSpPr>
        <p:spPr>
          <a:xfrm xmlns:a="http://schemas.openxmlformats.org/drawingml/2006/main">
            <a:off x="1352550" y="2667000"/>
            <a:ext cx="3905250" cy="257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ESP32-S3-EYE camera frame acquisition</a:t>
            </a:r>
          </a:p>
        </p:txBody>
      </p:sp>
      <p:sp>
        <p:nvSpPr>
          <p:cNvPr id="9" name="">
            <a:extLst xmlns:a="http://schemas.openxmlformats.org/drawingml/2006/main">
              <a:ext uri="{FF2B5EF4-FFF2-40B4-BE49-F238E27FC236}">
                <a16:creationId xmlns:a16="http://schemas.microsoft.com/office/drawing/2014/main" id="{F1163ECE-F42C-4701-82F6-0C3EEF79FE21}"/>
              </a:ext>
            </a:extLst>
          </p:cNvPr>
          <p:cNvSpPr>
            <a:spLocks xmlns:a="http://schemas.openxmlformats.org/drawingml/2006/main" noGrp="1"/>
          </p:cNvSpPr>
          <p:nvPr/>
        </p:nvSpPr>
        <p:spPr>
          <a:xfrm xmlns:a="http://schemas.openxmlformats.org/drawingml/2006/main">
            <a:off x="1104900" y="2990850"/>
            <a:ext cx="114300" cy="114300"/>
          </a:xfrm>
          <a:prstGeom xmlns:a="http://schemas.openxmlformats.org/drawingml/2006/main" prst="ellipse">
            <a:avLst/>
          </a:prstGeom>
          <a:solidFill xmlns:a="http://schemas.openxmlformats.org/drawingml/2006/main">
            <a:srgbClr val="C3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AFAE524-B104-4710-A111-F0A6329117C5}"/>
              </a:ext>
            </a:extLst>
          </p:cNvPr>
          <p:cNvSpPr>
            <a:spLocks xmlns:a="http://schemas.openxmlformats.org/drawingml/2006/main" noGrp="1"/>
          </p:cNvSpPr>
          <p:nvPr/>
        </p:nvSpPr>
        <p:spPr>
          <a:xfrm xmlns:a="http://schemas.openxmlformats.org/drawingml/2006/main">
            <a:off x="1352550" y="2924175"/>
            <a:ext cx="3905250" cy="257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LCD preview with detection overlay</a:t>
            </a:r>
          </a:p>
        </p:txBody>
      </p:sp>
      <p:sp>
        <p:nvSpPr>
          <p:cNvPr id="11" name="">
            <a:extLst xmlns:a="http://schemas.openxmlformats.org/drawingml/2006/main">
              <a:ext uri="{FF2B5EF4-FFF2-40B4-BE49-F238E27FC236}">
                <a16:creationId xmlns:a16="http://schemas.microsoft.com/office/drawing/2014/main" id="{516BF796-4982-4863-82C4-9346427F8189}"/>
              </a:ext>
            </a:extLst>
          </p:cNvPr>
          <p:cNvSpPr>
            <a:spLocks xmlns:a="http://schemas.openxmlformats.org/drawingml/2006/main" noGrp="1"/>
          </p:cNvSpPr>
          <p:nvPr/>
        </p:nvSpPr>
        <p:spPr>
          <a:xfrm xmlns:a="http://schemas.openxmlformats.org/drawingml/2006/main">
            <a:off x="1104900" y="3248025"/>
            <a:ext cx="114300" cy="114300"/>
          </a:xfrm>
          <a:prstGeom xmlns:a="http://schemas.openxmlformats.org/drawingml/2006/main" prst="ellipse">
            <a:avLst/>
          </a:prstGeom>
          <a:solidFill xmlns:a="http://schemas.openxmlformats.org/drawingml/2006/main">
            <a:srgbClr val="C3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998B4EBF-F655-4679-9133-B1F36A997920}"/>
              </a:ext>
            </a:extLst>
          </p:cNvPr>
          <p:cNvSpPr>
            <a:spLocks xmlns:a="http://schemas.openxmlformats.org/drawingml/2006/main" noGrp="1"/>
          </p:cNvSpPr>
          <p:nvPr/>
        </p:nvSpPr>
        <p:spPr>
          <a:xfrm xmlns:a="http://schemas.openxmlformats.org/drawingml/2006/main">
            <a:off x="1352550" y="3181350"/>
            <a:ext cx="3905250" cy="257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camera frames stay on the device</a:t>
            </a:r>
          </a:p>
        </p:txBody>
      </p:sp>
      <p:sp>
        <p:nvSpPr>
          <p:cNvPr id="13" name="">
            <a:extLst xmlns:a="http://schemas.openxmlformats.org/drawingml/2006/main">
              <a:ext uri="{FF2B5EF4-FFF2-40B4-BE49-F238E27FC236}">
                <a16:creationId xmlns:a16="http://schemas.microsoft.com/office/drawing/2014/main" id="{13D081E3-5ADE-48A0-AB80-7033038B099C}"/>
              </a:ext>
            </a:extLst>
          </p:cNvPr>
          <p:cNvSpPr>
            <a:spLocks xmlns:a="http://schemas.openxmlformats.org/drawingml/2006/main" noGrp="1"/>
          </p:cNvSpPr>
          <p:nvPr/>
        </p:nvSpPr>
        <p:spPr>
          <a:xfrm xmlns:a="http://schemas.openxmlformats.org/drawingml/2006/main">
            <a:off x="6515100" y="1943100"/>
            <a:ext cx="4895850" cy="1676400"/>
          </a:xfrm>
          <a:prstGeom xmlns:a="http://schemas.openxmlformats.org/drawingml/2006/main" prst="rect">
            <a:avLst/>
          </a:prstGeom>
          <a:solidFill xmlns:a="http://schemas.openxmlformats.org/drawingml/2006/main">
            <a:srgbClr val="DDF0EF"/>
          </a:solidFill>
          <a:ln xmlns:a="http://schemas.openxmlformats.org/drawingml/2006/main" w="9525">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FF775C98-CA84-4231-A297-A8746A9C0C70}"/>
              </a:ext>
            </a:extLst>
          </p:cNvPr>
          <p:cNvSpPr>
            <a:spLocks xmlns:a="http://schemas.openxmlformats.org/drawingml/2006/main" noGrp="1"/>
          </p:cNvSpPr>
          <p:nvPr/>
        </p:nvSpPr>
        <p:spPr>
          <a:xfrm xmlns:a="http://schemas.openxmlformats.org/drawingml/2006/main">
            <a:off x="6515100" y="1943100"/>
            <a:ext cx="4895850" cy="57150"/>
          </a:xfrm>
          <a:prstGeom xmlns:a="http://schemas.openxmlformats.org/drawingml/2006/main" prst="rect">
            <a:avLst/>
          </a:prstGeom>
          <a:solidFill xmlns:a="http://schemas.openxmlformats.org/drawingml/2006/main">
            <a:srgbClr val="0E7C86"/>
          </a:solidFill>
          <a:ln xmlns:a="http://schemas.openxmlformats.org/drawingml/2006/main" w="0">
            <a:solidFill>
              <a:srgbClr val="000000">
                <a:alpha val="0"/>
              </a:srgbClr>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9d61de0a27e46e0">
            <a:extLst>
              <a:ext uri="{96DAC541-7B7A-43D3-8B79-37D633B846F1}">
                <asvg:svgBlip xmlns:asvg="http://schemas.microsoft.com/office/drawing/2016/SVG/main" r:embed="R9736ed2958194ec9"/>
              </a:ext>
            </a:extLst>
          </a:blip>
          <a:stretch xmlns:a="http://schemas.openxmlformats.org/drawingml/2006/main"/>
        </p:blipFill>
        <p:spPr>
          <a:xfrm xmlns:a="http://schemas.openxmlformats.org/drawingml/2006/main">
            <a:off x="6743700" y="2228850"/>
            <a:ext cx="323850" cy="3238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8275A6CF-E6BA-4D57-8021-FB9070FB6086}"/>
              </a:ext>
            </a:extLst>
          </p:cNvPr>
          <p:cNvSpPr>
            <a:spLocks xmlns:a="http://schemas.openxmlformats.org/drawingml/2006/main" noGrp="1"/>
          </p:cNvSpPr>
          <p:nvPr/>
        </p:nvSpPr>
        <p:spPr>
          <a:xfrm xmlns:a="http://schemas.openxmlformats.org/drawingml/2006/main">
            <a:off x="7219950" y="2209800"/>
            <a:ext cx="3143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01820"/>
                </a:solidFill>
                <a:latin typeface="Aptos"/>
                <a:ea typeface="Aptos"/>
                <a:cs typeface="Aptos"/>
              </a:defRPr>
            </a:pPr>
            <a:r>
              <a:rPr sz="1875" b="1">
                <a:solidFill>
                  <a:srgbClr val="101820"/>
                </a:solidFill>
                <a:latin typeface="Aptos"/>
                <a:ea typeface="Aptos"/>
                <a:cs typeface="Aptos"/>
              </a:rPr>
              <a:t>On-device AI</a:t>
            </a:r>
          </a:p>
        </p:txBody>
      </p:sp>
      <p:sp>
        <p:nvSpPr>
          <p:cNvPr id="17" name="">
            <a:extLst xmlns:a="http://schemas.openxmlformats.org/drawingml/2006/main">
              <a:ext uri="{FF2B5EF4-FFF2-40B4-BE49-F238E27FC236}">
                <a16:creationId xmlns:a16="http://schemas.microsoft.com/office/drawing/2014/main" id="{BF741A92-0B82-46DE-99D1-B2178B5A0E6B}"/>
              </a:ext>
            </a:extLst>
          </p:cNvPr>
          <p:cNvSpPr>
            <a:spLocks xmlns:a="http://schemas.openxmlformats.org/drawingml/2006/main" noGrp="1"/>
          </p:cNvSpPr>
          <p:nvPr/>
        </p:nvSpPr>
        <p:spPr>
          <a:xfrm xmlns:a="http://schemas.openxmlformats.org/drawingml/2006/main">
            <a:off x="6838950" y="2733675"/>
            <a:ext cx="114300" cy="114300"/>
          </a:xfrm>
          <a:prstGeom xmlns:a="http://schemas.openxmlformats.org/drawingml/2006/main" prst="ellipse">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78899A84-D0FA-4AA0-BC96-CE3F8DCE32CB}"/>
              </a:ext>
            </a:extLst>
          </p:cNvPr>
          <p:cNvSpPr>
            <a:spLocks xmlns:a="http://schemas.openxmlformats.org/drawingml/2006/main" noGrp="1"/>
          </p:cNvSpPr>
          <p:nvPr/>
        </p:nvSpPr>
        <p:spPr>
          <a:xfrm xmlns:a="http://schemas.openxmlformats.org/drawingml/2006/main">
            <a:off x="7086600" y="2667000"/>
            <a:ext cx="3905250" cy="257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ESP-WHO / ESP-DL pedestrian detector</a:t>
            </a:r>
          </a:p>
        </p:txBody>
      </p:sp>
      <p:sp>
        <p:nvSpPr>
          <p:cNvPr id="19" name="">
            <a:extLst xmlns:a="http://schemas.openxmlformats.org/drawingml/2006/main">
              <a:ext uri="{FF2B5EF4-FFF2-40B4-BE49-F238E27FC236}">
                <a16:creationId xmlns:a16="http://schemas.microsoft.com/office/drawing/2014/main" id="{F7BBF852-B5F1-445D-937A-1C756C57159D}"/>
              </a:ext>
            </a:extLst>
          </p:cNvPr>
          <p:cNvSpPr>
            <a:spLocks xmlns:a="http://schemas.openxmlformats.org/drawingml/2006/main" noGrp="1"/>
          </p:cNvSpPr>
          <p:nvPr/>
        </p:nvSpPr>
        <p:spPr>
          <a:xfrm xmlns:a="http://schemas.openxmlformats.org/drawingml/2006/main">
            <a:off x="6838950" y="2990850"/>
            <a:ext cx="114300" cy="114300"/>
          </a:xfrm>
          <a:prstGeom xmlns:a="http://schemas.openxmlformats.org/drawingml/2006/main" prst="ellipse">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EDFD7F7B-C620-4D00-8571-82AD2EC1C5D7}"/>
              </a:ext>
            </a:extLst>
          </p:cNvPr>
          <p:cNvSpPr>
            <a:spLocks xmlns:a="http://schemas.openxmlformats.org/drawingml/2006/main" noGrp="1"/>
          </p:cNvSpPr>
          <p:nvPr/>
        </p:nvSpPr>
        <p:spPr>
          <a:xfrm xmlns:a="http://schemas.openxmlformats.org/drawingml/2006/main">
            <a:off x="7086600" y="2924175"/>
            <a:ext cx="3905250" cy="257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confidence threshold for valid candidates</a:t>
            </a:r>
          </a:p>
        </p:txBody>
      </p:sp>
      <p:sp>
        <p:nvSpPr>
          <p:cNvPr id="21" name="">
            <a:extLst xmlns:a="http://schemas.openxmlformats.org/drawingml/2006/main">
              <a:ext uri="{FF2B5EF4-FFF2-40B4-BE49-F238E27FC236}">
                <a16:creationId xmlns:a16="http://schemas.microsoft.com/office/drawing/2014/main" id="{ED27DEFF-5429-4B77-A2C8-050341EDC0B4}"/>
              </a:ext>
            </a:extLst>
          </p:cNvPr>
          <p:cNvSpPr>
            <a:spLocks xmlns:a="http://schemas.openxmlformats.org/drawingml/2006/main" noGrp="1"/>
          </p:cNvSpPr>
          <p:nvPr/>
        </p:nvSpPr>
        <p:spPr>
          <a:xfrm xmlns:a="http://schemas.openxmlformats.org/drawingml/2006/main">
            <a:off x="6838950" y="3248025"/>
            <a:ext cx="114300" cy="114300"/>
          </a:xfrm>
          <a:prstGeom xmlns:a="http://schemas.openxmlformats.org/drawingml/2006/main" prst="ellipse">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D6CCADA7-BAEA-403A-B596-C8FBAF5D06F7}"/>
              </a:ext>
            </a:extLst>
          </p:cNvPr>
          <p:cNvSpPr>
            <a:spLocks xmlns:a="http://schemas.openxmlformats.org/drawingml/2006/main" noGrp="1"/>
          </p:cNvSpPr>
          <p:nvPr/>
        </p:nvSpPr>
        <p:spPr>
          <a:xfrm xmlns:a="http://schemas.openxmlformats.org/drawingml/2006/main">
            <a:off x="7086600" y="3181350"/>
            <a:ext cx="3905250" cy="257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bounding-box output for visual feedback</a:t>
            </a:r>
          </a:p>
        </p:txBody>
      </p:sp>
      <p:sp>
        <p:nvSpPr>
          <p:cNvPr id="23" name="">
            <a:extLst xmlns:a="http://schemas.openxmlformats.org/drawingml/2006/main">
              <a:ext uri="{FF2B5EF4-FFF2-40B4-BE49-F238E27FC236}">
                <a16:creationId xmlns:a16="http://schemas.microsoft.com/office/drawing/2014/main" id="{27D33B93-3226-427B-B41A-986D27ED837A}"/>
              </a:ext>
            </a:extLst>
          </p:cNvPr>
          <p:cNvSpPr>
            <a:spLocks xmlns:a="http://schemas.openxmlformats.org/drawingml/2006/main" noGrp="1"/>
          </p:cNvSpPr>
          <p:nvPr/>
        </p:nvSpPr>
        <p:spPr>
          <a:xfrm xmlns:a="http://schemas.openxmlformats.org/drawingml/2006/main">
            <a:off x="781050" y="4000500"/>
            <a:ext cx="4895850" cy="1676400"/>
          </a:xfrm>
          <a:prstGeom xmlns:a="http://schemas.openxmlformats.org/drawingml/2006/main" prst="rect">
            <a:avLst/>
          </a:prstGeom>
          <a:solidFill xmlns:a="http://schemas.openxmlformats.org/drawingml/2006/main">
            <a:srgbClr val="DFF0E5"/>
          </a:solidFill>
          <a:ln xmlns:a="http://schemas.openxmlformats.org/drawingml/2006/main" w="9525">
            <a:solidFill>
              <a:srgbClr val="D8D1C5"/>
            </a:solidFill>
            <a:prstDash val="solid"/>
          </a:ln>
        </p:spPr>
      </p:sp>
      <p:sp>
        <p:nvSpPr>
          <p:cNvPr id="24" name="">
            <a:extLst xmlns:a="http://schemas.openxmlformats.org/drawingml/2006/main">
              <a:ext uri="{FF2B5EF4-FFF2-40B4-BE49-F238E27FC236}">
                <a16:creationId xmlns:a16="http://schemas.microsoft.com/office/drawing/2014/main" id="{DF38BAC0-C315-4B78-AC6D-EAA62265463E}"/>
              </a:ext>
            </a:extLst>
          </p:cNvPr>
          <p:cNvSpPr>
            <a:spLocks xmlns:a="http://schemas.openxmlformats.org/drawingml/2006/main" noGrp="1"/>
          </p:cNvSpPr>
          <p:nvPr/>
        </p:nvSpPr>
        <p:spPr>
          <a:xfrm xmlns:a="http://schemas.openxmlformats.org/drawingml/2006/main">
            <a:off x="781050" y="4000500"/>
            <a:ext cx="4895850" cy="57150"/>
          </a:xfrm>
          <a:prstGeom xmlns:a="http://schemas.openxmlformats.org/drawingml/2006/main" prst="rect">
            <a:avLst/>
          </a:prstGeom>
          <a:solidFill xmlns:a="http://schemas.openxmlformats.org/drawingml/2006/main">
            <a:srgbClr val="2E7D46"/>
          </a:solidFill>
          <a:ln xmlns:a="http://schemas.openxmlformats.org/drawingml/2006/main" w="0">
            <a:solidFill>
              <a:srgbClr val="000000">
                <a:alpha val="0"/>
              </a:srgbClr>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e7258ae885d435c">
            <a:extLst>
              <a:ext uri="{96DAC541-7B7A-43D3-8B79-37D633B846F1}">
                <asvg:svgBlip xmlns:asvg="http://schemas.microsoft.com/office/drawing/2016/SVG/main" r:embed="Re8fd780ae6704f8b"/>
              </a:ext>
            </a:extLst>
          </a:blip>
          <a:stretch xmlns:a="http://schemas.openxmlformats.org/drawingml/2006/main"/>
        </p:blipFill>
        <p:spPr>
          <a:xfrm xmlns:a="http://schemas.openxmlformats.org/drawingml/2006/main">
            <a:off x="1009650" y="4286250"/>
            <a:ext cx="323850" cy="32385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B1E15AD1-97DB-48EE-B7BF-A3EC6833431E}"/>
              </a:ext>
            </a:extLst>
          </p:cNvPr>
          <p:cNvSpPr>
            <a:spLocks xmlns:a="http://schemas.openxmlformats.org/drawingml/2006/main" noGrp="1"/>
          </p:cNvSpPr>
          <p:nvPr/>
        </p:nvSpPr>
        <p:spPr>
          <a:xfrm xmlns:a="http://schemas.openxmlformats.org/drawingml/2006/main">
            <a:off x="1485900" y="4267200"/>
            <a:ext cx="3143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01820"/>
                </a:solidFill>
                <a:latin typeface="Aptos"/>
                <a:ea typeface="Aptos"/>
                <a:cs typeface="Aptos"/>
              </a:defRPr>
            </a:pPr>
            <a:r>
              <a:rPr sz="1875" b="1">
                <a:solidFill>
                  <a:srgbClr val="101820"/>
                </a:solidFill>
                <a:latin typeface="Aptos"/>
                <a:ea typeface="Aptos"/>
                <a:cs typeface="Aptos"/>
              </a:rPr>
              <a:t>Event control</a:t>
            </a:r>
          </a:p>
        </p:txBody>
      </p:sp>
      <p:sp>
        <p:nvSpPr>
          <p:cNvPr id="27" name="">
            <a:extLst xmlns:a="http://schemas.openxmlformats.org/drawingml/2006/main">
              <a:ext uri="{FF2B5EF4-FFF2-40B4-BE49-F238E27FC236}">
                <a16:creationId xmlns:a16="http://schemas.microsoft.com/office/drawing/2014/main" id="{18AA1680-188E-41A9-A591-D450BB0A572A}"/>
              </a:ext>
            </a:extLst>
          </p:cNvPr>
          <p:cNvSpPr>
            <a:spLocks xmlns:a="http://schemas.openxmlformats.org/drawingml/2006/main" noGrp="1"/>
          </p:cNvSpPr>
          <p:nvPr/>
        </p:nvSpPr>
        <p:spPr>
          <a:xfrm xmlns:a="http://schemas.openxmlformats.org/drawingml/2006/main">
            <a:off x="1104900" y="4791075"/>
            <a:ext cx="114300" cy="114300"/>
          </a:xfrm>
          <a:prstGeom xmlns:a="http://schemas.openxmlformats.org/drawingml/2006/main" prst="ellipse">
            <a:avLst/>
          </a:prstGeom>
          <a:solidFill xmlns:a="http://schemas.openxmlformats.org/drawingml/2006/main">
            <a:srgbClr val="2E7D46"/>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100B3CF5-593B-4646-832C-E6153435B6C7}"/>
              </a:ext>
            </a:extLst>
          </p:cNvPr>
          <p:cNvSpPr>
            <a:spLocks xmlns:a="http://schemas.openxmlformats.org/drawingml/2006/main" noGrp="1"/>
          </p:cNvSpPr>
          <p:nvPr/>
        </p:nvSpPr>
        <p:spPr>
          <a:xfrm xmlns:a="http://schemas.openxmlformats.org/drawingml/2006/main">
            <a:off x="1352550" y="4724400"/>
            <a:ext cx="3905250" cy="257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confirmation frames before an alarm</a:t>
            </a:r>
          </a:p>
        </p:txBody>
      </p:sp>
      <p:sp>
        <p:nvSpPr>
          <p:cNvPr id="29" name="">
            <a:extLst xmlns:a="http://schemas.openxmlformats.org/drawingml/2006/main">
              <a:ext uri="{FF2B5EF4-FFF2-40B4-BE49-F238E27FC236}">
                <a16:creationId xmlns:a16="http://schemas.microsoft.com/office/drawing/2014/main" id="{C72514FB-978B-42E9-A540-20614108BAD3}"/>
              </a:ext>
            </a:extLst>
          </p:cNvPr>
          <p:cNvSpPr>
            <a:spLocks xmlns:a="http://schemas.openxmlformats.org/drawingml/2006/main" noGrp="1"/>
          </p:cNvSpPr>
          <p:nvPr/>
        </p:nvSpPr>
        <p:spPr>
          <a:xfrm xmlns:a="http://schemas.openxmlformats.org/drawingml/2006/main">
            <a:off x="1104900" y="5048250"/>
            <a:ext cx="114300" cy="114300"/>
          </a:xfrm>
          <a:prstGeom xmlns:a="http://schemas.openxmlformats.org/drawingml/2006/main" prst="ellipse">
            <a:avLst/>
          </a:prstGeom>
          <a:solidFill xmlns:a="http://schemas.openxmlformats.org/drawingml/2006/main">
            <a:srgbClr val="2E7D46"/>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7B30B5C0-6AB8-4BDF-8F09-3C260316001E}"/>
              </a:ext>
            </a:extLst>
          </p:cNvPr>
          <p:cNvSpPr>
            <a:spLocks xmlns:a="http://schemas.openxmlformats.org/drawingml/2006/main" noGrp="1"/>
          </p:cNvSpPr>
          <p:nvPr/>
        </p:nvSpPr>
        <p:spPr>
          <a:xfrm xmlns:a="http://schemas.openxmlformats.org/drawingml/2006/main">
            <a:off x="1352550" y="4981575"/>
            <a:ext cx="3905250" cy="257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cooldown to avoid repeated alerts</a:t>
            </a:r>
          </a:p>
        </p:txBody>
      </p:sp>
      <p:sp>
        <p:nvSpPr>
          <p:cNvPr id="31" name="">
            <a:extLst xmlns:a="http://schemas.openxmlformats.org/drawingml/2006/main">
              <a:ext uri="{FF2B5EF4-FFF2-40B4-BE49-F238E27FC236}">
                <a16:creationId xmlns:a16="http://schemas.microsoft.com/office/drawing/2014/main" id="{5C616536-EFE9-44F0-948C-8A89263619FC}"/>
              </a:ext>
            </a:extLst>
          </p:cNvPr>
          <p:cNvSpPr>
            <a:spLocks xmlns:a="http://schemas.openxmlformats.org/drawingml/2006/main" noGrp="1"/>
          </p:cNvSpPr>
          <p:nvPr/>
        </p:nvSpPr>
        <p:spPr>
          <a:xfrm xmlns:a="http://schemas.openxmlformats.org/drawingml/2006/main">
            <a:off x="1104900" y="5305425"/>
            <a:ext cx="114300" cy="114300"/>
          </a:xfrm>
          <a:prstGeom xmlns:a="http://schemas.openxmlformats.org/drawingml/2006/main" prst="ellipse">
            <a:avLst/>
          </a:prstGeom>
          <a:solidFill xmlns:a="http://schemas.openxmlformats.org/drawingml/2006/main">
            <a:srgbClr val="2E7D46"/>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655E1B67-28A2-4EAA-ACC8-D804E4EF6F8C}"/>
              </a:ext>
            </a:extLst>
          </p:cNvPr>
          <p:cNvSpPr>
            <a:spLocks xmlns:a="http://schemas.openxmlformats.org/drawingml/2006/main" noGrp="1"/>
          </p:cNvSpPr>
          <p:nvPr/>
        </p:nvSpPr>
        <p:spPr>
          <a:xfrm xmlns:a="http://schemas.openxmlformats.org/drawingml/2006/main">
            <a:off x="1352550" y="5238750"/>
            <a:ext cx="3905250" cy="257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compact JSON metadata payload</a:t>
            </a:r>
          </a:p>
        </p:txBody>
      </p:sp>
      <p:sp>
        <p:nvSpPr>
          <p:cNvPr id="33" name="">
            <a:extLst xmlns:a="http://schemas.openxmlformats.org/drawingml/2006/main">
              <a:ext uri="{FF2B5EF4-FFF2-40B4-BE49-F238E27FC236}">
                <a16:creationId xmlns:a16="http://schemas.microsoft.com/office/drawing/2014/main" id="{81112883-FC65-4E1C-B31F-D59E0F22192D}"/>
              </a:ext>
            </a:extLst>
          </p:cNvPr>
          <p:cNvSpPr>
            <a:spLocks xmlns:a="http://schemas.openxmlformats.org/drawingml/2006/main" noGrp="1"/>
          </p:cNvSpPr>
          <p:nvPr/>
        </p:nvSpPr>
        <p:spPr>
          <a:xfrm xmlns:a="http://schemas.openxmlformats.org/drawingml/2006/main">
            <a:off x="6515100" y="4000500"/>
            <a:ext cx="4895850" cy="1676400"/>
          </a:xfrm>
          <a:prstGeom xmlns:a="http://schemas.openxmlformats.org/drawingml/2006/main" prst="rect">
            <a:avLst/>
          </a:prstGeom>
          <a:solidFill xmlns:a="http://schemas.openxmlformats.org/drawingml/2006/main">
            <a:srgbClr val="E1EAF8"/>
          </a:solidFill>
          <a:ln xmlns:a="http://schemas.openxmlformats.org/drawingml/2006/main" w="9525">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0D9A9499-D95B-4316-9BAB-A1EF423F4BBD}"/>
              </a:ext>
            </a:extLst>
          </p:cNvPr>
          <p:cNvSpPr>
            <a:spLocks xmlns:a="http://schemas.openxmlformats.org/drawingml/2006/main" noGrp="1"/>
          </p:cNvSpPr>
          <p:nvPr/>
        </p:nvSpPr>
        <p:spPr>
          <a:xfrm xmlns:a="http://schemas.openxmlformats.org/drawingml/2006/main">
            <a:off x="6515100" y="4000500"/>
            <a:ext cx="4895850" cy="57150"/>
          </a:xfrm>
          <a:prstGeom xmlns:a="http://schemas.openxmlformats.org/drawingml/2006/main" prst="rect">
            <a:avLst/>
          </a:prstGeom>
          <a:solidFill xmlns:a="http://schemas.openxmlformats.org/drawingml/2006/main">
            <a:srgbClr val="2E5EAA"/>
          </a:solidFill>
          <a:ln xmlns:a="http://schemas.openxmlformats.org/drawingml/2006/main" w="0">
            <a:solidFill>
              <a:srgbClr val="000000">
                <a:alpha val="0"/>
              </a:srgbClr>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cd350620668451e">
            <a:extLst>
              <a:ext uri="{96DAC541-7B7A-43D3-8B79-37D633B846F1}">
                <asvg:svgBlip xmlns:asvg="http://schemas.microsoft.com/office/drawing/2016/SVG/main" r:embed="R4d04179d30944cfc"/>
              </a:ext>
            </a:extLst>
          </a:blip>
          <a:stretch xmlns:a="http://schemas.openxmlformats.org/drawingml/2006/main"/>
        </p:blipFill>
        <p:spPr>
          <a:xfrm xmlns:a="http://schemas.openxmlformats.org/drawingml/2006/main">
            <a:off x="6743700" y="4286250"/>
            <a:ext cx="323850" cy="323850"/>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2AA06DB8-5A59-42FE-AF01-19AF8A577454}"/>
              </a:ext>
            </a:extLst>
          </p:cNvPr>
          <p:cNvSpPr>
            <a:spLocks xmlns:a="http://schemas.openxmlformats.org/drawingml/2006/main" noGrp="1"/>
          </p:cNvSpPr>
          <p:nvPr/>
        </p:nvSpPr>
        <p:spPr>
          <a:xfrm xmlns:a="http://schemas.openxmlformats.org/drawingml/2006/main">
            <a:off x="7219950" y="4267200"/>
            <a:ext cx="3143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01820"/>
                </a:solidFill>
                <a:latin typeface="Aptos"/>
                <a:ea typeface="Aptos"/>
                <a:cs typeface="Aptos"/>
              </a:defRPr>
            </a:pPr>
            <a:r>
              <a:rPr sz="1875" b="1">
                <a:solidFill>
                  <a:srgbClr val="101820"/>
                </a:solidFill>
                <a:latin typeface="Aptos"/>
                <a:ea typeface="Aptos"/>
                <a:cs typeface="Aptos"/>
              </a:rPr>
              <a:t>Notification bridge</a:t>
            </a:r>
          </a:p>
        </p:txBody>
      </p:sp>
      <p:sp>
        <p:nvSpPr>
          <p:cNvPr id="37" name="">
            <a:extLst xmlns:a="http://schemas.openxmlformats.org/drawingml/2006/main">
              <a:ext uri="{FF2B5EF4-FFF2-40B4-BE49-F238E27FC236}">
                <a16:creationId xmlns:a16="http://schemas.microsoft.com/office/drawing/2014/main" id="{8687DB34-1533-4EF6-9B4E-E93DA1A46FC5}"/>
              </a:ext>
            </a:extLst>
          </p:cNvPr>
          <p:cNvSpPr>
            <a:spLocks xmlns:a="http://schemas.openxmlformats.org/drawingml/2006/main" noGrp="1"/>
          </p:cNvSpPr>
          <p:nvPr/>
        </p:nvSpPr>
        <p:spPr>
          <a:xfrm xmlns:a="http://schemas.openxmlformats.org/drawingml/2006/main">
            <a:off x="6838950" y="4791075"/>
            <a:ext cx="114300" cy="114300"/>
          </a:xfrm>
          <a:prstGeom xmlns:a="http://schemas.openxmlformats.org/drawingml/2006/main" prst="ellipse">
            <a:avLst/>
          </a:prstGeom>
          <a:solidFill xmlns:a="http://schemas.openxmlformats.org/drawingml/2006/main">
            <a:srgbClr val="2E5EAA"/>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81A6621C-FAD7-464E-9072-DAE5983F079D}"/>
              </a:ext>
            </a:extLst>
          </p:cNvPr>
          <p:cNvSpPr>
            <a:spLocks xmlns:a="http://schemas.openxmlformats.org/drawingml/2006/main" noGrp="1"/>
          </p:cNvSpPr>
          <p:nvPr/>
        </p:nvSpPr>
        <p:spPr>
          <a:xfrm xmlns:a="http://schemas.openxmlformats.org/drawingml/2006/main">
            <a:off x="7086600" y="4724400"/>
            <a:ext cx="3905250" cy="257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MQTT topic transport</a:t>
            </a:r>
          </a:p>
        </p:txBody>
      </p:sp>
      <p:sp>
        <p:nvSpPr>
          <p:cNvPr id="39" name="">
            <a:extLst xmlns:a="http://schemas.openxmlformats.org/drawingml/2006/main">
              <a:ext uri="{FF2B5EF4-FFF2-40B4-BE49-F238E27FC236}">
                <a16:creationId xmlns:a16="http://schemas.microsoft.com/office/drawing/2014/main" id="{B84D67A0-8B6A-4664-A933-9F59CCEDF27C}"/>
              </a:ext>
            </a:extLst>
          </p:cNvPr>
          <p:cNvSpPr>
            <a:spLocks xmlns:a="http://schemas.openxmlformats.org/drawingml/2006/main" noGrp="1"/>
          </p:cNvSpPr>
          <p:nvPr/>
        </p:nvSpPr>
        <p:spPr>
          <a:xfrm xmlns:a="http://schemas.openxmlformats.org/drawingml/2006/main">
            <a:off x="6838950" y="5048250"/>
            <a:ext cx="114300" cy="114300"/>
          </a:xfrm>
          <a:prstGeom xmlns:a="http://schemas.openxmlformats.org/drawingml/2006/main" prst="ellipse">
            <a:avLst/>
          </a:prstGeom>
          <a:solidFill xmlns:a="http://schemas.openxmlformats.org/drawingml/2006/main">
            <a:srgbClr val="2E5EAA"/>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184D886A-7FE4-4190-B239-4463C5F0BF0D}"/>
              </a:ext>
            </a:extLst>
          </p:cNvPr>
          <p:cNvSpPr>
            <a:spLocks xmlns:a="http://schemas.openxmlformats.org/drawingml/2006/main" noGrp="1"/>
          </p:cNvSpPr>
          <p:nvPr/>
        </p:nvSpPr>
        <p:spPr>
          <a:xfrm xmlns:a="http://schemas.openxmlformats.org/drawingml/2006/main">
            <a:off x="7086600" y="4981575"/>
            <a:ext cx="3905250" cy="257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Python validation and formatting</a:t>
            </a:r>
          </a:p>
        </p:txBody>
      </p:sp>
      <p:sp>
        <p:nvSpPr>
          <p:cNvPr id="41" name="">
            <a:extLst xmlns:a="http://schemas.openxmlformats.org/drawingml/2006/main">
              <a:ext uri="{FF2B5EF4-FFF2-40B4-BE49-F238E27FC236}">
                <a16:creationId xmlns:a16="http://schemas.microsoft.com/office/drawing/2014/main" id="{DAC32D5E-51DE-44BD-89C8-C0EE5C4CDE7F}"/>
              </a:ext>
            </a:extLst>
          </p:cNvPr>
          <p:cNvSpPr>
            <a:spLocks xmlns:a="http://schemas.openxmlformats.org/drawingml/2006/main" noGrp="1"/>
          </p:cNvSpPr>
          <p:nvPr/>
        </p:nvSpPr>
        <p:spPr>
          <a:xfrm xmlns:a="http://schemas.openxmlformats.org/drawingml/2006/main">
            <a:off x="6838950" y="5305425"/>
            <a:ext cx="114300" cy="114300"/>
          </a:xfrm>
          <a:prstGeom xmlns:a="http://schemas.openxmlformats.org/drawingml/2006/main" prst="ellipse">
            <a:avLst/>
          </a:prstGeom>
          <a:solidFill xmlns:a="http://schemas.openxmlformats.org/drawingml/2006/main">
            <a:srgbClr val="2E5EAA"/>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75BEB6BE-BE17-49EF-B1B1-D617AE9744DF}"/>
              </a:ext>
            </a:extLst>
          </p:cNvPr>
          <p:cNvSpPr>
            <a:spLocks xmlns:a="http://schemas.openxmlformats.org/drawingml/2006/main" noGrp="1"/>
          </p:cNvSpPr>
          <p:nvPr/>
        </p:nvSpPr>
        <p:spPr>
          <a:xfrm xmlns:a="http://schemas.openxmlformats.org/drawingml/2006/main">
            <a:off x="7086600" y="5238750"/>
            <a:ext cx="3905250" cy="257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Telegram Bot API user notification</a:t>
            </a:r>
          </a:p>
        </p:txBody>
      </p:sp>
      <p:sp>
        <p:nvSpPr>
          <p:cNvPr id="43" name="">
            <a:extLst xmlns:a="http://schemas.openxmlformats.org/drawingml/2006/main">
              <a:ext uri="{FF2B5EF4-FFF2-40B4-BE49-F238E27FC236}">
                <a16:creationId xmlns:a16="http://schemas.microsoft.com/office/drawing/2014/main" id="{42FC65EB-9917-471F-B144-9939873F6B6B}"/>
              </a:ext>
            </a:extLst>
          </p:cNvPr>
          <p:cNvSpPr>
            <a:spLocks xmlns:a="http://schemas.openxmlformats.org/drawingml/2006/main" noGrp="1"/>
          </p:cNvSpPr>
          <p:nvPr/>
        </p:nvSpPr>
        <p:spPr>
          <a:xfrm xmlns:a="http://schemas.openxmlformats.org/drawingml/2006/main">
            <a:off x="1485900" y="6019800"/>
            <a:ext cx="9220200" cy="400050"/>
          </a:xfrm>
          <a:prstGeom xmlns:a="http://schemas.openxmlformats.org/drawingml/2006/main" prst="rect">
            <a:avLst/>
          </a:prstGeom>
          <a:solidFill xmlns:a="http://schemas.openxmlformats.org/drawingml/2006/main">
            <a:srgbClr val="8B1E29"/>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DFF090FE-6452-4AAA-8549-0C4A76C3B037}"/>
              </a:ext>
            </a:extLst>
          </p:cNvPr>
          <p:cNvSpPr>
            <a:spLocks xmlns:a="http://schemas.openxmlformats.org/drawingml/2006/main" noGrp="1"/>
          </p:cNvSpPr>
          <p:nvPr/>
        </p:nvSpPr>
        <p:spPr>
          <a:xfrm xmlns:a="http://schemas.openxmlformats.org/drawingml/2006/main">
            <a:off x="1771650" y="6115050"/>
            <a:ext cx="8667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Core flow: detect locally -&gt; confirm event -&gt; publish MQTT -&gt; notify Telegram</a:t>
            </a:r>
          </a:p>
        </p:txBody>
      </p:sp>
      <p:sp>
        <p:nvSpPr>
          <p:cNvPr id="45" name="">
            <a:extLst xmlns:a="http://schemas.openxmlformats.org/drawingml/2006/main">
              <a:ext uri="{FF2B5EF4-FFF2-40B4-BE49-F238E27FC236}">
                <a16:creationId xmlns:a16="http://schemas.microsoft.com/office/drawing/2014/main" id="{08371736-2B73-4757-8B02-0BA5D3CD2824}"/>
              </a:ext>
            </a:extLst>
          </p:cNvPr>
          <p:cNvSpPr>
            <a:spLocks xmlns:a="http://schemas.openxmlformats.org/drawingml/2006/main" noGrp="1"/>
          </p:cNvSpPr>
          <p:nvPr/>
        </p:nvSpPr>
        <p:spPr>
          <a:xfrm xmlns:a="http://schemas.openxmlformats.org/drawingml/2006/main">
            <a:off x="552450" y="64579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E6872"/>
                </a:solidFill>
                <a:latin typeface="Aptos"/>
                <a:ea typeface="Aptos"/>
                <a:cs typeface="Aptos"/>
              </a:defRPr>
            </a:pPr>
            <a:r>
              <a:rPr sz="1050" b="0">
                <a:solidFill>
                  <a:srgbClr val="5E6872"/>
                </a:solidFill>
                <a:latin typeface="Aptos"/>
                <a:ea typeface="Aptos"/>
                <a:cs typeface="Aptos"/>
              </a:rPr>
              <a:t>Smart Visual Alarm System | 02</a:t>
            </a:r>
          </a:p>
        </p:txBody>
      </p:sp>
    </p:spTree>
    <p:extLst>
      <p:ext uri="{BB962C8B-B14F-4D97-AF65-F5344CB8AC3E}">
        <p14:creationId xmlns:p14="http://schemas.microsoft.com/office/powerpoint/2010/main" val="5642331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F3FEDD6-F2C3-4211-AA86-935FA44B32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7AF5D41-B245-4297-A8F5-05C101FBF98D}"/>
              </a:ext>
            </a:extLst>
          </p:cNvPr>
          <p:cNvSpPr>
            <a:spLocks xmlns:a="http://schemas.openxmlformats.org/drawingml/2006/main" noGrp="1"/>
          </p:cNvSpPr>
          <p:nvPr/>
        </p:nvSpPr>
        <p:spPr>
          <a:xfrm xmlns:a="http://schemas.openxmlformats.org/drawingml/2006/main">
            <a:off x="552450" y="438150"/>
            <a:ext cx="8096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01820"/>
                </a:solidFill>
                <a:latin typeface="Aptos Display"/>
                <a:ea typeface="Aptos Display"/>
                <a:cs typeface="Aptos Display"/>
              </a:defRPr>
            </a:pPr>
            <a:r>
              <a:rPr sz="3300" b="1">
                <a:solidFill>
                  <a:srgbClr val="101820"/>
                </a:solidFill>
                <a:latin typeface="Aptos Display"/>
                <a:ea typeface="Aptos Display"/>
                <a:cs typeface="Aptos Display"/>
              </a:rPr>
              <a:t>Six-stage alarm path</a:t>
            </a:r>
          </a:p>
        </p:txBody>
      </p:sp>
      <p:sp>
        <p:nvSpPr>
          <p:cNvPr id="3" name="">
            <a:extLst xmlns:a="http://schemas.openxmlformats.org/drawingml/2006/main">
              <a:ext uri="{FF2B5EF4-FFF2-40B4-BE49-F238E27FC236}">
                <a16:creationId xmlns:a16="http://schemas.microsoft.com/office/drawing/2014/main" id="{C1D373EC-65FB-4A18-8448-8DEC12C1F3C1}"/>
              </a:ext>
            </a:extLst>
          </p:cNvPr>
          <p:cNvSpPr>
            <a:spLocks xmlns:a="http://schemas.openxmlformats.org/drawingml/2006/main" noGrp="1"/>
          </p:cNvSpPr>
          <p:nvPr/>
        </p:nvSpPr>
        <p:spPr>
          <a:xfrm xmlns:a="http://schemas.openxmlformats.org/drawingml/2006/main">
            <a:off x="552450" y="2514600"/>
            <a:ext cx="1676400" cy="15049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4" name="">
            <a:extLst xmlns:a="http://schemas.openxmlformats.org/drawingml/2006/main">
              <a:ext uri="{FF2B5EF4-FFF2-40B4-BE49-F238E27FC236}">
                <a16:creationId xmlns:a16="http://schemas.microsoft.com/office/drawing/2014/main" id="{93D460FC-08DE-4956-B956-2C091ED51140}"/>
              </a:ext>
            </a:extLst>
          </p:cNvPr>
          <p:cNvSpPr>
            <a:spLocks xmlns:a="http://schemas.openxmlformats.org/drawingml/2006/main" noGrp="1"/>
          </p:cNvSpPr>
          <p:nvPr/>
        </p:nvSpPr>
        <p:spPr>
          <a:xfrm xmlns:a="http://schemas.openxmlformats.org/drawingml/2006/main">
            <a:off x="552450" y="2514600"/>
            <a:ext cx="1676400" cy="47625"/>
          </a:xfrm>
          <a:prstGeom xmlns:a="http://schemas.openxmlformats.org/drawingml/2006/main" prst="rect">
            <a:avLst/>
          </a:prstGeom>
          <a:solidFill xmlns:a="http://schemas.openxmlformats.org/drawingml/2006/main">
            <a:srgbClr val="C3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6DD83CF5-1B6F-4C5A-A427-99046A043AB0}"/>
              </a:ext>
            </a:extLst>
          </p:cNvPr>
          <p:cNvSpPr>
            <a:spLocks xmlns:a="http://schemas.openxmlformats.org/drawingml/2006/main" noGrp="1"/>
          </p:cNvSpPr>
          <p:nvPr/>
        </p:nvSpPr>
        <p:spPr>
          <a:xfrm xmlns:a="http://schemas.openxmlformats.org/drawingml/2006/main">
            <a:off x="685800" y="2667000"/>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C32832"/>
                </a:solidFill>
                <a:latin typeface="Aptos"/>
                <a:ea typeface="Aptos"/>
                <a:cs typeface="Aptos"/>
              </a:defRPr>
            </a:pPr>
            <a:r>
              <a:rPr sz="1800" b="1">
                <a:solidFill>
                  <a:srgbClr val="C32832"/>
                </a:solidFill>
                <a:latin typeface="Aptos"/>
                <a:ea typeface="Aptos"/>
                <a:cs typeface="Aptos"/>
              </a:rPr>
              <a:t>01</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dd19912442743be">
            <a:extLst>
              <a:ext uri="{96DAC541-7B7A-43D3-8B79-37D633B846F1}">
                <asvg:svgBlip xmlns:asvg="http://schemas.microsoft.com/office/drawing/2016/SVG/main" r:embed="Rf17c72c5d268482a"/>
              </a:ext>
            </a:extLst>
          </a:blip>
          <a:stretch xmlns:a="http://schemas.openxmlformats.org/drawingml/2006/main"/>
        </p:blipFill>
        <p:spPr>
          <a:xfrm xmlns:a="http://schemas.openxmlformats.org/drawingml/2006/main">
            <a:off x="1771650" y="2667000"/>
            <a:ext cx="266700" cy="26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7E1B1E2-414F-417B-BB49-003AE1BEFA59}"/>
              </a:ext>
            </a:extLst>
          </p:cNvPr>
          <p:cNvSpPr>
            <a:spLocks xmlns:a="http://schemas.openxmlformats.org/drawingml/2006/main" noGrp="1"/>
          </p:cNvSpPr>
          <p:nvPr/>
        </p:nvSpPr>
        <p:spPr>
          <a:xfrm xmlns:a="http://schemas.openxmlformats.org/drawingml/2006/main">
            <a:off x="704850" y="3067050"/>
            <a:ext cx="1409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a:ea typeface="Aptos"/>
                <a:cs typeface="Aptos"/>
              </a:defRPr>
            </a:pPr>
            <a:r>
              <a:rPr sz="1350" b="1">
                <a:solidFill>
                  <a:srgbClr val="101820"/>
                </a:solidFill>
                <a:latin typeface="Aptos"/>
                <a:ea typeface="Aptos"/>
                <a:cs typeface="Aptos"/>
              </a:rPr>
              <a:t>Camera</a:t>
            </a:r>
          </a:p>
        </p:txBody>
      </p:sp>
      <p:sp>
        <p:nvSpPr>
          <p:cNvPr id="8" name="">
            <a:extLst xmlns:a="http://schemas.openxmlformats.org/drawingml/2006/main">
              <a:ext uri="{FF2B5EF4-FFF2-40B4-BE49-F238E27FC236}">
                <a16:creationId xmlns:a16="http://schemas.microsoft.com/office/drawing/2014/main" id="{F7B85C62-B708-4FAC-A1CE-660FF3FF6417}"/>
              </a:ext>
            </a:extLst>
          </p:cNvPr>
          <p:cNvSpPr>
            <a:spLocks xmlns:a="http://schemas.openxmlformats.org/drawingml/2006/main" noGrp="1"/>
          </p:cNvSpPr>
          <p:nvPr/>
        </p:nvSpPr>
        <p:spPr>
          <a:xfrm xmlns:a="http://schemas.openxmlformats.org/drawingml/2006/main">
            <a:off x="704850" y="3352800"/>
            <a:ext cx="1409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E6872"/>
                </a:solidFill>
                <a:latin typeface="Aptos"/>
                <a:ea typeface="Aptos"/>
                <a:cs typeface="Aptos"/>
              </a:defRPr>
            </a:pPr>
            <a:r>
              <a:rPr sz="900" b="0">
                <a:solidFill>
                  <a:srgbClr val="5E6872"/>
                </a:solidFill>
                <a:latin typeface="Aptos"/>
                <a:ea typeface="Aptos"/>
                <a:cs typeface="Aptos"/>
              </a:rPr>
              <a:t>ESP32-S3-EYE onboard camera captures RGB565 frames.</a:t>
            </a:r>
          </a:p>
        </p:txBody>
      </p:sp>
      <p:sp>
        <p:nvSpPr>
          <p:cNvPr id="9" name="">
            <a:extLst xmlns:a="http://schemas.openxmlformats.org/drawingml/2006/main">
              <a:ext uri="{FF2B5EF4-FFF2-40B4-BE49-F238E27FC236}">
                <a16:creationId xmlns:a16="http://schemas.microsoft.com/office/drawing/2014/main" id="{03A92253-D902-4F69-9215-5640E86B3EC0}"/>
              </a:ext>
            </a:extLst>
          </p:cNvPr>
          <p:cNvSpPr>
            <a:spLocks xmlns:a="http://schemas.openxmlformats.org/drawingml/2006/main" noGrp="1"/>
          </p:cNvSpPr>
          <p:nvPr/>
        </p:nvSpPr>
        <p:spPr>
          <a:xfrm xmlns:a="http://schemas.openxmlformats.org/drawingml/2006/main">
            <a:off x="2247900" y="3257550"/>
            <a:ext cx="190500" cy="38100"/>
          </a:xfrm>
          <a:prstGeom xmlns:a="http://schemas.openxmlformats.org/drawingml/2006/main" prst="rect">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311E4825-3798-47F5-8BCA-0E20A7E62CC5}"/>
              </a:ext>
            </a:extLst>
          </p:cNvPr>
          <p:cNvSpPr>
            <a:spLocks xmlns:a="http://schemas.openxmlformats.org/drawingml/2006/main" noGrp="1"/>
          </p:cNvSpPr>
          <p:nvPr/>
        </p:nvSpPr>
        <p:spPr>
          <a:xfrm xmlns:a="http://schemas.openxmlformats.org/drawingml/2006/main">
            <a:off x="2371725" y="3209925"/>
            <a:ext cx="133350" cy="133350"/>
          </a:xfrm>
          <a:prstGeom xmlns:a="http://schemas.openxmlformats.org/drawingml/2006/main" prst="ellipse">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368D7AFA-AE69-403B-B55F-C874F29CA294}"/>
              </a:ext>
            </a:extLst>
          </p:cNvPr>
          <p:cNvSpPr>
            <a:spLocks xmlns:a="http://schemas.openxmlformats.org/drawingml/2006/main" noGrp="1"/>
          </p:cNvSpPr>
          <p:nvPr/>
        </p:nvSpPr>
        <p:spPr>
          <a:xfrm xmlns:a="http://schemas.openxmlformats.org/drawingml/2006/main">
            <a:off x="2457450" y="2514600"/>
            <a:ext cx="1676400" cy="15049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12" name="">
            <a:extLst xmlns:a="http://schemas.openxmlformats.org/drawingml/2006/main">
              <a:ext uri="{FF2B5EF4-FFF2-40B4-BE49-F238E27FC236}">
                <a16:creationId xmlns:a16="http://schemas.microsoft.com/office/drawing/2014/main" id="{FBBEDFFE-2D60-467C-9725-10FFF027DDF4}"/>
              </a:ext>
            </a:extLst>
          </p:cNvPr>
          <p:cNvSpPr>
            <a:spLocks xmlns:a="http://schemas.openxmlformats.org/drawingml/2006/main" noGrp="1"/>
          </p:cNvSpPr>
          <p:nvPr/>
        </p:nvSpPr>
        <p:spPr>
          <a:xfrm xmlns:a="http://schemas.openxmlformats.org/drawingml/2006/main">
            <a:off x="2457450" y="2514600"/>
            <a:ext cx="1676400" cy="47625"/>
          </a:xfrm>
          <a:prstGeom xmlns:a="http://schemas.openxmlformats.org/drawingml/2006/main" prst="rect">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202F114D-C04C-4433-8C85-FA23C0A10344}"/>
              </a:ext>
            </a:extLst>
          </p:cNvPr>
          <p:cNvSpPr>
            <a:spLocks xmlns:a="http://schemas.openxmlformats.org/drawingml/2006/main" noGrp="1"/>
          </p:cNvSpPr>
          <p:nvPr/>
        </p:nvSpPr>
        <p:spPr>
          <a:xfrm xmlns:a="http://schemas.openxmlformats.org/drawingml/2006/main">
            <a:off x="2590800" y="2667000"/>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0E7C86"/>
                </a:solidFill>
                <a:latin typeface="Aptos"/>
                <a:ea typeface="Aptos"/>
                <a:cs typeface="Aptos"/>
              </a:defRPr>
            </a:pPr>
            <a:r>
              <a:rPr sz="1800" b="1">
                <a:solidFill>
                  <a:srgbClr val="0E7C86"/>
                </a:solidFill>
                <a:latin typeface="Aptos"/>
                <a:ea typeface="Aptos"/>
                <a:cs typeface="Aptos"/>
              </a:rPr>
              <a:t>02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51c7130ba8a43d3">
            <a:extLst>
              <a:ext uri="{96DAC541-7B7A-43D3-8B79-37D633B846F1}">
                <asvg:svgBlip xmlns:asvg="http://schemas.microsoft.com/office/drawing/2016/SVG/main" r:embed="R7eac6ce8e5e043f1"/>
              </a:ext>
            </a:extLst>
          </a:blip>
          <a:stretch xmlns:a="http://schemas.openxmlformats.org/drawingml/2006/main"/>
        </p:blipFill>
        <p:spPr>
          <a:xfrm xmlns:a="http://schemas.openxmlformats.org/drawingml/2006/main">
            <a:off x="3676650" y="2667000"/>
            <a:ext cx="266700" cy="2667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ADB04A04-AE84-43EC-8554-FB30C4D2E592}"/>
              </a:ext>
            </a:extLst>
          </p:cNvPr>
          <p:cNvSpPr>
            <a:spLocks xmlns:a="http://schemas.openxmlformats.org/drawingml/2006/main" noGrp="1"/>
          </p:cNvSpPr>
          <p:nvPr/>
        </p:nvSpPr>
        <p:spPr>
          <a:xfrm xmlns:a="http://schemas.openxmlformats.org/drawingml/2006/main">
            <a:off x="2609850" y="3067050"/>
            <a:ext cx="1409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a:ea typeface="Aptos"/>
                <a:cs typeface="Aptos"/>
              </a:defRPr>
            </a:pPr>
            <a:r>
              <a:rPr sz="1350" b="1">
                <a:solidFill>
                  <a:srgbClr val="101820"/>
                </a:solidFill>
                <a:latin typeface="Aptos"/>
                <a:ea typeface="Aptos"/>
                <a:cs typeface="Aptos"/>
              </a:rPr>
              <a:t>Inference</a:t>
            </a:r>
          </a:p>
        </p:txBody>
      </p:sp>
      <p:sp>
        <p:nvSpPr>
          <p:cNvPr id="16" name="">
            <a:extLst xmlns:a="http://schemas.openxmlformats.org/drawingml/2006/main">
              <a:ext uri="{FF2B5EF4-FFF2-40B4-BE49-F238E27FC236}">
                <a16:creationId xmlns:a16="http://schemas.microsoft.com/office/drawing/2014/main" id="{9B8F0FBC-9412-4903-8597-9CFDCA60DFC0}"/>
              </a:ext>
            </a:extLst>
          </p:cNvPr>
          <p:cNvSpPr>
            <a:spLocks xmlns:a="http://schemas.openxmlformats.org/drawingml/2006/main" noGrp="1"/>
          </p:cNvSpPr>
          <p:nvPr/>
        </p:nvSpPr>
        <p:spPr>
          <a:xfrm xmlns:a="http://schemas.openxmlformats.org/drawingml/2006/main">
            <a:off x="2609850" y="3352800"/>
            <a:ext cx="1409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E6872"/>
                </a:solidFill>
                <a:latin typeface="Aptos"/>
                <a:ea typeface="Aptos"/>
                <a:cs typeface="Aptos"/>
              </a:defRPr>
            </a:pPr>
            <a:r>
              <a:rPr sz="900" b="0">
                <a:solidFill>
                  <a:srgbClr val="5E6872"/>
                </a:solidFill>
                <a:latin typeface="Aptos"/>
                <a:ea typeface="Aptos"/>
                <a:cs typeface="Aptos"/>
              </a:rPr>
              <a:t>ESP-WHO task runs PedestrianDetect locally.</a:t>
            </a:r>
          </a:p>
        </p:txBody>
      </p:sp>
      <p:sp>
        <p:nvSpPr>
          <p:cNvPr id="17" name="">
            <a:extLst xmlns:a="http://schemas.openxmlformats.org/drawingml/2006/main">
              <a:ext uri="{FF2B5EF4-FFF2-40B4-BE49-F238E27FC236}">
                <a16:creationId xmlns:a16="http://schemas.microsoft.com/office/drawing/2014/main" id="{CBAE1C95-3922-4BCD-8218-32E7CEAC4E92}"/>
              </a:ext>
            </a:extLst>
          </p:cNvPr>
          <p:cNvSpPr>
            <a:spLocks xmlns:a="http://schemas.openxmlformats.org/drawingml/2006/main" noGrp="1"/>
          </p:cNvSpPr>
          <p:nvPr/>
        </p:nvSpPr>
        <p:spPr>
          <a:xfrm xmlns:a="http://schemas.openxmlformats.org/drawingml/2006/main">
            <a:off x="4152900" y="3257550"/>
            <a:ext cx="190500" cy="38100"/>
          </a:xfrm>
          <a:prstGeom xmlns:a="http://schemas.openxmlformats.org/drawingml/2006/main" prst="rect">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38ADC779-FB8B-4DEA-9AEA-E8B41EC5AA45}"/>
              </a:ext>
            </a:extLst>
          </p:cNvPr>
          <p:cNvSpPr>
            <a:spLocks xmlns:a="http://schemas.openxmlformats.org/drawingml/2006/main" noGrp="1"/>
          </p:cNvSpPr>
          <p:nvPr/>
        </p:nvSpPr>
        <p:spPr>
          <a:xfrm xmlns:a="http://schemas.openxmlformats.org/drawingml/2006/main">
            <a:off x="4276725" y="3209925"/>
            <a:ext cx="133350" cy="133350"/>
          </a:xfrm>
          <a:prstGeom xmlns:a="http://schemas.openxmlformats.org/drawingml/2006/main" prst="ellipse">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FB76C2A5-76A3-4541-AD41-1ACAA5961B8C}"/>
              </a:ext>
            </a:extLst>
          </p:cNvPr>
          <p:cNvSpPr>
            <a:spLocks xmlns:a="http://schemas.openxmlformats.org/drawingml/2006/main" noGrp="1"/>
          </p:cNvSpPr>
          <p:nvPr/>
        </p:nvSpPr>
        <p:spPr>
          <a:xfrm xmlns:a="http://schemas.openxmlformats.org/drawingml/2006/main">
            <a:off x="4362450" y="2514600"/>
            <a:ext cx="1676400" cy="15049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20" name="">
            <a:extLst xmlns:a="http://schemas.openxmlformats.org/drawingml/2006/main">
              <a:ext uri="{FF2B5EF4-FFF2-40B4-BE49-F238E27FC236}">
                <a16:creationId xmlns:a16="http://schemas.microsoft.com/office/drawing/2014/main" id="{9CE0E488-3E18-4D3B-A324-BB21B7081D2B}"/>
              </a:ext>
            </a:extLst>
          </p:cNvPr>
          <p:cNvSpPr>
            <a:spLocks xmlns:a="http://schemas.openxmlformats.org/drawingml/2006/main" noGrp="1"/>
          </p:cNvSpPr>
          <p:nvPr/>
        </p:nvSpPr>
        <p:spPr>
          <a:xfrm xmlns:a="http://schemas.openxmlformats.org/drawingml/2006/main">
            <a:off x="4362450" y="2514600"/>
            <a:ext cx="1676400" cy="47625"/>
          </a:xfrm>
          <a:prstGeom xmlns:a="http://schemas.openxmlformats.org/drawingml/2006/main" prst="rect">
            <a:avLst/>
          </a:prstGeom>
          <a:solidFill xmlns:a="http://schemas.openxmlformats.org/drawingml/2006/main">
            <a:srgbClr val="2E7D46"/>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DA58E552-672D-47CE-ABDE-65230A048916}"/>
              </a:ext>
            </a:extLst>
          </p:cNvPr>
          <p:cNvSpPr>
            <a:spLocks xmlns:a="http://schemas.openxmlformats.org/drawingml/2006/main" noGrp="1"/>
          </p:cNvSpPr>
          <p:nvPr/>
        </p:nvSpPr>
        <p:spPr>
          <a:xfrm xmlns:a="http://schemas.openxmlformats.org/drawingml/2006/main">
            <a:off x="4495800" y="2667000"/>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2E7D46"/>
                </a:solidFill>
                <a:latin typeface="Aptos"/>
                <a:ea typeface="Aptos"/>
                <a:cs typeface="Aptos"/>
              </a:defRPr>
            </a:pPr>
            <a:r>
              <a:rPr sz="1800" b="1">
                <a:solidFill>
                  <a:srgbClr val="2E7D46"/>
                </a:solidFill>
                <a:latin typeface="Aptos"/>
                <a:ea typeface="Aptos"/>
                <a:cs typeface="Aptos"/>
              </a:rPr>
              <a:t>03</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a7baee6f89f4c18">
            <a:extLst>
              <a:ext uri="{96DAC541-7B7A-43D3-8B79-37D633B846F1}">
                <asvg:svgBlip xmlns:asvg="http://schemas.microsoft.com/office/drawing/2016/SVG/main" r:embed="R92513d7a1cab4995"/>
              </a:ext>
            </a:extLst>
          </a:blip>
          <a:stretch xmlns:a="http://schemas.openxmlformats.org/drawingml/2006/main"/>
        </p:blipFill>
        <p:spPr>
          <a:xfrm xmlns:a="http://schemas.openxmlformats.org/drawingml/2006/main">
            <a:off x="5581650" y="2667000"/>
            <a:ext cx="266700" cy="2667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C6AB4B89-497F-4559-9D15-4DDBD8DB5BC3}"/>
              </a:ext>
            </a:extLst>
          </p:cNvPr>
          <p:cNvSpPr>
            <a:spLocks xmlns:a="http://schemas.openxmlformats.org/drawingml/2006/main" noGrp="1"/>
          </p:cNvSpPr>
          <p:nvPr/>
        </p:nvSpPr>
        <p:spPr>
          <a:xfrm xmlns:a="http://schemas.openxmlformats.org/drawingml/2006/main">
            <a:off x="4514850" y="3067050"/>
            <a:ext cx="1409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a:ea typeface="Aptos"/>
                <a:cs typeface="Aptos"/>
              </a:defRPr>
            </a:pPr>
            <a:r>
              <a:rPr sz="1350" b="1">
                <a:solidFill>
                  <a:srgbClr val="101820"/>
                </a:solidFill>
                <a:latin typeface="Aptos"/>
                <a:ea typeface="Aptos"/>
                <a:cs typeface="Aptos"/>
              </a:rPr>
              <a:t>Policy</a:t>
            </a:r>
          </a:p>
        </p:txBody>
      </p:sp>
      <p:sp>
        <p:nvSpPr>
          <p:cNvPr id="24" name="">
            <a:extLst xmlns:a="http://schemas.openxmlformats.org/drawingml/2006/main">
              <a:ext uri="{FF2B5EF4-FFF2-40B4-BE49-F238E27FC236}">
                <a16:creationId xmlns:a16="http://schemas.microsoft.com/office/drawing/2014/main" id="{89CE7291-80F1-4EAF-9FD9-478B00817BD6}"/>
              </a:ext>
            </a:extLst>
          </p:cNvPr>
          <p:cNvSpPr>
            <a:spLocks xmlns:a="http://schemas.openxmlformats.org/drawingml/2006/main" noGrp="1"/>
          </p:cNvSpPr>
          <p:nvPr/>
        </p:nvSpPr>
        <p:spPr>
          <a:xfrm xmlns:a="http://schemas.openxmlformats.org/drawingml/2006/main">
            <a:off x="4514850" y="3352800"/>
            <a:ext cx="1409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E6872"/>
                </a:solidFill>
                <a:latin typeface="Aptos"/>
                <a:ea typeface="Aptos"/>
                <a:cs typeface="Aptos"/>
              </a:defRPr>
            </a:pPr>
            <a:r>
              <a:rPr sz="900" b="0">
                <a:solidFill>
                  <a:srgbClr val="5E6872"/>
                </a:solidFill>
                <a:latin typeface="Aptos"/>
                <a:ea typeface="Aptos"/>
                <a:cs typeface="Aptos"/>
              </a:rPr>
              <a:t>Threshold + repeated frames confirm an alarm.</a:t>
            </a:r>
          </a:p>
        </p:txBody>
      </p:sp>
      <p:sp>
        <p:nvSpPr>
          <p:cNvPr id="25" name="">
            <a:extLst xmlns:a="http://schemas.openxmlformats.org/drawingml/2006/main">
              <a:ext uri="{FF2B5EF4-FFF2-40B4-BE49-F238E27FC236}">
                <a16:creationId xmlns:a16="http://schemas.microsoft.com/office/drawing/2014/main" id="{0465679E-8CA7-41EA-9D24-00EA9A817E60}"/>
              </a:ext>
            </a:extLst>
          </p:cNvPr>
          <p:cNvSpPr>
            <a:spLocks xmlns:a="http://schemas.openxmlformats.org/drawingml/2006/main" noGrp="1"/>
          </p:cNvSpPr>
          <p:nvPr/>
        </p:nvSpPr>
        <p:spPr>
          <a:xfrm xmlns:a="http://schemas.openxmlformats.org/drawingml/2006/main">
            <a:off x="6057900" y="3257550"/>
            <a:ext cx="190500" cy="38100"/>
          </a:xfrm>
          <a:prstGeom xmlns:a="http://schemas.openxmlformats.org/drawingml/2006/main" prst="rect">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B31FA3C8-4B14-40C9-9E5F-9BCC8D41A9A1}"/>
              </a:ext>
            </a:extLst>
          </p:cNvPr>
          <p:cNvSpPr>
            <a:spLocks xmlns:a="http://schemas.openxmlformats.org/drawingml/2006/main" noGrp="1"/>
          </p:cNvSpPr>
          <p:nvPr/>
        </p:nvSpPr>
        <p:spPr>
          <a:xfrm xmlns:a="http://schemas.openxmlformats.org/drawingml/2006/main">
            <a:off x="6181725" y="3209925"/>
            <a:ext cx="133350" cy="133350"/>
          </a:xfrm>
          <a:prstGeom xmlns:a="http://schemas.openxmlformats.org/drawingml/2006/main" prst="ellipse">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ED5EA339-5F25-429C-A3F5-0802AC557F38}"/>
              </a:ext>
            </a:extLst>
          </p:cNvPr>
          <p:cNvSpPr>
            <a:spLocks xmlns:a="http://schemas.openxmlformats.org/drawingml/2006/main" noGrp="1"/>
          </p:cNvSpPr>
          <p:nvPr/>
        </p:nvSpPr>
        <p:spPr>
          <a:xfrm xmlns:a="http://schemas.openxmlformats.org/drawingml/2006/main">
            <a:off x="6267450" y="2514600"/>
            <a:ext cx="1676400" cy="15049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28" name="">
            <a:extLst xmlns:a="http://schemas.openxmlformats.org/drawingml/2006/main">
              <a:ext uri="{FF2B5EF4-FFF2-40B4-BE49-F238E27FC236}">
                <a16:creationId xmlns:a16="http://schemas.microsoft.com/office/drawing/2014/main" id="{BC630BF3-435D-4902-97E0-7A4DF175BADD}"/>
              </a:ext>
            </a:extLst>
          </p:cNvPr>
          <p:cNvSpPr>
            <a:spLocks xmlns:a="http://schemas.openxmlformats.org/drawingml/2006/main" noGrp="1"/>
          </p:cNvSpPr>
          <p:nvPr/>
        </p:nvSpPr>
        <p:spPr>
          <a:xfrm xmlns:a="http://schemas.openxmlformats.org/drawingml/2006/main">
            <a:off x="6267450" y="2514600"/>
            <a:ext cx="1676400" cy="47625"/>
          </a:xfrm>
          <a:prstGeom xmlns:a="http://schemas.openxmlformats.org/drawingml/2006/main" prst="rect">
            <a:avLst/>
          </a:prstGeom>
          <a:solidFill xmlns:a="http://schemas.openxmlformats.org/drawingml/2006/main">
            <a:srgbClr val="2E5EA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4EE95A54-6C3B-41D1-B03C-A69D425A5F8E}"/>
              </a:ext>
            </a:extLst>
          </p:cNvPr>
          <p:cNvSpPr>
            <a:spLocks xmlns:a="http://schemas.openxmlformats.org/drawingml/2006/main" noGrp="1"/>
          </p:cNvSpPr>
          <p:nvPr/>
        </p:nvSpPr>
        <p:spPr>
          <a:xfrm xmlns:a="http://schemas.openxmlformats.org/drawingml/2006/main">
            <a:off x="6400800" y="2667000"/>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2E5EAA"/>
                </a:solidFill>
                <a:latin typeface="Aptos"/>
                <a:ea typeface="Aptos"/>
                <a:cs typeface="Aptos"/>
              </a:defRPr>
            </a:pPr>
            <a:r>
              <a:rPr sz="1800" b="1">
                <a:solidFill>
                  <a:srgbClr val="2E5EAA"/>
                </a:solidFill>
                <a:latin typeface="Aptos"/>
                <a:ea typeface="Aptos"/>
                <a:cs typeface="Aptos"/>
              </a:rPr>
              <a:t>04</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422cd0c8df9749a1">
            <a:extLst>
              <a:ext uri="{96DAC541-7B7A-43D3-8B79-37D633B846F1}">
                <asvg:svgBlip xmlns:asvg="http://schemas.microsoft.com/office/drawing/2016/SVG/main" r:embed="R1e84689948564bf3"/>
              </a:ext>
            </a:extLst>
          </a:blip>
          <a:stretch xmlns:a="http://schemas.openxmlformats.org/drawingml/2006/main"/>
        </p:blipFill>
        <p:spPr>
          <a:xfrm xmlns:a="http://schemas.openxmlformats.org/drawingml/2006/main">
            <a:off x="7486650" y="2667000"/>
            <a:ext cx="266700" cy="26670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A04118E2-C662-4577-B97A-26E4F59EF9E3}"/>
              </a:ext>
            </a:extLst>
          </p:cNvPr>
          <p:cNvSpPr>
            <a:spLocks xmlns:a="http://schemas.openxmlformats.org/drawingml/2006/main" noGrp="1"/>
          </p:cNvSpPr>
          <p:nvPr/>
        </p:nvSpPr>
        <p:spPr>
          <a:xfrm xmlns:a="http://schemas.openxmlformats.org/drawingml/2006/main">
            <a:off x="6419850" y="3067050"/>
            <a:ext cx="1409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a:ea typeface="Aptos"/>
                <a:cs typeface="Aptos"/>
              </a:defRPr>
            </a:pPr>
            <a:r>
              <a:rPr sz="1350" b="1">
                <a:solidFill>
                  <a:srgbClr val="101820"/>
                </a:solidFill>
                <a:latin typeface="Aptos"/>
                <a:ea typeface="Aptos"/>
                <a:cs typeface="Aptos"/>
              </a:rPr>
              <a:t>MQTT</a:t>
            </a:r>
          </a:p>
        </p:txBody>
      </p:sp>
      <p:sp>
        <p:nvSpPr>
          <p:cNvPr id="32" name="">
            <a:extLst xmlns:a="http://schemas.openxmlformats.org/drawingml/2006/main">
              <a:ext uri="{FF2B5EF4-FFF2-40B4-BE49-F238E27FC236}">
                <a16:creationId xmlns:a16="http://schemas.microsoft.com/office/drawing/2014/main" id="{AF852770-5D9F-49BD-9884-827010450DBE}"/>
              </a:ext>
            </a:extLst>
          </p:cNvPr>
          <p:cNvSpPr>
            <a:spLocks xmlns:a="http://schemas.openxmlformats.org/drawingml/2006/main" noGrp="1"/>
          </p:cNvSpPr>
          <p:nvPr/>
        </p:nvSpPr>
        <p:spPr>
          <a:xfrm xmlns:a="http://schemas.openxmlformats.org/drawingml/2006/main">
            <a:off x="6419850" y="3352800"/>
            <a:ext cx="1409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E6872"/>
                </a:solidFill>
                <a:latin typeface="Aptos"/>
                <a:ea typeface="Aptos"/>
                <a:cs typeface="Aptos"/>
              </a:defRPr>
            </a:pPr>
            <a:r>
              <a:rPr sz="900" b="0">
                <a:solidFill>
                  <a:srgbClr val="5E6872"/>
                </a:solidFill>
                <a:latin typeface="Aptos"/>
                <a:ea typeface="Aptos"/>
                <a:cs typeface="Aptos"/>
              </a:rPr>
              <a:t>Firmware publishes compact JSON event metadata.</a:t>
            </a:r>
          </a:p>
        </p:txBody>
      </p:sp>
      <p:sp>
        <p:nvSpPr>
          <p:cNvPr id="33" name="">
            <a:extLst xmlns:a="http://schemas.openxmlformats.org/drawingml/2006/main">
              <a:ext uri="{FF2B5EF4-FFF2-40B4-BE49-F238E27FC236}">
                <a16:creationId xmlns:a16="http://schemas.microsoft.com/office/drawing/2014/main" id="{3A7FDCCE-0C88-44A2-A52C-300D7BFDB63C}"/>
              </a:ext>
            </a:extLst>
          </p:cNvPr>
          <p:cNvSpPr>
            <a:spLocks xmlns:a="http://schemas.openxmlformats.org/drawingml/2006/main" noGrp="1"/>
          </p:cNvSpPr>
          <p:nvPr/>
        </p:nvSpPr>
        <p:spPr>
          <a:xfrm xmlns:a="http://schemas.openxmlformats.org/drawingml/2006/main">
            <a:off x="7962900" y="3257550"/>
            <a:ext cx="190500" cy="38100"/>
          </a:xfrm>
          <a:prstGeom xmlns:a="http://schemas.openxmlformats.org/drawingml/2006/main" prst="rect">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0676BBC0-6DEE-4EAF-8076-75747E951A11}"/>
              </a:ext>
            </a:extLst>
          </p:cNvPr>
          <p:cNvSpPr>
            <a:spLocks xmlns:a="http://schemas.openxmlformats.org/drawingml/2006/main" noGrp="1"/>
          </p:cNvSpPr>
          <p:nvPr/>
        </p:nvSpPr>
        <p:spPr>
          <a:xfrm xmlns:a="http://schemas.openxmlformats.org/drawingml/2006/main">
            <a:off x="8086725" y="3209925"/>
            <a:ext cx="133350" cy="133350"/>
          </a:xfrm>
          <a:prstGeom xmlns:a="http://schemas.openxmlformats.org/drawingml/2006/main" prst="ellipse">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6A35084F-2280-4DFC-ACCE-C31833AA35CC}"/>
              </a:ext>
            </a:extLst>
          </p:cNvPr>
          <p:cNvSpPr>
            <a:spLocks xmlns:a="http://schemas.openxmlformats.org/drawingml/2006/main" noGrp="1"/>
          </p:cNvSpPr>
          <p:nvPr/>
        </p:nvSpPr>
        <p:spPr>
          <a:xfrm xmlns:a="http://schemas.openxmlformats.org/drawingml/2006/main">
            <a:off x="8172450" y="2514600"/>
            <a:ext cx="1676400" cy="15049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36" name="">
            <a:extLst xmlns:a="http://schemas.openxmlformats.org/drawingml/2006/main">
              <a:ext uri="{FF2B5EF4-FFF2-40B4-BE49-F238E27FC236}">
                <a16:creationId xmlns:a16="http://schemas.microsoft.com/office/drawing/2014/main" id="{DC7667AA-55D4-4946-8F96-05BE7E78C9BF}"/>
              </a:ext>
            </a:extLst>
          </p:cNvPr>
          <p:cNvSpPr>
            <a:spLocks xmlns:a="http://schemas.openxmlformats.org/drawingml/2006/main" noGrp="1"/>
          </p:cNvSpPr>
          <p:nvPr/>
        </p:nvSpPr>
        <p:spPr>
          <a:xfrm xmlns:a="http://schemas.openxmlformats.org/drawingml/2006/main">
            <a:off x="8172450" y="2514600"/>
            <a:ext cx="1676400" cy="47625"/>
          </a:xfrm>
          <a:prstGeom xmlns:a="http://schemas.openxmlformats.org/drawingml/2006/main" prst="rect">
            <a:avLst/>
          </a:prstGeom>
          <a:solidFill xmlns:a="http://schemas.openxmlformats.org/drawingml/2006/main">
            <a:srgbClr val="F2A900"/>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7DBA87EC-A141-405C-AC63-D7E72EA4FCF5}"/>
              </a:ext>
            </a:extLst>
          </p:cNvPr>
          <p:cNvSpPr>
            <a:spLocks xmlns:a="http://schemas.openxmlformats.org/drawingml/2006/main" noGrp="1"/>
          </p:cNvSpPr>
          <p:nvPr/>
        </p:nvSpPr>
        <p:spPr>
          <a:xfrm xmlns:a="http://schemas.openxmlformats.org/drawingml/2006/main">
            <a:off x="8305800" y="2667000"/>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2A900"/>
                </a:solidFill>
                <a:latin typeface="Aptos"/>
                <a:ea typeface="Aptos"/>
                <a:cs typeface="Aptos"/>
              </a:defRPr>
            </a:pPr>
            <a:r>
              <a:rPr sz="1800" b="1">
                <a:solidFill>
                  <a:srgbClr val="F2A900"/>
                </a:solidFill>
                <a:latin typeface="Aptos"/>
                <a:ea typeface="Aptos"/>
                <a:cs typeface="Aptos"/>
              </a:rPr>
              <a:t>05</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68a11d9ea7fa4c6e">
            <a:extLst>
              <a:ext uri="{96DAC541-7B7A-43D3-8B79-37D633B846F1}">
                <asvg:svgBlip xmlns:asvg="http://schemas.microsoft.com/office/drawing/2016/SVG/main" r:embed="Re7f517d1a79247fa"/>
              </a:ext>
            </a:extLst>
          </a:blip>
          <a:stretch xmlns:a="http://schemas.openxmlformats.org/drawingml/2006/main"/>
        </p:blipFill>
        <p:spPr>
          <a:xfrm xmlns:a="http://schemas.openxmlformats.org/drawingml/2006/main">
            <a:off x="9391650" y="2667000"/>
            <a:ext cx="266700" cy="266700"/>
          </a:xfrm>
          <a:prstGeom xmlns:a="http://schemas.openxmlformats.org/drawingml/2006/main" prst="rect">
            <a:avLst/>
          </a:prstGeom>
        </p:spPr>
      </p:pic>
      <p:sp>
        <p:nvSpPr>
          <p:cNvPr id="39" name="">
            <a:extLst xmlns:a="http://schemas.openxmlformats.org/drawingml/2006/main">
              <a:ext uri="{FF2B5EF4-FFF2-40B4-BE49-F238E27FC236}">
                <a16:creationId xmlns:a16="http://schemas.microsoft.com/office/drawing/2014/main" id="{EA26BE49-B8C1-4669-B27E-76591446B854}"/>
              </a:ext>
            </a:extLst>
          </p:cNvPr>
          <p:cNvSpPr>
            <a:spLocks xmlns:a="http://schemas.openxmlformats.org/drawingml/2006/main" noGrp="1"/>
          </p:cNvSpPr>
          <p:nvPr/>
        </p:nvSpPr>
        <p:spPr>
          <a:xfrm xmlns:a="http://schemas.openxmlformats.org/drawingml/2006/main">
            <a:off x="8324850" y="3067050"/>
            <a:ext cx="1409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a:ea typeface="Aptos"/>
                <a:cs typeface="Aptos"/>
              </a:defRPr>
            </a:pPr>
            <a:r>
              <a:rPr sz="1350" b="1">
                <a:solidFill>
                  <a:srgbClr val="101820"/>
                </a:solidFill>
                <a:latin typeface="Aptos"/>
                <a:ea typeface="Aptos"/>
                <a:cs typeface="Aptos"/>
              </a:rPr>
              <a:t>Backend</a:t>
            </a:r>
          </a:p>
        </p:txBody>
      </p:sp>
      <p:sp>
        <p:nvSpPr>
          <p:cNvPr id="40" name="">
            <a:extLst xmlns:a="http://schemas.openxmlformats.org/drawingml/2006/main">
              <a:ext uri="{FF2B5EF4-FFF2-40B4-BE49-F238E27FC236}">
                <a16:creationId xmlns:a16="http://schemas.microsoft.com/office/drawing/2014/main" id="{894DE7F4-1ECC-4A89-ADAC-A9D953BAECDA}"/>
              </a:ext>
            </a:extLst>
          </p:cNvPr>
          <p:cNvSpPr>
            <a:spLocks xmlns:a="http://schemas.openxmlformats.org/drawingml/2006/main" noGrp="1"/>
          </p:cNvSpPr>
          <p:nvPr/>
        </p:nvSpPr>
        <p:spPr>
          <a:xfrm xmlns:a="http://schemas.openxmlformats.org/drawingml/2006/main">
            <a:off x="8324850" y="3352800"/>
            <a:ext cx="1409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E6872"/>
                </a:solidFill>
                <a:latin typeface="Aptos"/>
                <a:ea typeface="Aptos"/>
                <a:cs typeface="Aptos"/>
              </a:defRPr>
            </a:pPr>
            <a:r>
              <a:rPr sz="900" b="0">
                <a:solidFill>
                  <a:srgbClr val="5E6872"/>
                </a:solidFill>
                <a:latin typeface="Aptos"/>
                <a:ea typeface="Aptos"/>
                <a:cs typeface="Aptos"/>
              </a:rPr>
              <a:t>Python subscriber validates and formats the alert.</a:t>
            </a:r>
          </a:p>
        </p:txBody>
      </p:sp>
      <p:sp>
        <p:nvSpPr>
          <p:cNvPr id="41" name="">
            <a:extLst xmlns:a="http://schemas.openxmlformats.org/drawingml/2006/main">
              <a:ext uri="{FF2B5EF4-FFF2-40B4-BE49-F238E27FC236}">
                <a16:creationId xmlns:a16="http://schemas.microsoft.com/office/drawing/2014/main" id="{938D93E7-9026-4845-8C96-22422828BF67}"/>
              </a:ext>
            </a:extLst>
          </p:cNvPr>
          <p:cNvSpPr>
            <a:spLocks xmlns:a="http://schemas.openxmlformats.org/drawingml/2006/main" noGrp="1"/>
          </p:cNvSpPr>
          <p:nvPr/>
        </p:nvSpPr>
        <p:spPr>
          <a:xfrm xmlns:a="http://schemas.openxmlformats.org/drawingml/2006/main">
            <a:off x="9867900" y="3257550"/>
            <a:ext cx="190500" cy="38100"/>
          </a:xfrm>
          <a:prstGeom xmlns:a="http://schemas.openxmlformats.org/drawingml/2006/main" prst="rect">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A4D10730-B18D-45CA-829D-C67659EAFE95}"/>
              </a:ext>
            </a:extLst>
          </p:cNvPr>
          <p:cNvSpPr>
            <a:spLocks xmlns:a="http://schemas.openxmlformats.org/drawingml/2006/main" noGrp="1"/>
          </p:cNvSpPr>
          <p:nvPr/>
        </p:nvSpPr>
        <p:spPr>
          <a:xfrm xmlns:a="http://schemas.openxmlformats.org/drawingml/2006/main">
            <a:off x="9991725" y="3209925"/>
            <a:ext cx="133350" cy="133350"/>
          </a:xfrm>
          <a:prstGeom xmlns:a="http://schemas.openxmlformats.org/drawingml/2006/main" prst="ellipse">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720CB7AF-E689-458D-875B-DC99BCAFADB8}"/>
              </a:ext>
            </a:extLst>
          </p:cNvPr>
          <p:cNvSpPr>
            <a:spLocks xmlns:a="http://schemas.openxmlformats.org/drawingml/2006/main" noGrp="1"/>
          </p:cNvSpPr>
          <p:nvPr/>
        </p:nvSpPr>
        <p:spPr>
          <a:xfrm xmlns:a="http://schemas.openxmlformats.org/drawingml/2006/main">
            <a:off x="10077450" y="2514600"/>
            <a:ext cx="1676400" cy="15049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44" name="">
            <a:extLst xmlns:a="http://schemas.openxmlformats.org/drawingml/2006/main">
              <a:ext uri="{FF2B5EF4-FFF2-40B4-BE49-F238E27FC236}">
                <a16:creationId xmlns:a16="http://schemas.microsoft.com/office/drawing/2014/main" id="{279C886A-CF12-4E50-B619-56B5E38E3CBC}"/>
              </a:ext>
            </a:extLst>
          </p:cNvPr>
          <p:cNvSpPr>
            <a:spLocks xmlns:a="http://schemas.openxmlformats.org/drawingml/2006/main" noGrp="1"/>
          </p:cNvSpPr>
          <p:nvPr/>
        </p:nvSpPr>
        <p:spPr>
          <a:xfrm xmlns:a="http://schemas.openxmlformats.org/drawingml/2006/main">
            <a:off x="10077450" y="2514600"/>
            <a:ext cx="1676400" cy="47625"/>
          </a:xfrm>
          <a:prstGeom xmlns:a="http://schemas.openxmlformats.org/drawingml/2006/main" prst="rect">
            <a:avLst/>
          </a:prstGeom>
          <a:solidFill xmlns:a="http://schemas.openxmlformats.org/drawingml/2006/main">
            <a:srgbClr val="8B1E29"/>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6279FF07-95EC-4A2F-8BB4-5C72116E947E}"/>
              </a:ext>
            </a:extLst>
          </p:cNvPr>
          <p:cNvSpPr>
            <a:spLocks xmlns:a="http://schemas.openxmlformats.org/drawingml/2006/main" noGrp="1"/>
          </p:cNvSpPr>
          <p:nvPr/>
        </p:nvSpPr>
        <p:spPr>
          <a:xfrm xmlns:a="http://schemas.openxmlformats.org/drawingml/2006/main">
            <a:off x="10210800" y="2667000"/>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B1E29"/>
                </a:solidFill>
                <a:latin typeface="Aptos"/>
                <a:ea typeface="Aptos"/>
                <a:cs typeface="Aptos"/>
              </a:defRPr>
            </a:pPr>
            <a:r>
              <a:rPr sz="1800" b="1">
                <a:solidFill>
                  <a:srgbClr val="8B1E29"/>
                </a:solidFill>
                <a:latin typeface="Aptos"/>
                <a:ea typeface="Aptos"/>
                <a:cs typeface="Aptos"/>
              </a:rPr>
              <a:t>06</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c6b6c5a5290e45bf">
            <a:extLst>
              <a:ext uri="{96DAC541-7B7A-43D3-8B79-37D633B846F1}">
                <asvg:svgBlip xmlns:asvg="http://schemas.microsoft.com/office/drawing/2016/SVG/main" r:embed="R6c89b74290bb4089"/>
              </a:ext>
            </a:extLst>
          </a:blip>
          <a:stretch xmlns:a="http://schemas.openxmlformats.org/drawingml/2006/main"/>
        </p:blipFill>
        <p:spPr>
          <a:xfrm xmlns:a="http://schemas.openxmlformats.org/drawingml/2006/main">
            <a:off x="11296650" y="2667000"/>
            <a:ext cx="266700" cy="266700"/>
          </a:xfrm>
          <a:prstGeom xmlns:a="http://schemas.openxmlformats.org/drawingml/2006/main" prst="rect">
            <a:avLst/>
          </a:prstGeom>
        </p:spPr>
      </p:pic>
      <p:sp>
        <p:nvSpPr>
          <p:cNvPr id="47" name="">
            <a:extLst xmlns:a="http://schemas.openxmlformats.org/drawingml/2006/main">
              <a:ext uri="{FF2B5EF4-FFF2-40B4-BE49-F238E27FC236}">
                <a16:creationId xmlns:a16="http://schemas.microsoft.com/office/drawing/2014/main" id="{64F5DC4B-7943-4449-8D93-3AB2DE453046}"/>
              </a:ext>
            </a:extLst>
          </p:cNvPr>
          <p:cNvSpPr>
            <a:spLocks xmlns:a="http://schemas.openxmlformats.org/drawingml/2006/main" noGrp="1"/>
          </p:cNvSpPr>
          <p:nvPr/>
        </p:nvSpPr>
        <p:spPr>
          <a:xfrm xmlns:a="http://schemas.openxmlformats.org/drawingml/2006/main">
            <a:off x="10229850" y="3067050"/>
            <a:ext cx="1409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a:ea typeface="Aptos"/>
                <a:cs typeface="Aptos"/>
              </a:defRPr>
            </a:pPr>
            <a:r>
              <a:rPr sz="1350" b="1">
                <a:solidFill>
                  <a:srgbClr val="101820"/>
                </a:solidFill>
                <a:latin typeface="Aptos"/>
                <a:ea typeface="Aptos"/>
                <a:cs typeface="Aptos"/>
              </a:rPr>
              <a:t>Telegram</a:t>
            </a:r>
          </a:p>
        </p:txBody>
      </p:sp>
      <p:sp>
        <p:nvSpPr>
          <p:cNvPr id="48" name="">
            <a:extLst xmlns:a="http://schemas.openxmlformats.org/drawingml/2006/main">
              <a:ext uri="{FF2B5EF4-FFF2-40B4-BE49-F238E27FC236}">
                <a16:creationId xmlns:a16="http://schemas.microsoft.com/office/drawing/2014/main" id="{D52B1A30-4FF9-4339-96C8-04016DCB3D37}"/>
              </a:ext>
            </a:extLst>
          </p:cNvPr>
          <p:cNvSpPr>
            <a:spLocks xmlns:a="http://schemas.openxmlformats.org/drawingml/2006/main" noGrp="1"/>
          </p:cNvSpPr>
          <p:nvPr/>
        </p:nvSpPr>
        <p:spPr>
          <a:xfrm xmlns:a="http://schemas.openxmlformats.org/drawingml/2006/main">
            <a:off x="10229850" y="3352800"/>
            <a:ext cx="1409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E6872"/>
                </a:solidFill>
                <a:latin typeface="Aptos"/>
                <a:ea typeface="Aptos"/>
                <a:cs typeface="Aptos"/>
              </a:defRPr>
            </a:pPr>
            <a:r>
              <a:rPr sz="900" b="0">
                <a:solidFill>
                  <a:srgbClr val="5E6872"/>
                </a:solidFill>
                <a:latin typeface="Aptos"/>
                <a:ea typeface="Aptos"/>
                <a:cs typeface="Aptos"/>
              </a:rPr>
              <a:t>Bot message reaches the configured chat.</a:t>
            </a:r>
          </a:p>
        </p:txBody>
      </p:sp>
      <p:sp>
        <p:nvSpPr>
          <p:cNvPr id="49" name="">
            <a:extLst xmlns:a="http://schemas.openxmlformats.org/drawingml/2006/main">
              <a:ext uri="{FF2B5EF4-FFF2-40B4-BE49-F238E27FC236}">
                <a16:creationId xmlns:a16="http://schemas.microsoft.com/office/drawing/2014/main" id="{C6C7E62A-B572-450D-A9B0-CC39A127CC66}"/>
              </a:ext>
            </a:extLst>
          </p:cNvPr>
          <p:cNvSpPr>
            <a:spLocks xmlns:a="http://schemas.openxmlformats.org/drawingml/2006/main" noGrp="1"/>
          </p:cNvSpPr>
          <p:nvPr/>
        </p:nvSpPr>
        <p:spPr>
          <a:xfrm xmlns:a="http://schemas.openxmlformats.org/drawingml/2006/main">
            <a:off x="857250" y="4629150"/>
            <a:ext cx="15240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8B1E29"/>
            </a:solidFill>
            <a:prstDash val="solid"/>
          </a:ln>
        </p:spPr>
      </p:sp>
      <p:sp>
        <p:nvSpPr>
          <p:cNvPr id="50" name="">
            <a:extLst xmlns:a="http://schemas.openxmlformats.org/drawingml/2006/main">
              <a:ext uri="{FF2B5EF4-FFF2-40B4-BE49-F238E27FC236}">
                <a16:creationId xmlns:a16="http://schemas.microsoft.com/office/drawing/2014/main" id="{EF27D1BF-0A58-4933-A4E0-36F64E2B7B5C}"/>
              </a:ext>
            </a:extLst>
          </p:cNvPr>
          <p:cNvSpPr>
            <a:spLocks xmlns:a="http://schemas.openxmlformats.org/drawingml/2006/main" noGrp="1"/>
          </p:cNvSpPr>
          <p:nvPr/>
        </p:nvSpPr>
        <p:spPr>
          <a:xfrm xmlns:a="http://schemas.openxmlformats.org/drawingml/2006/main">
            <a:off x="952500" y="4686300"/>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8B1E29"/>
                </a:solidFill>
                <a:latin typeface="Aptos"/>
                <a:ea typeface="Aptos"/>
                <a:cs typeface="Aptos"/>
              </a:defRPr>
            </a:pPr>
            <a:r>
              <a:rPr sz="975" b="1">
                <a:solidFill>
                  <a:srgbClr val="8B1E29"/>
                </a:solidFill>
                <a:latin typeface="Aptos"/>
                <a:ea typeface="Aptos"/>
                <a:cs typeface="Aptos"/>
              </a:rPr>
              <a:t>ESP-IDF v5.5.2</a:t>
            </a:r>
          </a:p>
        </p:txBody>
      </p:sp>
      <p:sp>
        <p:nvSpPr>
          <p:cNvPr id="51" name="">
            <a:extLst xmlns:a="http://schemas.openxmlformats.org/drawingml/2006/main">
              <a:ext uri="{FF2B5EF4-FFF2-40B4-BE49-F238E27FC236}">
                <a16:creationId xmlns:a16="http://schemas.microsoft.com/office/drawing/2014/main" id="{41B80A8F-A9E0-453D-BCC1-7477124EC4E9}"/>
              </a:ext>
            </a:extLst>
          </p:cNvPr>
          <p:cNvSpPr>
            <a:spLocks xmlns:a="http://schemas.openxmlformats.org/drawingml/2006/main" noGrp="1"/>
          </p:cNvSpPr>
          <p:nvPr/>
        </p:nvSpPr>
        <p:spPr>
          <a:xfrm xmlns:a="http://schemas.openxmlformats.org/drawingml/2006/main">
            <a:off x="2571750" y="4629150"/>
            <a:ext cx="18097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E7C86"/>
            </a:solidFill>
            <a:prstDash val="solid"/>
          </a:ln>
        </p:spPr>
      </p:sp>
      <p:sp>
        <p:nvSpPr>
          <p:cNvPr id="52" name="">
            <a:extLst xmlns:a="http://schemas.openxmlformats.org/drawingml/2006/main">
              <a:ext uri="{FF2B5EF4-FFF2-40B4-BE49-F238E27FC236}">
                <a16:creationId xmlns:a16="http://schemas.microsoft.com/office/drawing/2014/main" id="{81CC18C6-38BC-4E24-BC95-03BFE118DEA4}"/>
              </a:ext>
            </a:extLst>
          </p:cNvPr>
          <p:cNvSpPr>
            <a:spLocks xmlns:a="http://schemas.openxmlformats.org/drawingml/2006/main" noGrp="1"/>
          </p:cNvSpPr>
          <p:nvPr/>
        </p:nvSpPr>
        <p:spPr>
          <a:xfrm xmlns:a="http://schemas.openxmlformats.org/drawingml/2006/main">
            <a:off x="2667000" y="4686300"/>
            <a:ext cx="1619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E7C86"/>
                </a:solidFill>
                <a:latin typeface="Aptos"/>
                <a:ea typeface="Aptos"/>
                <a:cs typeface="Aptos"/>
              </a:defRPr>
            </a:pPr>
            <a:r>
              <a:rPr sz="975" b="1">
                <a:solidFill>
                  <a:srgbClr val="0E7C86"/>
                </a:solidFill>
                <a:latin typeface="Aptos"/>
                <a:ea typeface="Aptos"/>
                <a:cs typeface="Aptos"/>
              </a:rPr>
              <a:t>ESP-WHO / ESP-DL</a:t>
            </a:r>
          </a:p>
        </p:txBody>
      </p:sp>
      <p:sp>
        <p:nvSpPr>
          <p:cNvPr id="53" name="">
            <a:extLst xmlns:a="http://schemas.openxmlformats.org/drawingml/2006/main">
              <a:ext uri="{FF2B5EF4-FFF2-40B4-BE49-F238E27FC236}">
                <a16:creationId xmlns:a16="http://schemas.microsoft.com/office/drawing/2014/main" id="{0548F032-BA99-4329-90DB-A69E274CE1AB}"/>
              </a:ext>
            </a:extLst>
          </p:cNvPr>
          <p:cNvSpPr>
            <a:spLocks xmlns:a="http://schemas.openxmlformats.org/drawingml/2006/main" noGrp="1"/>
          </p:cNvSpPr>
          <p:nvPr/>
        </p:nvSpPr>
        <p:spPr>
          <a:xfrm xmlns:a="http://schemas.openxmlformats.org/drawingml/2006/main">
            <a:off x="4667250" y="4629150"/>
            <a:ext cx="17145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2E5EAA"/>
            </a:solidFill>
            <a:prstDash val="solid"/>
          </a:ln>
        </p:spPr>
      </p:sp>
      <p:sp>
        <p:nvSpPr>
          <p:cNvPr id="54" name="">
            <a:extLst xmlns:a="http://schemas.openxmlformats.org/drawingml/2006/main">
              <a:ext uri="{FF2B5EF4-FFF2-40B4-BE49-F238E27FC236}">
                <a16:creationId xmlns:a16="http://schemas.microsoft.com/office/drawing/2014/main" id="{0A229599-4CDA-4886-944E-CBC820C95F95}"/>
              </a:ext>
            </a:extLst>
          </p:cNvPr>
          <p:cNvSpPr>
            <a:spLocks xmlns:a="http://schemas.openxmlformats.org/drawingml/2006/main" noGrp="1"/>
          </p:cNvSpPr>
          <p:nvPr/>
        </p:nvSpPr>
        <p:spPr>
          <a:xfrm xmlns:a="http://schemas.openxmlformats.org/drawingml/2006/main">
            <a:off x="4762500" y="468630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2E5EAA"/>
                </a:solidFill>
                <a:latin typeface="Aptos"/>
                <a:ea typeface="Aptos"/>
                <a:cs typeface="Aptos"/>
              </a:defRPr>
            </a:pPr>
            <a:r>
              <a:rPr sz="975" b="1">
                <a:solidFill>
                  <a:srgbClr val="2E5EAA"/>
                </a:solidFill>
                <a:latin typeface="Aptos"/>
                <a:ea typeface="Aptos"/>
                <a:cs typeface="Aptos"/>
              </a:rPr>
              <a:t>Mosquitto broker</a:t>
            </a:r>
          </a:p>
        </p:txBody>
      </p:sp>
      <p:sp>
        <p:nvSpPr>
          <p:cNvPr id="55" name="">
            <a:extLst xmlns:a="http://schemas.openxmlformats.org/drawingml/2006/main">
              <a:ext uri="{FF2B5EF4-FFF2-40B4-BE49-F238E27FC236}">
                <a16:creationId xmlns:a16="http://schemas.microsoft.com/office/drawing/2014/main" id="{D705FAC1-2146-4A98-8FF3-5049AD697114}"/>
              </a:ext>
            </a:extLst>
          </p:cNvPr>
          <p:cNvSpPr>
            <a:spLocks xmlns:a="http://schemas.openxmlformats.org/drawingml/2006/main" noGrp="1"/>
          </p:cNvSpPr>
          <p:nvPr/>
        </p:nvSpPr>
        <p:spPr>
          <a:xfrm xmlns:a="http://schemas.openxmlformats.org/drawingml/2006/main">
            <a:off x="6667500" y="4629150"/>
            <a:ext cx="20955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F2A900"/>
            </a:solidFill>
            <a:prstDash val="solid"/>
          </a:ln>
        </p:spPr>
      </p:sp>
      <p:sp>
        <p:nvSpPr>
          <p:cNvPr id="56" name="">
            <a:extLst xmlns:a="http://schemas.openxmlformats.org/drawingml/2006/main">
              <a:ext uri="{FF2B5EF4-FFF2-40B4-BE49-F238E27FC236}">
                <a16:creationId xmlns:a16="http://schemas.microsoft.com/office/drawing/2014/main" id="{F815678F-C4E6-4033-B960-1BA35D9076BD}"/>
              </a:ext>
            </a:extLst>
          </p:cNvPr>
          <p:cNvSpPr>
            <a:spLocks xmlns:a="http://schemas.openxmlformats.org/drawingml/2006/main" noGrp="1"/>
          </p:cNvSpPr>
          <p:nvPr/>
        </p:nvSpPr>
        <p:spPr>
          <a:xfrm xmlns:a="http://schemas.openxmlformats.org/drawingml/2006/main">
            <a:off x="6762750" y="4686300"/>
            <a:ext cx="1905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2A900"/>
                </a:solidFill>
                <a:latin typeface="Aptos"/>
                <a:ea typeface="Aptos"/>
                <a:cs typeface="Aptos"/>
              </a:defRPr>
            </a:pPr>
            <a:r>
              <a:rPr sz="975" b="1">
                <a:solidFill>
                  <a:srgbClr val="F2A900"/>
                </a:solidFill>
                <a:latin typeface="Aptos"/>
                <a:ea typeface="Aptos"/>
                <a:cs typeface="Aptos"/>
              </a:rPr>
              <a:t>paho-mqtt + requests</a:t>
            </a:r>
          </a:p>
        </p:txBody>
      </p:sp>
      <p:sp>
        <p:nvSpPr>
          <p:cNvPr id="57" name="">
            <a:extLst xmlns:a="http://schemas.openxmlformats.org/drawingml/2006/main">
              <a:ext uri="{FF2B5EF4-FFF2-40B4-BE49-F238E27FC236}">
                <a16:creationId xmlns:a16="http://schemas.microsoft.com/office/drawing/2014/main" id="{B44F5DD5-040B-4D40-B894-1C8A4BFAF591}"/>
              </a:ext>
            </a:extLst>
          </p:cNvPr>
          <p:cNvSpPr>
            <a:spLocks xmlns:a="http://schemas.openxmlformats.org/drawingml/2006/main" noGrp="1"/>
          </p:cNvSpPr>
          <p:nvPr/>
        </p:nvSpPr>
        <p:spPr>
          <a:xfrm xmlns:a="http://schemas.openxmlformats.org/drawingml/2006/main">
            <a:off x="9048750" y="4629150"/>
            <a:ext cx="18097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8B1E29"/>
            </a:solidFill>
            <a:prstDash val="solid"/>
          </a:ln>
        </p:spPr>
      </p:sp>
      <p:sp>
        <p:nvSpPr>
          <p:cNvPr id="58" name="">
            <a:extLst xmlns:a="http://schemas.openxmlformats.org/drawingml/2006/main">
              <a:ext uri="{FF2B5EF4-FFF2-40B4-BE49-F238E27FC236}">
                <a16:creationId xmlns:a16="http://schemas.microsoft.com/office/drawing/2014/main" id="{8F95639C-BE2C-485E-83DB-C144EF828F3E}"/>
              </a:ext>
            </a:extLst>
          </p:cNvPr>
          <p:cNvSpPr>
            <a:spLocks xmlns:a="http://schemas.openxmlformats.org/drawingml/2006/main" noGrp="1"/>
          </p:cNvSpPr>
          <p:nvPr/>
        </p:nvSpPr>
        <p:spPr>
          <a:xfrm xmlns:a="http://schemas.openxmlformats.org/drawingml/2006/main">
            <a:off x="9144000" y="4686300"/>
            <a:ext cx="1619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8B1E29"/>
                </a:solidFill>
                <a:latin typeface="Aptos"/>
                <a:ea typeface="Aptos"/>
                <a:cs typeface="Aptos"/>
              </a:defRPr>
            </a:pPr>
            <a:r>
              <a:rPr sz="975" b="1">
                <a:solidFill>
                  <a:srgbClr val="8B1E29"/>
                </a:solidFill>
                <a:latin typeface="Aptos"/>
                <a:ea typeface="Aptos"/>
                <a:cs typeface="Aptos"/>
              </a:rPr>
              <a:t>Telegram Bot API</a:t>
            </a:r>
          </a:p>
        </p:txBody>
      </p:sp>
      <p:sp>
        <p:nvSpPr>
          <p:cNvPr id="59" name="">
            <a:extLst xmlns:a="http://schemas.openxmlformats.org/drawingml/2006/main">
              <a:ext uri="{FF2B5EF4-FFF2-40B4-BE49-F238E27FC236}">
                <a16:creationId xmlns:a16="http://schemas.microsoft.com/office/drawing/2014/main" id="{38340BDB-5875-454C-A27F-1CEDF6C96258}"/>
              </a:ext>
            </a:extLst>
          </p:cNvPr>
          <p:cNvSpPr>
            <a:spLocks xmlns:a="http://schemas.openxmlformats.org/drawingml/2006/main" noGrp="1"/>
          </p:cNvSpPr>
          <p:nvPr/>
        </p:nvSpPr>
        <p:spPr>
          <a:xfrm xmlns:a="http://schemas.openxmlformats.org/drawingml/2006/main">
            <a:off x="1047750" y="5391150"/>
            <a:ext cx="10096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101820"/>
                </a:solidFill>
                <a:latin typeface="Aptos"/>
                <a:ea typeface="Aptos"/>
                <a:cs typeface="Aptos"/>
              </a:defRPr>
            </a:pPr>
            <a:r>
              <a:rPr sz="1575" b="1">
                <a:solidFill>
                  <a:srgbClr val="101820"/>
                </a:solidFill>
                <a:latin typeface="Aptos"/>
                <a:ea typeface="Aptos"/>
                <a:cs typeface="Aptos"/>
              </a:rPr>
              <a:t>Boundary rule: raw camera frames stay on the ESP32-S3-EYE. The network event contains label, confidence, count, time, and box coordinates.</a:t>
            </a:r>
          </a:p>
        </p:txBody>
      </p:sp>
      <p:sp>
        <p:nvSpPr>
          <p:cNvPr id="60" name="">
            <a:extLst xmlns:a="http://schemas.openxmlformats.org/drawingml/2006/main">
              <a:ext uri="{FF2B5EF4-FFF2-40B4-BE49-F238E27FC236}">
                <a16:creationId xmlns:a16="http://schemas.microsoft.com/office/drawing/2014/main" id="{3499DA97-D1F3-4EC4-A625-370AA1227EF5}"/>
              </a:ext>
            </a:extLst>
          </p:cNvPr>
          <p:cNvSpPr>
            <a:spLocks xmlns:a="http://schemas.openxmlformats.org/drawingml/2006/main" noGrp="1"/>
          </p:cNvSpPr>
          <p:nvPr/>
        </p:nvSpPr>
        <p:spPr>
          <a:xfrm xmlns:a="http://schemas.openxmlformats.org/drawingml/2006/main">
            <a:off x="552450" y="64579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E6872"/>
                </a:solidFill>
                <a:latin typeface="Aptos"/>
                <a:ea typeface="Aptos"/>
                <a:cs typeface="Aptos"/>
              </a:defRPr>
            </a:pPr>
            <a:r>
              <a:rPr sz="1050" b="0">
                <a:solidFill>
                  <a:srgbClr val="5E6872"/>
                </a:solidFill>
                <a:latin typeface="Aptos"/>
                <a:ea typeface="Aptos"/>
                <a:cs typeface="Aptos"/>
              </a:rPr>
              <a:t>Smart Visual Alarm System | 03</a:t>
            </a:r>
          </a:p>
        </p:txBody>
      </p:sp>
    </p:spTree>
    <p:extLst>
      <p:ext uri="{BB962C8B-B14F-4D97-AF65-F5344CB8AC3E}">
        <p14:creationId xmlns:p14="http://schemas.microsoft.com/office/powerpoint/2010/main" val="157800867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C5BFEBF-51D1-498A-BF64-BE878DC9C9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17B57FE-8344-4E0C-B730-75324941BDC9}"/>
              </a:ext>
            </a:extLst>
          </p:cNvPr>
          <p:cNvSpPr>
            <a:spLocks xmlns:a="http://schemas.openxmlformats.org/drawingml/2006/main" noGrp="1"/>
          </p:cNvSpPr>
          <p:nvPr/>
        </p:nvSpPr>
        <p:spPr>
          <a:xfrm xmlns:a="http://schemas.openxmlformats.org/drawingml/2006/main">
            <a:off x="552450" y="438150"/>
            <a:ext cx="8286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01820"/>
                </a:solidFill>
                <a:latin typeface="Aptos Display"/>
                <a:ea typeface="Aptos Display"/>
                <a:cs typeface="Aptos Display"/>
              </a:defRPr>
            </a:pPr>
            <a:r>
              <a:rPr sz="3300" b="1">
                <a:solidFill>
                  <a:srgbClr val="101820"/>
                </a:solidFill>
                <a:latin typeface="Aptos Display"/>
                <a:ea typeface="Aptos Display"/>
                <a:cs typeface="Aptos Display"/>
              </a:rPr>
              <a:t>ESP32-S3-EYE runtime loop</a:t>
            </a:r>
          </a:p>
        </p:txBody>
      </p:sp>
      <p:sp>
        <p:nvSpPr>
          <p:cNvPr id="3" name="">
            <a:extLst xmlns:a="http://schemas.openxmlformats.org/drawingml/2006/main">
              <a:ext uri="{FF2B5EF4-FFF2-40B4-BE49-F238E27FC236}">
                <a16:creationId xmlns:a16="http://schemas.microsoft.com/office/drawing/2014/main" id="{BB66DC06-DE83-49C4-991C-1F9D0C6BBA4F}"/>
              </a:ext>
            </a:extLst>
          </p:cNvPr>
          <p:cNvSpPr>
            <a:spLocks xmlns:a="http://schemas.openxmlformats.org/drawingml/2006/main" noGrp="1"/>
          </p:cNvSpPr>
          <p:nvPr/>
        </p:nvSpPr>
        <p:spPr>
          <a:xfrm xmlns:a="http://schemas.openxmlformats.org/drawingml/2006/main">
            <a:off x="762000" y="1847850"/>
            <a:ext cx="400050" cy="400050"/>
          </a:xfrm>
          <a:prstGeom xmlns:a="http://schemas.openxmlformats.org/drawingml/2006/main" prst="ellipse">
            <a:avLst/>
          </a:prstGeom>
          <a:solidFill xmlns:a="http://schemas.openxmlformats.org/drawingml/2006/main">
            <a:srgbClr val="C3283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93BA458-75D2-45F9-A45B-C508C91C02C2}"/>
              </a:ext>
            </a:extLst>
          </p:cNvPr>
          <p:cNvSpPr>
            <a:spLocks xmlns:a="http://schemas.openxmlformats.org/drawingml/2006/main" noGrp="1"/>
          </p:cNvSpPr>
          <p:nvPr/>
        </p:nvSpPr>
        <p:spPr>
          <a:xfrm xmlns:a="http://schemas.openxmlformats.org/drawingml/2006/main">
            <a:off x="762000" y="1933575"/>
            <a:ext cx="400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68BCAC3B-0724-4585-8E3D-A9D5B041BC38}"/>
              </a:ext>
            </a:extLst>
          </p:cNvPr>
          <p:cNvSpPr>
            <a:spLocks xmlns:a="http://schemas.openxmlformats.org/drawingml/2006/main" noGrp="1"/>
          </p:cNvSpPr>
          <p:nvPr/>
        </p:nvSpPr>
        <p:spPr>
          <a:xfrm xmlns:a="http://schemas.openxmlformats.org/drawingml/2006/main">
            <a:off x="1352550" y="1809750"/>
            <a:ext cx="2286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1820"/>
                </a:solidFill>
                <a:latin typeface="Aptos"/>
                <a:ea typeface="Aptos"/>
                <a:cs typeface="Aptos"/>
              </a:defRPr>
            </a:pPr>
            <a:r>
              <a:rPr sz="1500" b="1">
                <a:solidFill>
                  <a:srgbClr val="101820"/>
                </a:solidFill>
                <a:latin typeface="Aptos"/>
                <a:ea typeface="Aptos"/>
                <a:cs typeface="Aptos"/>
              </a:rPr>
              <a:t>Boot</a:t>
            </a:r>
          </a:p>
        </p:txBody>
      </p:sp>
      <p:sp>
        <p:nvSpPr>
          <p:cNvPr id="6" name="">
            <a:extLst xmlns:a="http://schemas.openxmlformats.org/drawingml/2006/main">
              <a:ext uri="{FF2B5EF4-FFF2-40B4-BE49-F238E27FC236}">
                <a16:creationId xmlns:a16="http://schemas.microsoft.com/office/drawing/2014/main" id="{42777A48-1AC0-4102-8B5E-9C4A4193487B}"/>
              </a:ext>
            </a:extLst>
          </p:cNvPr>
          <p:cNvSpPr>
            <a:spLocks xmlns:a="http://schemas.openxmlformats.org/drawingml/2006/main" noGrp="1"/>
          </p:cNvSpPr>
          <p:nvPr/>
        </p:nvSpPr>
        <p:spPr>
          <a:xfrm xmlns:a="http://schemas.openxmlformats.org/drawingml/2006/main">
            <a:off x="1352550" y="2057400"/>
            <a:ext cx="4191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E6872"/>
                </a:solidFill>
                <a:latin typeface="Aptos"/>
                <a:ea typeface="Aptos"/>
                <a:cs typeface="Aptos"/>
              </a:defRPr>
            </a:pPr>
            <a:r>
              <a:rPr sz="1125" b="0">
                <a:solidFill>
                  <a:srgbClr val="5E6872"/>
                </a:solidFill>
                <a:latin typeface="Aptos"/>
                <a:ea typeface="Aptos"/>
                <a:cs typeface="Aptos"/>
              </a:rPr>
              <a:t>Initialize LEDs, LCD preview, Wi-Fi/MQTT client</a:t>
            </a:r>
          </a:p>
        </p:txBody>
      </p:sp>
      <p:sp>
        <p:nvSpPr>
          <p:cNvPr id="7" name="">
            <a:extLst xmlns:a="http://schemas.openxmlformats.org/drawingml/2006/main">
              <a:ext uri="{FF2B5EF4-FFF2-40B4-BE49-F238E27FC236}">
                <a16:creationId xmlns:a16="http://schemas.microsoft.com/office/drawing/2014/main" id="{E2733E05-7AF9-4A7D-AF5A-23A81C822D37}"/>
              </a:ext>
            </a:extLst>
          </p:cNvPr>
          <p:cNvSpPr>
            <a:spLocks xmlns:a="http://schemas.openxmlformats.org/drawingml/2006/main" noGrp="1"/>
          </p:cNvSpPr>
          <p:nvPr/>
        </p:nvSpPr>
        <p:spPr>
          <a:xfrm xmlns:a="http://schemas.openxmlformats.org/drawingml/2006/main">
            <a:off x="952500" y="2266950"/>
            <a:ext cx="28575" cy="323850"/>
          </a:xfrm>
          <a:prstGeom xmlns:a="http://schemas.openxmlformats.org/drawingml/2006/main" prst="rect">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FE07654F-5538-4DBA-BC21-0C3209DCCB8F}"/>
              </a:ext>
            </a:extLst>
          </p:cNvPr>
          <p:cNvSpPr>
            <a:spLocks xmlns:a="http://schemas.openxmlformats.org/drawingml/2006/main" noGrp="1"/>
          </p:cNvSpPr>
          <p:nvPr/>
        </p:nvSpPr>
        <p:spPr>
          <a:xfrm xmlns:a="http://schemas.openxmlformats.org/drawingml/2006/main">
            <a:off x="762000" y="2590800"/>
            <a:ext cx="400050" cy="400050"/>
          </a:xfrm>
          <a:prstGeom xmlns:a="http://schemas.openxmlformats.org/drawingml/2006/main" prst="ellipse">
            <a:avLst/>
          </a:prstGeom>
          <a:solidFill xmlns:a="http://schemas.openxmlformats.org/drawingml/2006/main">
            <a:srgbClr val="C328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408199FB-32C1-4358-A940-6DACAAA2FC66}"/>
              </a:ext>
            </a:extLst>
          </p:cNvPr>
          <p:cNvSpPr>
            <a:spLocks xmlns:a="http://schemas.openxmlformats.org/drawingml/2006/main" noGrp="1"/>
          </p:cNvSpPr>
          <p:nvPr/>
        </p:nvSpPr>
        <p:spPr>
          <a:xfrm xmlns:a="http://schemas.openxmlformats.org/drawingml/2006/main">
            <a:off x="762000" y="2676525"/>
            <a:ext cx="400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5250C007-AC90-4278-9521-6F330339F27B}"/>
              </a:ext>
            </a:extLst>
          </p:cNvPr>
          <p:cNvSpPr>
            <a:spLocks xmlns:a="http://schemas.openxmlformats.org/drawingml/2006/main" noGrp="1"/>
          </p:cNvSpPr>
          <p:nvPr/>
        </p:nvSpPr>
        <p:spPr>
          <a:xfrm xmlns:a="http://schemas.openxmlformats.org/drawingml/2006/main">
            <a:off x="1352550" y="2552700"/>
            <a:ext cx="2286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1820"/>
                </a:solidFill>
                <a:latin typeface="Aptos"/>
                <a:ea typeface="Aptos"/>
                <a:cs typeface="Aptos"/>
              </a:defRPr>
            </a:pPr>
            <a:r>
              <a:rPr sz="1500" b="1">
                <a:solidFill>
                  <a:srgbClr val="101820"/>
                </a:solidFill>
                <a:latin typeface="Aptos"/>
                <a:ea typeface="Aptos"/>
                <a:cs typeface="Aptos"/>
              </a:rPr>
              <a:t>Frame capture</a:t>
            </a:r>
          </a:p>
        </p:txBody>
      </p:sp>
      <p:sp>
        <p:nvSpPr>
          <p:cNvPr id="11" name="">
            <a:extLst xmlns:a="http://schemas.openxmlformats.org/drawingml/2006/main">
              <a:ext uri="{FF2B5EF4-FFF2-40B4-BE49-F238E27FC236}">
                <a16:creationId xmlns:a16="http://schemas.microsoft.com/office/drawing/2014/main" id="{DE813380-86F2-4857-8275-E1E079A7B772}"/>
              </a:ext>
            </a:extLst>
          </p:cNvPr>
          <p:cNvSpPr>
            <a:spLocks xmlns:a="http://schemas.openxmlformats.org/drawingml/2006/main" noGrp="1"/>
          </p:cNvSpPr>
          <p:nvPr/>
        </p:nvSpPr>
        <p:spPr>
          <a:xfrm xmlns:a="http://schemas.openxmlformats.org/drawingml/2006/main">
            <a:off x="1352550" y="2800350"/>
            <a:ext cx="4191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E6872"/>
                </a:solidFill>
                <a:latin typeface="Aptos"/>
                <a:ea typeface="Aptos"/>
                <a:cs typeface="Aptos"/>
              </a:defRPr>
            </a:pPr>
            <a:r>
              <a:rPr sz="1125" b="0">
                <a:solidFill>
                  <a:srgbClr val="5E6872"/>
                </a:solidFill>
                <a:latin typeface="Aptos"/>
                <a:ea typeface="Aptos"/>
                <a:cs typeface="Aptos"/>
              </a:rPr>
              <a:t>ESP-WHO camera pipeline acquires RGB565 frames</a:t>
            </a:r>
          </a:p>
        </p:txBody>
      </p:sp>
      <p:sp>
        <p:nvSpPr>
          <p:cNvPr id="12" name="">
            <a:extLst xmlns:a="http://schemas.openxmlformats.org/drawingml/2006/main">
              <a:ext uri="{FF2B5EF4-FFF2-40B4-BE49-F238E27FC236}">
                <a16:creationId xmlns:a16="http://schemas.microsoft.com/office/drawing/2014/main" id="{87332927-34D6-4616-BC2D-ED67CAE02933}"/>
              </a:ext>
            </a:extLst>
          </p:cNvPr>
          <p:cNvSpPr>
            <a:spLocks xmlns:a="http://schemas.openxmlformats.org/drawingml/2006/main" noGrp="1"/>
          </p:cNvSpPr>
          <p:nvPr/>
        </p:nvSpPr>
        <p:spPr>
          <a:xfrm xmlns:a="http://schemas.openxmlformats.org/drawingml/2006/main">
            <a:off x="952500" y="3009900"/>
            <a:ext cx="28575" cy="323850"/>
          </a:xfrm>
          <a:prstGeom xmlns:a="http://schemas.openxmlformats.org/drawingml/2006/main" prst="rect">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F2ABEEF8-8DC3-4045-8C15-129AF8F3A2A3}"/>
              </a:ext>
            </a:extLst>
          </p:cNvPr>
          <p:cNvSpPr>
            <a:spLocks xmlns:a="http://schemas.openxmlformats.org/drawingml/2006/main" noGrp="1"/>
          </p:cNvSpPr>
          <p:nvPr/>
        </p:nvSpPr>
        <p:spPr>
          <a:xfrm xmlns:a="http://schemas.openxmlformats.org/drawingml/2006/main">
            <a:off x="762000" y="3333750"/>
            <a:ext cx="400050" cy="400050"/>
          </a:xfrm>
          <a:prstGeom xmlns:a="http://schemas.openxmlformats.org/drawingml/2006/main" prst="ellipse">
            <a:avLst/>
          </a:prstGeom>
          <a:solidFill xmlns:a="http://schemas.openxmlformats.org/drawingml/2006/main">
            <a:srgbClr val="C328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DECE662-C35A-42DC-87E9-26EF99B51873}"/>
              </a:ext>
            </a:extLst>
          </p:cNvPr>
          <p:cNvSpPr>
            <a:spLocks xmlns:a="http://schemas.openxmlformats.org/drawingml/2006/main" noGrp="1"/>
          </p:cNvSpPr>
          <p:nvPr/>
        </p:nvSpPr>
        <p:spPr>
          <a:xfrm xmlns:a="http://schemas.openxmlformats.org/drawingml/2006/main">
            <a:off x="762000" y="3419475"/>
            <a:ext cx="400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A94AB751-3631-4020-8B1B-5C8949B3BB9E}"/>
              </a:ext>
            </a:extLst>
          </p:cNvPr>
          <p:cNvSpPr>
            <a:spLocks xmlns:a="http://schemas.openxmlformats.org/drawingml/2006/main" noGrp="1"/>
          </p:cNvSpPr>
          <p:nvPr/>
        </p:nvSpPr>
        <p:spPr>
          <a:xfrm xmlns:a="http://schemas.openxmlformats.org/drawingml/2006/main">
            <a:off x="1352550" y="3295650"/>
            <a:ext cx="2286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1820"/>
                </a:solidFill>
                <a:latin typeface="Aptos"/>
                <a:ea typeface="Aptos"/>
                <a:cs typeface="Aptos"/>
              </a:defRPr>
            </a:pPr>
            <a:r>
              <a:rPr sz="1500" b="1">
                <a:solidFill>
                  <a:srgbClr val="101820"/>
                </a:solidFill>
                <a:latin typeface="Aptos"/>
                <a:ea typeface="Aptos"/>
                <a:cs typeface="Aptos"/>
              </a:rPr>
              <a:t>Detect</a:t>
            </a:r>
          </a:p>
        </p:txBody>
      </p:sp>
      <p:sp>
        <p:nvSpPr>
          <p:cNvPr id="16" name="">
            <a:extLst xmlns:a="http://schemas.openxmlformats.org/drawingml/2006/main">
              <a:ext uri="{FF2B5EF4-FFF2-40B4-BE49-F238E27FC236}">
                <a16:creationId xmlns:a16="http://schemas.microsoft.com/office/drawing/2014/main" id="{F10B4180-BE4B-441C-95B1-D5AD72EE5653}"/>
              </a:ext>
            </a:extLst>
          </p:cNvPr>
          <p:cNvSpPr>
            <a:spLocks xmlns:a="http://schemas.openxmlformats.org/drawingml/2006/main" noGrp="1"/>
          </p:cNvSpPr>
          <p:nvPr/>
        </p:nvSpPr>
        <p:spPr>
          <a:xfrm xmlns:a="http://schemas.openxmlformats.org/drawingml/2006/main">
            <a:off x="1352550" y="3543300"/>
            <a:ext cx="4191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E6872"/>
                </a:solidFill>
                <a:latin typeface="Aptos"/>
                <a:ea typeface="Aptos"/>
                <a:cs typeface="Aptos"/>
              </a:defRPr>
            </a:pPr>
            <a:r>
              <a:rPr sz="1125" b="0">
                <a:solidFill>
                  <a:srgbClr val="5E6872"/>
                </a:solidFill>
                <a:latin typeface="Aptos"/>
                <a:ea typeface="Aptos"/>
                <a:cs typeface="Aptos"/>
              </a:rPr>
              <a:t>PedestrianDetect returns boxes and confidence scores</a:t>
            </a:r>
          </a:p>
        </p:txBody>
      </p:sp>
      <p:sp>
        <p:nvSpPr>
          <p:cNvPr id="17" name="">
            <a:extLst xmlns:a="http://schemas.openxmlformats.org/drawingml/2006/main">
              <a:ext uri="{FF2B5EF4-FFF2-40B4-BE49-F238E27FC236}">
                <a16:creationId xmlns:a16="http://schemas.microsoft.com/office/drawing/2014/main" id="{D57D2517-D9E4-4B58-9F05-4EF1368932B4}"/>
              </a:ext>
            </a:extLst>
          </p:cNvPr>
          <p:cNvSpPr>
            <a:spLocks xmlns:a="http://schemas.openxmlformats.org/drawingml/2006/main" noGrp="1"/>
          </p:cNvSpPr>
          <p:nvPr/>
        </p:nvSpPr>
        <p:spPr>
          <a:xfrm xmlns:a="http://schemas.openxmlformats.org/drawingml/2006/main">
            <a:off x="952500" y="3752850"/>
            <a:ext cx="28575" cy="323850"/>
          </a:xfrm>
          <a:prstGeom xmlns:a="http://schemas.openxmlformats.org/drawingml/2006/main" prst="rect">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A1E0EACA-3377-4EB4-BC4A-251BFA3BD637}"/>
              </a:ext>
            </a:extLst>
          </p:cNvPr>
          <p:cNvSpPr>
            <a:spLocks xmlns:a="http://schemas.openxmlformats.org/drawingml/2006/main" noGrp="1"/>
          </p:cNvSpPr>
          <p:nvPr/>
        </p:nvSpPr>
        <p:spPr>
          <a:xfrm xmlns:a="http://schemas.openxmlformats.org/drawingml/2006/main">
            <a:off x="762000" y="4076700"/>
            <a:ext cx="400050" cy="400050"/>
          </a:xfrm>
          <a:prstGeom xmlns:a="http://schemas.openxmlformats.org/drawingml/2006/main" prst="ellipse">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9279FCB1-3EC4-45F0-9539-9C7A27DD6716}"/>
              </a:ext>
            </a:extLst>
          </p:cNvPr>
          <p:cNvSpPr>
            <a:spLocks xmlns:a="http://schemas.openxmlformats.org/drawingml/2006/main" noGrp="1"/>
          </p:cNvSpPr>
          <p:nvPr/>
        </p:nvSpPr>
        <p:spPr>
          <a:xfrm xmlns:a="http://schemas.openxmlformats.org/drawingml/2006/main">
            <a:off x="762000" y="4162425"/>
            <a:ext cx="400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2488D69D-AA9F-455C-A2C2-58F704DF964D}"/>
              </a:ext>
            </a:extLst>
          </p:cNvPr>
          <p:cNvSpPr>
            <a:spLocks xmlns:a="http://schemas.openxmlformats.org/drawingml/2006/main" noGrp="1"/>
          </p:cNvSpPr>
          <p:nvPr/>
        </p:nvSpPr>
        <p:spPr>
          <a:xfrm xmlns:a="http://schemas.openxmlformats.org/drawingml/2006/main">
            <a:off x="1352550" y="4038600"/>
            <a:ext cx="2286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1820"/>
                </a:solidFill>
                <a:latin typeface="Aptos"/>
                <a:ea typeface="Aptos"/>
                <a:cs typeface="Aptos"/>
              </a:defRPr>
            </a:pPr>
            <a:r>
              <a:rPr sz="1500" b="1">
                <a:solidFill>
                  <a:srgbClr val="101820"/>
                </a:solidFill>
                <a:latin typeface="Aptos"/>
                <a:ea typeface="Aptos"/>
                <a:cs typeface="Aptos"/>
              </a:rPr>
              <a:t>Preview</a:t>
            </a:r>
          </a:p>
        </p:txBody>
      </p:sp>
      <p:sp>
        <p:nvSpPr>
          <p:cNvPr id="21" name="">
            <a:extLst xmlns:a="http://schemas.openxmlformats.org/drawingml/2006/main">
              <a:ext uri="{FF2B5EF4-FFF2-40B4-BE49-F238E27FC236}">
                <a16:creationId xmlns:a16="http://schemas.microsoft.com/office/drawing/2014/main" id="{98BDC06E-21ED-414B-B522-C1FFDF9D69CB}"/>
              </a:ext>
            </a:extLst>
          </p:cNvPr>
          <p:cNvSpPr>
            <a:spLocks xmlns:a="http://schemas.openxmlformats.org/drawingml/2006/main" noGrp="1"/>
          </p:cNvSpPr>
          <p:nvPr/>
        </p:nvSpPr>
        <p:spPr>
          <a:xfrm xmlns:a="http://schemas.openxmlformats.org/drawingml/2006/main">
            <a:off x="1352550" y="4286250"/>
            <a:ext cx="4191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E6872"/>
                </a:solidFill>
                <a:latin typeface="Aptos"/>
                <a:ea typeface="Aptos"/>
                <a:cs typeface="Aptos"/>
              </a:defRPr>
            </a:pPr>
            <a:r>
              <a:rPr sz="1125" b="0">
                <a:solidFill>
                  <a:srgbClr val="5E6872"/>
                </a:solidFill>
                <a:latin typeface="Aptos"/>
                <a:ea typeface="Aptos"/>
                <a:cs typeface="Aptos"/>
              </a:rPr>
              <a:t>LCD overlays the strongest person candidate</a:t>
            </a:r>
          </a:p>
        </p:txBody>
      </p:sp>
      <p:sp>
        <p:nvSpPr>
          <p:cNvPr id="22" name="">
            <a:extLst xmlns:a="http://schemas.openxmlformats.org/drawingml/2006/main">
              <a:ext uri="{FF2B5EF4-FFF2-40B4-BE49-F238E27FC236}">
                <a16:creationId xmlns:a16="http://schemas.microsoft.com/office/drawing/2014/main" id="{977EFC53-0E38-4D4A-BFDC-A8C539D1CA5D}"/>
              </a:ext>
            </a:extLst>
          </p:cNvPr>
          <p:cNvSpPr>
            <a:spLocks xmlns:a="http://schemas.openxmlformats.org/drawingml/2006/main" noGrp="1"/>
          </p:cNvSpPr>
          <p:nvPr/>
        </p:nvSpPr>
        <p:spPr>
          <a:xfrm xmlns:a="http://schemas.openxmlformats.org/drawingml/2006/main">
            <a:off x="952500" y="4495800"/>
            <a:ext cx="28575" cy="323850"/>
          </a:xfrm>
          <a:prstGeom xmlns:a="http://schemas.openxmlformats.org/drawingml/2006/main" prst="rect">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C8DC72FA-BDFA-425F-B650-6ADA9FCA46D4}"/>
              </a:ext>
            </a:extLst>
          </p:cNvPr>
          <p:cNvSpPr>
            <a:spLocks xmlns:a="http://schemas.openxmlformats.org/drawingml/2006/main" noGrp="1"/>
          </p:cNvSpPr>
          <p:nvPr/>
        </p:nvSpPr>
        <p:spPr>
          <a:xfrm xmlns:a="http://schemas.openxmlformats.org/drawingml/2006/main">
            <a:off x="762000" y="4819650"/>
            <a:ext cx="400050" cy="400050"/>
          </a:xfrm>
          <a:prstGeom xmlns:a="http://schemas.openxmlformats.org/drawingml/2006/main" prst="ellipse">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5EE96A6F-00A4-49C6-8399-4D4FC472E041}"/>
              </a:ext>
            </a:extLst>
          </p:cNvPr>
          <p:cNvSpPr>
            <a:spLocks xmlns:a="http://schemas.openxmlformats.org/drawingml/2006/main" noGrp="1"/>
          </p:cNvSpPr>
          <p:nvPr/>
        </p:nvSpPr>
        <p:spPr>
          <a:xfrm xmlns:a="http://schemas.openxmlformats.org/drawingml/2006/main">
            <a:off x="762000" y="4905375"/>
            <a:ext cx="400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6A3B9FC0-9862-4230-A83B-8871897791D9}"/>
              </a:ext>
            </a:extLst>
          </p:cNvPr>
          <p:cNvSpPr>
            <a:spLocks xmlns:a="http://schemas.openxmlformats.org/drawingml/2006/main" noGrp="1"/>
          </p:cNvSpPr>
          <p:nvPr/>
        </p:nvSpPr>
        <p:spPr>
          <a:xfrm xmlns:a="http://schemas.openxmlformats.org/drawingml/2006/main">
            <a:off x="1352550" y="4781550"/>
            <a:ext cx="2286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1820"/>
                </a:solidFill>
                <a:latin typeface="Aptos"/>
                <a:ea typeface="Aptos"/>
                <a:cs typeface="Aptos"/>
              </a:defRPr>
            </a:pPr>
            <a:r>
              <a:rPr sz="1500" b="1">
                <a:solidFill>
                  <a:srgbClr val="101820"/>
                </a:solidFill>
                <a:latin typeface="Aptos"/>
                <a:ea typeface="Aptos"/>
                <a:cs typeface="Aptos"/>
              </a:rPr>
              <a:t>Confirm</a:t>
            </a:r>
          </a:p>
        </p:txBody>
      </p:sp>
      <p:sp>
        <p:nvSpPr>
          <p:cNvPr id="26" name="">
            <a:extLst xmlns:a="http://schemas.openxmlformats.org/drawingml/2006/main">
              <a:ext uri="{FF2B5EF4-FFF2-40B4-BE49-F238E27FC236}">
                <a16:creationId xmlns:a16="http://schemas.microsoft.com/office/drawing/2014/main" id="{EBE34070-C4CA-431C-8EA5-08B7515593CB}"/>
              </a:ext>
            </a:extLst>
          </p:cNvPr>
          <p:cNvSpPr>
            <a:spLocks xmlns:a="http://schemas.openxmlformats.org/drawingml/2006/main" noGrp="1"/>
          </p:cNvSpPr>
          <p:nvPr/>
        </p:nvSpPr>
        <p:spPr>
          <a:xfrm xmlns:a="http://schemas.openxmlformats.org/drawingml/2006/main">
            <a:off x="1352550" y="5029200"/>
            <a:ext cx="4191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E6872"/>
                </a:solidFill>
                <a:latin typeface="Aptos"/>
                <a:ea typeface="Aptos"/>
                <a:cs typeface="Aptos"/>
              </a:defRPr>
            </a:pPr>
            <a:r>
              <a:rPr sz="1125" b="0">
                <a:solidFill>
                  <a:srgbClr val="5E6872"/>
                </a:solidFill>
                <a:latin typeface="Aptos"/>
                <a:ea typeface="Aptos"/>
                <a:cs typeface="Aptos"/>
              </a:rPr>
              <a:t>Threshold + consecutive frames + cooldown</a:t>
            </a:r>
          </a:p>
        </p:txBody>
      </p:sp>
      <p:sp>
        <p:nvSpPr>
          <p:cNvPr id="27" name="">
            <a:extLst xmlns:a="http://schemas.openxmlformats.org/drawingml/2006/main">
              <a:ext uri="{FF2B5EF4-FFF2-40B4-BE49-F238E27FC236}">
                <a16:creationId xmlns:a16="http://schemas.microsoft.com/office/drawing/2014/main" id="{FA5509B5-F024-4CF2-B3A9-53EF6AAFE563}"/>
              </a:ext>
            </a:extLst>
          </p:cNvPr>
          <p:cNvSpPr>
            <a:spLocks xmlns:a="http://schemas.openxmlformats.org/drawingml/2006/main" noGrp="1"/>
          </p:cNvSpPr>
          <p:nvPr/>
        </p:nvSpPr>
        <p:spPr>
          <a:xfrm xmlns:a="http://schemas.openxmlformats.org/drawingml/2006/main">
            <a:off x="952500" y="5238750"/>
            <a:ext cx="28575" cy="323850"/>
          </a:xfrm>
          <a:prstGeom xmlns:a="http://schemas.openxmlformats.org/drawingml/2006/main" prst="rect">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2BE29126-88B6-41F0-883C-4E112F5B2BCC}"/>
              </a:ext>
            </a:extLst>
          </p:cNvPr>
          <p:cNvSpPr>
            <a:spLocks xmlns:a="http://schemas.openxmlformats.org/drawingml/2006/main" noGrp="1"/>
          </p:cNvSpPr>
          <p:nvPr/>
        </p:nvSpPr>
        <p:spPr>
          <a:xfrm xmlns:a="http://schemas.openxmlformats.org/drawingml/2006/main">
            <a:off x="762000" y="5562600"/>
            <a:ext cx="400050" cy="400050"/>
          </a:xfrm>
          <a:prstGeom xmlns:a="http://schemas.openxmlformats.org/drawingml/2006/main" prst="ellipse">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B53B9AF0-ECB6-470A-ADEA-C5E650061451}"/>
              </a:ext>
            </a:extLst>
          </p:cNvPr>
          <p:cNvSpPr>
            <a:spLocks xmlns:a="http://schemas.openxmlformats.org/drawingml/2006/main" noGrp="1"/>
          </p:cNvSpPr>
          <p:nvPr/>
        </p:nvSpPr>
        <p:spPr>
          <a:xfrm xmlns:a="http://schemas.openxmlformats.org/drawingml/2006/main">
            <a:off x="762000" y="5648325"/>
            <a:ext cx="400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6</a:t>
            </a:r>
          </a:p>
        </p:txBody>
      </p:sp>
      <p:sp>
        <p:nvSpPr>
          <p:cNvPr id="30" name="">
            <a:extLst xmlns:a="http://schemas.openxmlformats.org/drawingml/2006/main">
              <a:ext uri="{FF2B5EF4-FFF2-40B4-BE49-F238E27FC236}">
                <a16:creationId xmlns:a16="http://schemas.microsoft.com/office/drawing/2014/main" id="{483B4F7B-52CC-4168-AC2D-3AE7334DE0B9}"/>
              </a:ext>
            </a:extLst>
          </p:cNvPr>
          <p:cNvSpPr>
            <a:spLocks xmlns:a="http://schemas.openxmlformats.org/drawingml/2006/main" noGrp="1"/>
          </p:cNvSpPr>
          <p:nvPr/>
        </p:nvSpPr>
        <p:spPr>
          <a:xfrm xmlns:a="http://schemas.openxmlformats.org/drawingml/2006/main">
            <a:off x="1352550" y="5524500"/>
            <a:ext cx="2286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1820"/>
                </a:solidFill>
                <a:latin typeface="Aptos"/>
                <a:ea typeface="Aptos"/>
                <a:cs typeface="Aptos"/>
              </a:defRPr>
            </a:pPr>
            <a:r>
              <a:rPr sz="1500" b="1">
                <a:solidFill>
                  <a:srgbClr val="101820"/>
                </a:solidFill>
                <a:latin typeface="Aptos"/>
                <a:ea typeface="Aptos"/>
                <a:cs typeface="Aptos"/>
              </a:rPr>
              <a:t>Publish</a:t>
            </a:r>
          </a:p>
        </p:txBody>
      </p:sp>
      <p:sp>
        <p:nvSpPr>
          <p:cNvPr id="31" name="">
            <a:extLst xmlns:a="http://schemas.openxmlformats.org/drawingml/2006/main">
              <a:ext uri="{FF2B5EF4-FFF2-40B4-BE49-F238E27FC236}">
                <a16:creationId xmlns:a16="http://schemas.microsoft.com/office/drawing/2014/main" id="{972461D7-85C4-4566-8199-14C9FA4E9AB7}"/>
              </a:ext>
            </a:extLst>
          </p:cNvPr>
          <p:cNvSpPr>
            <a:spLocks xmlns:a="http://schemas.openxmlformats.org/drawingml/2006/main" noGrp="1"/>
          </p:cNvSpPr>
          <p:nvPr/>
        </p:nvSpPr>
        <p:spPr>
          <a:xfrm xmlns:a="http://schemas.openxmlformats.org/drawingml/2006/main">
            <a:off x="1352550" y="5772150"/>
            <a:ext cx="4191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E6872"/>
                </a:solidFill>
                <a:latin typeface="Aptos"/>
                <a:ea typeface="Aptos"/>
                <a:cs typeface="Aptos"/>
              </a:defRPr>
            </a:pPr>
            <a:r>
              <a:rPr sz="1125" b="0">
                <a:solidFill>
                  <a:srgbClr val="5E6872"/>
                </a:solidFill>
                <a:latin typeface="Aptos"/>
                <a:ea typeface="Aptos"/>
                <a:cs typeface="Aptos"/>
              </a:rPr>
              <a:t>MQTT JSON alarm event, or serial log fallback</a:t>
            </a:r>
          </a:p>
        </p:txBody>
      </p:sp>
      <p:sp>
        <p:nvSpPr>
          <p:cNvPr id="32" name="">
            <a:extLst xmlns:a="http://schemas.openxmlformats.org/drawingml/2006/main">
              <a:ext uri="{FF2B5EF4-FFF2-40B4-BE49-F238E27FC236}">
                <a16:creationId xmlns:a16="http://schemas.microsoft.com/office/drawing/2014/main" id="{165386FA-F0DB-4FC3-A85E-B4D0AF1423A9}"/>
              </a:ext>
            </a:extLst>
          </p:cNvPr>
          <p:cNvSpPr>
            <a:spLocks xmlns:a="http://schemas.openxmlformats.org/drawingml/2006/main" noGrp="1"/>
          </p:cNvSpPr>
          <p:nvPr/>
        </p:nvSpPr>
        <p:spPr>
          <a:xfrm xmlns:a="http://schemas.openxmlformats.org/drawingml/2006/main">
            <a:off x="6191250" y="1809750"/>
            <a:ext cx="49530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c71e56c718224043">
            <a:extLst>
              <a:ext uri="{96DAC541-7B7A-43D3-8B79-37D633B846F1}">
                <asvg:svgBlip xmlns:asvg="http://schemas.microsoft.com/office/drawing/2016/SVG/main" r:embed="Rf75714eae7cd4888"/>
              </a:ext>
            </a:extLst>
          </a:blip>
          <a:stretch xmlns:a="http://schemas.openxmlformats.org/drawingml/2006/main"/>
        </p:blipFill>
        <p:spPr>
          <a:xfrm xmlns:a="http://schemas.openxmlformats.org/drawingml/2006/main">
            <a:off x="6438900" y="2057400"/>
            <a:ext cx="323850" cy="323850"/>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6353BE08-BE78-4C9E-A1DC-C997FBA52106}"/>
              </a:ext>
            </a:extLst>
          </p:cNvPr>
          <p:cNvSpPr>
            <a:spLocks xmlns:a="http://schemas.openxmlformats.org/drawingml/2006/main" noGrp="1"/>
          </p:cNvSpPr>
          <p:nvPr/>
        </p:nvSpPr>
        <p:spPr>
          <a:xfrm xmlns:a="http://schemas.openxmlformats.org/drawingml/2006/main">
            <a:off x="6896100" y="2038350"/>
            <a:ext cx="3429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01820"/>
                </a:solidFill>
                <a:latin typeface="Aptos"/>
                <a:ea typeface="Aptos"/>
                <a:cs typeface="Aptos"/>
              </a:defRPr>
            </a:pPr>
            <a:r>
              <a:rPr sz="1875" b="1">
                <a:solidFill>
                  <a:srgbClr val="101820"/>
                </a:solidFill>
                <a:latin typeface="Aptos"/>
                <a:ea typeface="Aptos"/>
                <a:cs typeface="Aptos"/>
              </a:rPr>
              <a:t>Tunable Kconfig controls</a:t>
            </a:r>
          </a:p>
        </p:txBody>
      </p:sp>
      <p:sp>
        <p:nvSpPr>
          <p:cNvPr id="35" name="">
            <a:extLst xmlns:a="http://schemas.openxmlformats.org/drawingml/2006/main">
              <a:ext uri="{FF2B5EF4-FFF2-40B4-BE49-F238E27FC236}">
                <a16:creationId xmlns:a16="http://schemas.microsoft.com/office/drawing/2014/main" id="{5DE66653-5DAE-4C05-9E69-23B0B4CED5A1}"/>
              </a:ext>
            </a:extLst>
          </p:cNvPr>
          <p:cNvSpPr>
            <a:spLocks xmlns:a="http://schemas.openxmlformats.org/drawingml/2006/main" noGrp="1"/>
          </p:cNvSpPr>
          <p:nvPr/>
        </p:nvSpPr>
        <p:spPr>
          <a:xfrm xmlns:a="http://schemas.openxmlformats.org/drawingml/2006/main">
            <a:off x="6515100" y="2543175"/>
            <a:ext cx="114300" cy="114300"/>
          </a:xfrm>
          <a:prstGeom xmlns:a="http://schemas.openxmlformats.org/drawingml/2006/main" prst="ellipse">
            <a:avLst/>
          </a:prstGeom>
          <a:solidFill xmlns:a="http://schemas.openxmlformats.org/drawingml/2006/main">
            <a:srgbClr val="C32832"/>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FB36BED1-A35A-45D4-88DF-792264CD20D0}"/>
              </a:ext>
            </a:extLst>
          </p:cNvPr>
          <p:cNvSpPr>
            <a:spLocks xmlns:a="http://schemas.openxmlformats.org/drawingml/2006/main" noGrp="1"/>
          </p:cNvSpPr>
          <p:nvPr/>
        </p:nvSpPr>
        <p:spPr>
          <a:xfrm xmlns:a="http://schemas.openxmlformats.org/drawingml/2006/main">
            <a:off x="6762750" y="2476500"/>
            <a:ext cx="3810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score threshold</a:t>
            </a:r>
          </a:p>
        </p:txBody>
      </p:sp>
      <p:sp>
        <p:nvSpPr>
          <p:cNvPr id="37" name="">
            <a:extLst xmlns:a="http://schemas.openxmlformats.org/drawingml/2006/main">
              <a:ext uri="{FF2B5EF4-FFF2-40B4-BE49-F238E27FC236}">
                <a16:creationId xmlns:a16="http://schemas.microsoft.com/office/drawing/2014/main" id="{B8D2DB66-5648-4405-8D5A-27B638F2FD58}"/>
              </a:ext>
            </a:extLst>
          </p:cNvPr>
          <p:cNvSpPr>
            <a:spLocks xmlns:a="http://schemas.openxmlformats.org/drawingml/2006/main" noGrp="1"/>
          </p:cNvSpPr>
          <p:nvPr/>
        </p:nvSpPr>
        <p:spPr>
          <a:xfrm xmlns:a="http://schemas.openxmlformats.org/drawingml/2006/main">
            <a:off x="6515100" y="2752725"/>
            <a:ext cx="114300" cy="114300"/>
          </a:xfrm>
          <a:prstGeom xmlns:a="http://schemas.openxmlformats.org/drawingml/2006/main" prst="ellipse">
            <a:avLst/>
          </a:prstGeom>
          <a:solidFill xmlns:a="http://schemas.openxmlformats.org/drawingml/2006/main">
            <a:srgbClr val="C32832"/>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344CAFA9-60A0-4B00-9067-492BB72E6D88}"/>
              </a:ext>
            </a:extLst>
          </p:cNvPr>
          <p:cNvSpPr>
            <a:spLocks xmlns:a="http://schemas.openxmlformats.org/drawingml/2006/main" noGrp="1"/>
          </p:cNvSpPr>
          <p:nvPr/>
        </p:nvSpPr>
        <p:spPr>
          <a:xfrm xmlns:a="http://schemas.openxmlformats.org/drawingml/2006/main">
            <a:off x="6762750" y="2686050"/>
            <a:ext cx="3810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confirmation frame count</a:t>
            </a:r>
          </a:p>
        </p:txBody>
      </p:sp>
      <p:sp>
        <p:nvSpPr>
          <p:cNvPr id="39" name="">
            <a:extLst xmlns:a="http://schemas.openxmlformats.org/drawingml/2006/main">
              <a:ext uri="{FF2B5EF4-FFF2-40B4-BE49-F238E27FC236}">
                <a16:creationId xmlns:a16="http://schemas.microsoft.com/office/drawing/2014/main" id="{89B1CDE1-1005-43FD-87A0-0AB1556BDE23}"/>
              </a:ext>
            </a:extLst>
          </p:cNvPr>
          <p:cNvSpPr>
            <a:spLocks xmlns:a="http://schemas.openxmlformats.org/drawingml/2006/main" noGrp="1"/>
          </p:cNvSpPr>
          <p:nvPr/>
        </p:nvSpPr>
        <p:spPr>
          <a:xfrm xmlns:a="http://schemas.openxmlformats.org/drawingml/2006/main">
            <a:off x="6515100" y="2962275"/>
            <a:ext cx="114300" cy="114300"/>
          </a:xfrm>
          <a:prstGeom xmlns:a="http://schemas.openxmlformats.org/drawingml/2006/main" prst="ellipse">
            <a:avLst/>
          </a:prstGeom>
          <a:solidFill xmlns:a="http://schemas.openxmlformats.org/drawingml/2006/main">
            <a:srgbClr val="C32832"/>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DBAC2267-53E6-4C1B-91DC-503FD38CED73}"/>
              </a:ext>
            </a:extLst>
          </p:cNvPr>
          <p:cNvSpPr>
            <a:spLocks xmlns:a="http://schemas.openxmlformats.org/drawingml/2006/main" noGrp="1"/>
          </p:cNvSpPr>
          <p:nvPr/>
        </p:nvSpPr>
        <p:spPr>
          <a:xfrm xmlns:a="http://schemas.openxmlformats.org/drawingml/2006/main">
            <a:off x="6762750" y="2895600"/>
            <a:ext cx="3810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alert cooldown seconds</a:t>
            </a:r>
          </a:p>
        </p:txBody>
      </p:sp>
      <p:sp>
        <p:nvSpPr>
          <p:cNvPr id="41" name="">
            <a:extLst xmlns:a="http://schemas.openxmlformats.org/drawingml/2006/main">
              <a:ext uri="{FF2B5EF4-FFF2-40B4-BE49-F238E27FC236}">
                <a16:creationId xmlns:a16="http://schemas.microsoft.com/office/drawing/2014/main" id="{76AC630C-D254-4E7C-8833-02821439632B}"/>
              </a:ext>
            </a:extLst>
          </p:cNvPr>
          <p:cNvSpPr>
            <a:spLocks xmlns:a="http://schemas.openxmlformats.org/drawingml/2006/main" noGrp="1"/>
          </p:cNvSpPr>
          <p:nvPr/>
        </p:nvSpPr>
        <p:spPr>
          <a:xfrm xmlns:a="http://schemas.openxmlformats.org/drawingml/2006/main">
            <a:off x="6515100" y="3171825"/>
            <a:ext cx="114300" cy="114300"/>
          </a:xfrm>
          <a:prstGeom xmlns:a="http://schemas.openxmlformats.org/drawingml/2006/main" prst="ellipse">
            <a:avLst/>
          </a:prstGeom>
          <a:solidFill xmlns:a="http://schemas.openxmlformats.org/drawingml/2006/main">
            <a:srgbClr val="C32832"/>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4E29A5E8-8614-40EC-9AD2-6D98C4EAC81F}"/>
              </a:ext>
            </a:extLst>
          </p:cNvPr>
          <p:cNvSpPr>
            <a:spLocks xmlns:a="http://schemas.openxmlformats.org/drawingml/2006/main" noGrp="1"/>
          </p:cNvSpPr>
          <p:nvPr/>
        </p:nvSpPr>
        <p:spPr>
          <a:xfrm xmlns:a="http://schemas.openxmlformats.org/drawingml/2006/main">
            <a:off x="6762750" y="3105150"/>
            <a:ext cx="3810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device ID, broker URI, topic</a:t>
            </a:r>
          </a:p>
        </p:txBody>
      </p:sp>
      <p:sp>
        <p:nvSpPr>
          <p:cNvPr id="43" name="">
            <a:extLst xmlns:a="http://schemas.openxmlformats.org/drawingml/2006/main">
              <a:ext uri="{FF2B5EF4-FFF2-40B4-BE49-F238E27FC236}">
                <a16:creationId xmlns:a16="http://schemas.microsoft.com/office/drawing/2014/main" id="{3AD27CED-00B8-4137-B44F-F42655488344}"/>
              </a:ext>
            </a:extLst>
          </p:cNvPr>
          <p:cNvSpPr>
            <a:spLocks xmlns:a="http://schemas.openxmlformats.org/drawingml/2006/main" noGrp="1"/>
          </p:cNvSpPr>
          <p:nvPr/>
        </p:nvSpPr>
        <p:spPr>
          <a:xfrm xmlns:a="http://schemas.openxmlformats.org/drawingml/2006/main">
            <a:off x="6191250" y="3733800"/>
            <a:ext cx="4953000" cy="933450"/>
          </a:xfrm>
          <a:prstGeom xmlns:a="http://schemas.openxmlformats.org/drawingml/2006/main" prst="rect">
            <a:avLst/>
          </a:prstGeom>
          <a:solidFill xmlns:a="http://schemas.openxmlformats.org/drawingml/2006/main">
            <a:srgbClr val="DDF0EF"/>
          </a:solidFill>
          <a:ln xmlns:a="http://schemas.openxmlformats.org/drawingml/2006/main" w="9525">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1AA428FE-0ADC-422E-9A1C-A1B7C0C0A611}"/>
              </a:ext>
            </a:extLst>
          </p:cNvPr>
          <p:cNvSpPr>
            <a:spLocks xmlns:a="http://schemas.openxmlformats.org/drawingml/2006/main" noGrp="1"/>
          </p:cNvSpPr>
          <p:nvPr/>
        </p:nvSpPr>
        <p:spPr>
          <a:xfrm xmlns:a="http://schemas.openxmlformats.org/drawingml/2006/main">
            <a:off x="6191250" y="3771900"/>
            <a:ext cx="47625" cy="857250"/>
          </a:xfrm>
          <a:prstGeom xmlns:a="http://schemas.openxmlformats.org/drawingml/2006/main" prst="rect">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24773085-845C-4921-BD96-2CE2CF6B51F4}"/>
              </a:ext>
            </a:extLst>
          </p:cNvPr>
          <p:cNvSpPr>
            <a:spLocks xmlns:a="http://schemas.openxmlformats.org/drawingml/2006/main" noGrp="1"/>
          </p:cNvSpPr>
          <p:nvPr/>
        </p:nvSpPr>
        <p:spPr>
          <a:xfrm xmlns:a="http://schemas.openxmlformats.org/drawingml/2006/main">
            <a:off x="6362700" y="3829050"/>
            <a:ext cx="4705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01820"/>
                </a:solidFill>
                <a:latin typeface="Aptos"/>
                <a:ea typeface="Aptos"/>
                <a:cs typeface="Aptos"/>
              </a:defRPr>
            </a:pPr>
            <a:r>
              <a:rPr sz="1425" b="1">
                <a:solidFill>
                  <a:srgbClr val="101820"/>
                </a:solidFill>
                <a:latin typeface="Aptos"/>
                <a:ea typeface="Aptos"/>
                <a:cs typeface="Aptos"/>
              </a:rPr>
              <a:t>Defensive networking</a:t>
            </a:r>
          </a:p>
        </p:txBody>
      </p:sp>
      <p:sp>
        <p:nvSpPr>
          <p:cNvPr id="46" name="">
            <a:extLst xmlns:a="http://schemas.openxmlformats.org/drawingml/2006/main">
              <a:ext uri="{FF2B5EF4-FFF2-40B4-BE49-F238E27FC236}">
                <a16:creationId xmlns:a16="http://schemas.microsoft.com/office/drawing/2014/main" id="{B3297E53-3408-4710-A8A4-2A5AAC9BA5F3}"/>
              </a:ext>
            </a:extLst>
          </p:cNvPr>
          <p:cNvSpPr>
            <a:spLocks xmlns:a="http://schemas.openxmlformats.org/drawingml/2006/main" noGrp="1"/>
          </p:cNvSpPr>
          <p:nvPr/>
        </p:nvSpPr>
        <p:spPr>
          <a:xfrm xmlns:a="http://schemas.openxmlformats.org/drawingml/2006/main">
            <a:off x="6362700" y="4133850"/>
            <a:ext cx="47053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E6872"/>
                </a:solidFill>
                <a:latin typeface="Aptos"/>
                <a:ea typeface="Aptos"/>
                <a:cs typeface="Aptos"/>
              </a:defRPr>
            </a:pPr>
            <a:r>
              <a:rPr sz="1200" b="0">
                <a:solidFill>
                  <a:srgbClr val="5E6872"/>
                </a:solidFill>
                <a:latin typeface="Aptos"/>
                <a:ea typeface="Aptos"/>
                <a:cs typeface="Aptos"/>
              </a:rPr>
              <a:t>If Wi-Fi or MQTT is not configured, detections still run and alarm JSON is logged over serial.</a:t>
            </a:r>
          </a:p>
        </p:txBody>
      </p:sp>
      <p:sp>
        <p:nvSpPr>
          <p:cNvPr id="47" name="">
            <a:extLst xmlns:a="http://schemas.openxmlformats.org/drawingml/2006/main">
              <a:ext uri="{FF2B5EF4-FFF2-40B4-BE49-F238E27FC236}">
                <a16:creationId xmlns:a16="http://schemas.microsoft.com/office/drawing/2014/main" id="{BB241188-72B7-49E5-A552-8E95A730846E}"/>
              </a:ext>
            </a:extLst>
          </p:cNvPr>
          <p:cNvSpPr>
            <a:spLocks xmlns:a="http://schemas.openxmlformats.org/drawingml/2006/main" noGrp="1"/>
          </p:cNvSpPr>
          <p:nvPr/>
        </p:nvSpPr>
        <p:spPr>
          <a:xfrm xmlns:a="http://schemas.openxmlformats.org/drawingml/2006/main">
            <a:off x="6191250" y="5029200"/>
            <a:ext cx="4953000" cy="19050"/>
          </a:xfrm>
          <a:prstGeom xmlns:a="http://schemas.openxmlformats.org/drawingml/2006/main" prst="rect">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F3670A6A-4390-4964-8FD6-5ACE62AF13D9}"/>
              </a:ext>
            </a:extLst>
          </p:cNvPr>
          <p:cNvSpPr>
            <a:spLocks xmlns:a="http://schemas.openxmlformats.org/drawingml/2006/main" noGrp="1"/>
          </p:cNvSpPr>
          <p:nvPr/>
        </p:nvSpPr>
        <p:spPr>
          <a:xfrm xmlns:a="http://schemas.openxmlformats.org/drawingml/2006/main">
            <a:off x="6191250" y="5219700"/>
            <a:ext cx="4953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a:ea typeface="Aptos"/>
                <a:cs typeface="Aptos"/>
              </a:defRPr>
            </a:pPr>
            <a:r>
              <a:rPr sz="1350" b="1">
                <a:solidFill>
                  <a:srgbClr val="101820"/>
                </a:solidFill>
                <a:latin typeface="Aptos"/>
                <a:ea typeface="Aptos"/>
                <a:cs typeface="Aptos"/>
              </a:rPr>
              <a:t>Core files: app_main.cpp, alarm_mqtt.cpp, lcd_preview.cpp, frame_cap_pipeline.cpp</a:t>
            </a:r>
          </a:p>
        </p:txBody>
      </p:sp>
      <p:sp>
        <p:nvSpPr>
          <p:cNvPr id="49" name="">
            <a:extLst xmlns:a="http://schemas.openxmlformats.org/drawingml/2006/main">
              <a:ext uri="{FF2B5EF4-FFF2-40B4-BE49-F238E27FC236}">
                <a16:creationId xmlns:a16="http://schemas.microsoft.com/office/drawing/2014/main" id="{C0B120A4-EEBE-4CDA-A36D-DD2139ED396C}"/>
              </a:ext>
            </a:extLst>
          </p:cNvPr>
          <p:cNvSpPr>
            <a:spLocks xmlns:a="http://schemas.openxmlformats.org/drawingml/2006/main" noGrp="1"/>
          </p:cNvSpPr>
          <p:nvPr/>
        </p:nvSpPr>
        <p:spPr>
          <a:xfrm xmlns:a="http://schemas.openxmlformats.org/drawingml/2006/main">
            <a:off x="552450" y="64579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E6872"/>
                </a:solidFill>
                <a:latin typeface="Aptos"/>
                <a:ea typeface="Aptos"/>
                <a:cs typeface="Aptos"/>
              </a:defRPr>
            </a:pPr>
            <a:r>
              <a:rPr sz="1050" b="0">
                <a:solidFill>
                  <a:srgbClr val="5E6872"/>
                </a:solidFill>
                <a:latin typeface="Aptos"/>
                <a:ea typeface="Aptos"/>
                <a:cs typeface="Aptos"/>
              </a:rPr>
              <a:t>Smart Visual Alarm System | 04</a:t>
            </a:r>
          </a:p>
        </p:txBody>
      </p:sp>
    </p:spTree>
    <p:extLst>
      <p:ext uri="{BB962C8B-B14F-4D97-AF65-F5344CB8AC3E}">
        <p14:creationId xmlns:p14="http://schemas.microsoft.com/office/powerpoint/2010/main" val="36128219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CD56B6-D31E-4EB0-97F0-291C594AB65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1AC4DA3-283F-415F-BC8E-6077EFB12FC1}"/>
              </a:ext>
            </a:extLst>
          </p:cNvPr>
          <p:cNvSpPr>
            <a:spLocks xmlns:a="http://schemas.openxmlformats.org/drawingml/2006/main" noGrp="1"/>
          </p:cNvSpPr>
          <p:nvPr/>
        </p:nvSpPr>
        <p:spPr>
          <a:xfrm xmlns:a="http://schemas.openxmlformats.org/drawingml/2006/main">
            <a:off x="552450" y="438150"/>
            <a:ext cx="9334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01820"/>
                </a:solidFill>
                <a:latin typeface="Aptos Display"/>
                <a:ea typeface="Aptos Display"/>
                <a:cs typeface="Aptos Display"/>
              </a:defRPr>
            </a:pPr>
            <a:r>
              <a:rPr sz="3300" b="1">
                <a:solidFill>
                  <a:srgbClr val="101820"/>
                </a:solidFill>
                <a:latin typeface="Aptos Display"/>
                <a:ea typeface="Aptos Display"/>
                <a:cs typeface="Aptos Display"/>
              </a:rPr>
              <a:t>The pedestrian model runs fully on the ESP32-S3</a:t>
            </a:r>
          </a:p>
        </p:txBody>
      </p:sp>
      <p:sp>
        <p:nvSpPr>
          <p:cNvPr id="3" name="">
            <a:extLst xmlns:a="http://schemas.openxmlformats.org/drawingml/2006/main">
              <a:ext uri="{FF2B5EF4-FFF2-40B4-BE49-F238E27FC236}">
                <a16:creationId xmlns:a16="http://schemas.microsoft.com/office/drawing/2014/main" id="{C5F1723A-F4B3-464E-ACD3-75AE31256910}"/>
              </a:ext>
            </a:extLst>
          </p:cNvPr>
          <p:cNvSpPr>
            <a:spLocks xmlns:a="http://schemas.openxmlformats.org/drawingml/2006/main" noGrp="1"/>
          </p:cNvSpPr>
          <p:nvPr/>
        </p:nvSpPr>
        <p:spPr>
          <a:xfrm xmlns:a="http://schemas.openxmlformats.org/drawingml/2006/main">
            <a:off x="571500" y="180975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6317E5B-F3DE-49EE-91A5-658641E5A92D}"/>
              </a:ext>
            </a:extLst>
          </p:cNvPr>
          <p:cNvSpPr>
            <a:spLocks xmlns:a="http://schemas.openxmlformats.org/drawingml/2006/main" noGrp="1"/>
          </p:cNvSpPr>
          <p:nvPr/>
        </p:nvSpPr>
        <p:spPr>
          <a:xfrm xmlns:a="http://schemas.openxmlformats.org/drawingml/2006/main">
            <a:off x="571500" y="1809750"/>
            <a:ext cx="2571750" cy="47625"/>
          </a:xfrm>
          <a:prstGeom xmlns:a="http://schemas.openxmlformats.org/drawingml/2006/main" prst="rect">
            <a:avLst/>
          </a:prstGeom>
          <a:solidFill xmlns:a="http://schemas.openxmlformats.org/drawingml/2006/main">
            <a:srgbClr val="C32832"/>
          </a:solidFill>
          <a:ln xmlns:a="http://schemas.openxmlformats.org/drawingml/2006/main" w="0">
            <a:solidFill>
              <a:srgbClr val="000000">
                <a:alpha val="0"/>
              </a:srgbClr>
            </a:solidFill>
            <a:prstDash val="solid"/>
          </a:ln>
        </p:spPr>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5a73c37158b64ecc">
            <a:extLst>
              <a:ext uri="{96DAC541-7B7A-43D3-8B79-37D633B846F1}">
                <asvg:svgBlip xmlns:asvg="http://schemas.microsoft.com/office/drawing/2016/SVG/main" r:embed="R1ecc2ba5ed1541dc"/>
              </a:ext>
            </a:extLst>
          </a:blip>
          <a:stretch xmlns:a="http://schemas.openxmlformats.org/drawingml/2006/main"/>
        </p:blipFill>
        <p:spPr>
          <a:xfrm xmlns:a="http://schemas.openxmlformats.org/drawingml/2006/main">
            <a:off x="723900" y="2000250"/>
            <a:ext cx="266700" cy="266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216E70D-2C81-4E9A-8C41-5E86E20F78E1}"/>
              </a:ext>
            </a:extLst>
          </p:cNvPr>
          <p:cNvSpPr>
            <a:spLocks xmlns:a="http://schemas.openxmlformats.org/drawingml/2006/main" noGrp="1"/>
          </p:cNvSpPr>
          <p:nvPr/>
        </p:nvSpPr>
        <p:spPr>
          <a:xfrm xmlns:a="http://schemas.openxmlformats.org/drawingml/2006/main">
            <a:off x="1085850" y="1962150"/>
            <a:ext cx="1924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820"/>
                </a:solidFill>
                <a:latin typeface="Aptos"/>
                <a:ea typeface="Aptos"/>
                <a:cs typeface="Aptos"/>
              </a:defRPr>
            </a:pPr>
            <a:r>
              <a:rPr sz="1950" b="1">
                <a:solidFill>
                  <a:srgbClr val="101820"/>
                </a:solidFill>
                <a:latin typeface="Aptos"/>
                <a:ea typeface="Aptos"/>
                <a:cs typeface="Aptos"/>
              </a:rPr>
              <a:t>PICO_S8_V1</a:t>
            </a:r>
          </a:p>
        </p:txBody>
      </p:sp>
      <p:sp>
        <p:nvSpPr>
          <p:cNvPr id="7" name="">
            <a:extLst xmlns:a="http://schemas.openxmlformats.org/drawingml/2006/main">
              <a:ext uri="{FF2B5EF4-FFF2-40B4-BE49-F238E27FC236}">
                <a16:creationId xmlns:a16="http://schemas.microsoft.com/office/drawing/2014/main" id="{111BC7F8-6DD5-48C3-9D84-29D4F336595C}"/>
              </a:ext>
            </a:extLst>
          </p:cNvPr>
          <p:cNvSpPr>
            <a:spLocks xmlns:a="http://schemas.openxmlformats.org/drawingml/2006/main" noGrp="1"/>
          </p:cNvSpPr>
          <p:nvPr/>
        </p:nvSpPr>
        <p:spPr>
          <a:xfrm xmlns:a="http://schemas.openxmlformats.org/drawingml/2006/main">
            <a:off x="742950" y="2343150"/>
            <a:ext cx="2266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5E6872"/>
                </a:solidFill>
                <a:latin typeface="Aptos"/>
                <a:ea typeface="Aptos"/>
                <a:cs typeface="Aptos"/>
              </a:defRPr>
            </a:pPr>
            <a:r>
              <a:rPr sz="1050" b="1">
                <a:solidFill>
                  <a:srgbClr val="5E6872"/>
                </a:solidFill>
                <a:latin typeface="Aptos"/>
                <a:ea typeface="Aptos"/>
                <a:cs typeface="Aptos"/>
              </a:rPr>
              <a:t>model variant</a:t>
            </a:r>
          </a:p>
        </p:txBody>
      </p:sp>
      <p:sp>
        <p:nvSpPr>
          <p:cNvPr id="8" name="">
            <a:extLst xmlns:a="http://schemas.openxmlformats.org/drawingml/2006/main">
              <a:ext uri="{FF2B5EF4-FFF2-40B4-BE49-F238E27FC236}">
                <a16:creationId xmlns:a16="http://schemas.microsoft.com/office/drawing/2014/main" id="{F91C684C-DA2B-4182-BE1E-145B403F3454}"/>
              </a:ext>
            </a:extLst>
          </p:cNvPr>
          <p:cNvSpPr>
            <a:spLocks xmlns:a="http://schemas.openxmlformats.org/drawingml/2006/main" noGrp="1"/>
          </p:cNvSpPr>
          <p:nvPr/>
        </p:nvSpPr>
        <p:spPr>
          <a:xfrm xmlns:a="http://schemas.openxmlformats.org/drawingml/2006/main">
            <a:off x="742950" y="2533650"/>
            <a:ext cx="2266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E6872"/>
                </a:solidFill>
                <a:latin typeface="Aptos"/>
                <a:ea typeface="Aptos"/>
                <a:cs typeface="Aptos"/>
              </a:defRPr>
            </a:pPr>
            <a:r>
              <a:rPr sz="825" b="0">
                <a:solidFill>
                  <a:srgbClr val="5E6872"/>
                </a:solidFill>
                <a:latin typeface="Aptos"/>
                <a:ea typeface="Aptos"/>
                <a:cs typeface="Aptos"/>
              </a:rPr>
              <a:t>Espressif pedestrian_detect v0.3.0</a:t>
            </a:r>
          </a:p>
        </p:txBody>
      </p:sp>
      <p:sp>
        <p:nvSpPr>
          <p:cNvPr id="9" name="">
            <a:extLst xmlns:a="http://schemas.openxmlformats.org/drawingml/2006/main">
              <a:ext uri="{FF2B5EF4-FFF2-40B4-BE49-F238E27FC236}">
                <a16:creationId xmlns:a16="http://schemas.microsoft.com/office/drawing/2014/main" id="{DF4A7ADD-C6B6-423D-9774-602891912156}"/>
              </a:ext>
            </a:extLst>
          </p:cNvPr>
          <p:cNvSpPr>
            <a:spLocks xmlns:a="http://schemas.openxmlformats.org/drawingml/2006/main" noGrp="1"/>
          </p:cNvSpPr>
          <p:nvPr/>
        </p:nvSpPr>
        <p:spPr>
          <a:xfrm xmlns:a="http://schemas.openxmlformats.org/drawingml/2006/main">
            <a:off x="3429000" y="180975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F5576B10-D87D-4C07-9D6D-1C653EBA0F2E}"/>
              </a:ext>
            </a:extLst>
          </p:cNvPr>
          <p:cNvSpPr>
            <a:spLocks xmlns:a="http://schemas.openxmlformats.org/drawingml/2006/main" noGrp="1"/>
          </p:cNvSpPr>
          <p:nvPr/>
        </p:nvSpPr>
        <p:spPr>
          <a:xfrm xmlns:a="http://schemas.openxmlformats.org/drawingml/2006/main">
            <a:off x="3429000" y="1809750"/>
            <a:ext cx="2571750" cy="47625"/>
          </a:xfrm>
          <a:prstGeom xmlns:a="http://schemas.openxmlformats.org/drawingml/2006/main" prst="rect">
            <a:avLst/>
          </a:prstGeom>
          <a:solidFill xmlns:a="http://schemas.openxmlformats.org/drawingml/2006/main">
            <a:srgbClr val="0E7C86"/>
          </a:solidFill>
          <a:ln xmlns:a="http://schemas.openxmlformats.org/drawingml/2006/main" w="0">
            <a:solidFill>
              <a:srgbClr val="000000">
                <a:alpha val="0"/>
              </a:srgbClr>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01f1bea83a54333">
            <a:extLst>
              <a:ext uri="{96DAC541-7B7A-43D3-8B79-37D633B846F1}">
                <asvg:svgBlip xmlns:asvg="http://schemas.microsoft.com/office/drawing/2016/SVG/main" r:embed="Reb4a6333980b403b"/>
              </a:ext>
            </a:extLst>
          </a:blip>
          <a:stretch xmlns:a="http://schemas.openxmlformats.org/drawingml/2006/main"/>
        </p:blipFill>
        <p:spPr>
          <a:xfrm xmlns:a="http://schemas.openxmlformats.org/drawingml/2006/main">
            <a:off x="3581400" y="2000250"/>
            <a:ext cx="266700" cy="2667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05F6DC8-CBF5-444B-B878-A3F888BC56EA}"/>
              </a:ext>
            </a:extLst>
          </p:cNvPr>
          <p:cNvSpPr>
            <a:spLocks xmlns:a="http://schemas.openxmlformats.org/drawingml/2006/main" noGrp="1"/>
          </p:cNvSpPr>
          <p:nvPr/>
        </p:nvSpPr>
        <p:spPr>
          <a:xfrm xmlns:a="http://schemas.openxmlformats.org/drawingml/2006/main">
            <a:off x="3943350" y="1962150"/>
            <a:ext cx="1924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820"/>
                </a:solidFill>
                <a:latin typeface="Aptos"/>
                <a:ea typeface="Aptos"/>
                <a:cs typeface="Aptos"/>
              </a:defRPr>
            </a:pPr>
            <a:r>
              <a:rPr sz="1950" b="1">
                <a:solidFill>
                  <a:srgbClr val="101820"/>
                </a:solidFill>
                <a:latin typeface="Aptos"/>
                <a:ea typeface="Aptos"/>
                <a:cs typeface="Aptos"/>
              </a:rPr>
              <a:t>435,328 B</a:t>
            </a:r>
          </a:p>
        </p:txBody>
      </p:sp>
      <p:sp>
        <p:nvSpPr>
          <p:cNvPr id="13" name="">
            <a:extLst xmlns:a="http://schemas.openxmlformats.org/drawingml/2006/main">
              <a:ext uri="{FF2B5EF4-FFF2-40B4-BE49-F238E27FC236}">
                <a16:creationId xmlns:a16="http://schemas.microsoft.com/office/drawing/2014/main" id="{C70FCD2A-F25D-4475-86C9-3F0DB81E7595}"/>
              </a:ext>
            </a:extLst>
          </p:cNvPr>
          <p:cNvSpPr>
            <a:spLocks xmlns:a="http://schemas.openxmlformats.org/drawingml/2006/main" noGrp="1"/>
          </p:cNvSpPr>
          <p:nvPr/>
        </p:nvSpPr>
        <p:spPr>
          <a:xfrm xmlns:a="http://schemas.openxmlformats.org/drawingml/2006/main">
            <a:off x="3600450" y="2343150"/>
            <a:ext cx="2266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5E6872"/>
                </a:solidFill>
                <a:latin typeface="Aptos"/>
                <a:ea typeface="Aptos"/>
                <a:cs typeface="Aptos"/>
              </a:defRPr>
            </a:pPr>
            <a:r>
              <a:rPr sz="1050" b="1">
                <a:solidFill>
                  <a:srgbClr val="5E6872"/>
                </a:solidFill>
                <a:latin typeface="Aptos"/>
                <a:ea typeface="Aptos"/>
                <a:cs typeface="Aptos"/>
              </a:rPr>
              <a:t>parameter storage</a:t>
            </a:r>
          </a:p>
        </p:txBody>
      </p:sp>
      <p:sp>
        <p:nvSpPr>
          <p:cNvPr id="14" name="">
            <a:extLst xmlns:a="http://schemas.openxmlformats.org/drawingml/2006/main">
              <a:ext uri="{FF2B5EF4-FFF2-40B4-BE49-F238E27FC236}">
                <a16:creationId xmlns:a16="http://schemas.microsoft.com/office/drawing/2014/main" id="{909ABB1F-8502-4E43-AD4D-1F71A8DEEC4B}"/>
              </a:ext>
            </a:extLst>
          </p:cNvPr>
          <p:cNvSpPr>
            <a:spLocks xmlns:a="http://schemas.openxmlformats.org/drawingml/2006/main" noGrp="1"/>
          </p:cNvSpPr>
          <p:nvPr/>
        </p:nvSpPr>
        <p:spPr>
          <a:xfrm xmlns:a="http://schemas.openxmlformats.org/drawingml/2006/main">
            <a:off x="3600450" y="2533650"/>
            <a:ext cx="2266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E6872"/>
                </a:solidFill>
                <a:latin typeface="Aptos"/>
                <a:ea typeface="Aptos"/>
                <a:cs typeface="Aptos"/>
              </a:defRPr>
            </a:pPr>
            <a:r>
              <a:rPr sz="825" b="0">
                <a:solidFill>
                  <a:srgbClr val="5E6872"/>
                </a:solidFill>
                <a:latin typeface="Aptos"/>
                <a:ea typeface="Aptos"/>
                <a:cs typeface="Aptos"/>
              </a:rPr>
              <a:t>compiled .espdl blob in flash</a:t>
            </a:r>
          </a:p>
        </p:txBody>
      </p:sp>
      <p:sp>
        <p:nvSpPr>
          <p:cNvPr id="15" name="">
            <a:extLst xmlns:a="http://schemas.openxmlformats.org/drawingml/2006/main">
              <a:ext uri="{FF2B5EF4-FFF2-40B4-BE49-F238E27FC236}">
                <a16:creationId xmlns:a16="http://schemas.microsoft.com/office/drawing/2014/main" id="{C83298EC-5E37-4B21-A689-48DD1299D2BB}"/>
              </a:ext>
            </a:extLst>
          </p:cNvPr>
          <p:cNvSpPr>
            <a:spLocks xmlns:a="http://schemas.openxmlformats.org/drawingml/2006/main" noGrp="1"/>
          </p:cNvSpPr>
          <p:nvPr/>
        </p:nvSpPr>
        <p:spPr>
          <a:xfrm xmlns:a="http://schemas.openxmlformats.org/drawingml/2006/main">
            <a:off x="6286500" y="180975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3572E90C-0E42-486C-9307-94B35BA9C3C2}"/>
              </a:ext>
            </a:extLst>
          </p:cNvPr>
          <p:cNvSpPr>
            <a:spLocks xmlns:a="http://schemas.openxmlformats.org/drawingml/2006/main" noGrp="1"/>
          </p:cNvSpPr>
          <p:nvPr/>
        </p:nvSpPr>
        <p:spPr>
          <a:xfrm xmlns:a="http://schemas.openxmlformats.org/drawingml/2006/main">
            <a:off x="6286500" y="1809750"/>
            <a:ext cx="2571750" cy="47625"/>
          </a:xfrm>
          <a:prstGeom xmlns:a="http://schemas.openxmlformats.org/drawingml/2006/main" prst="rect">
            <a:avLst/>
          </a:prstGeom>
          <a:solidFill xmlns:a="http://schemas.openxmlformats.org/drawingml/2006/main">
            <a:srgbClr val="2E5EAA"/>
          </a:solidFill>
          <a:ln xmlns:a="http://schemas.openxmlformats.org/drawingml/2006/main" w="0">
            <a:solidFill>
              <a:srgbClr val="000000">
                <a:alpha val="0"/>
              </a:srgbClr>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7b1c56bb03a4840">
            <a:extLst>
              <a:ext uri="{96DAC541-7B7A-43D3-8B79-37D633B846F1}">
                <asvg:svgBlip xmlns:asvg="http://schemas.microsoft.com/office/drawing/2016/SVG/main" r:embed="Radb281d6cacb49ad"/>
              </a:ext>
            </a:extLst>
          </a:blip>
          <a:stretch xmlns:a="http://schemas.openxmlformats.org/drawingml/2006/main"/>
        </p:blipFill>
        <p:spPr>
          <a:xfrm xmlns:a="http://schemas.openxmlformats.org/drawingml/2006/main">
            <a:off x="6438900" y="2000250"/>
            <a:ext cx="266700" cy="2667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623D67E3-670C-47E8-9485-95C3D54A321A}"/>
              </a:ext>
            </a:extLst>
          </p:cNvPr>
          <p:cNvSpPr>
            <a:spLocks xmlns:a="http://schemas.openxmlformats.org/drawingml/2006/main" noGrp="1"/>
          </p:cNvSpPr>
          <p:nvPr/>
        </p:nvSpPr>
        <p:spPr>
          <a:xfrm xmlns:a="http://schemas.openxmlformats.org/drawingml/2006/main">
            <a:off x="6800850" y="1962150"/>
            <a:ext cx="1924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820"/>
                </a:solidFill>
                <a:latin typeface="Aptos"/>
                <a:ea typeface="Aptos"/>
                <a:cs typeface="Aptos"/>
              </a:defRPr>
            </a:pPr>
            <a:r>
              <a:rPr sz="1950" b="1">
                <a:solidFill>
                  <a:srgbClr val="101820"/>
                </a:solidFill>
                <a:latin typeface="Aptos"/>
                <a:ea typeface="Aptos"/>
                <a:cs typeface="Aptos"/>
              </a:rPr>
              <a:t>224x224x3</a:t>
            </a:r>
          </a:p>
        </p:txBody>
      </p:sp>
      <p:sp>
        <p:nvSpPr>
          <p:cNvPr id="19" name="">
            <a:extLst xmlns:a="http://schemas.openxmlformats.org/drawingml/2006/main">
              <a:ext uri="{FF2B5EF4-FFF2-40B4-BE49-F238E27FC236}">
                <a16:creationId xmlns:a16="http://schemas.microsoft.com/office/drawing/2014/main" id="{8552D33E-6737-4015-8196-B20E3E8C525C}"/>
              </a:ext>
            </a:extLst>
          </p:cNvPr>
          <p:cNvSpPr>
            <a:spLocks xmlns:a="http://schemas.openxmlformats.org/drawingml/2006/main" noGrp="1"/>
          </p:cNvSpPr>
          <p:nvPr/>
        </p:nvSpPr>
        <p:spPr>
          <a:xfrm xmlns:a="http://schemas.openxmlformats.org/drawingml/2006/main">
            <a:off x="6457950" y="2343150"/>
            <a:ext cx="2266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5E6872"/>
                </a:solidFill>
                <a:latin typeface="Aptos"/>
                <a:ea typeface="Aptos"/>
                <a:cs typeface="Aptos"/>
              </a:defRPr>
            </a:pPr>
            <a:r>
              <a:rPr sz="1050" b="1">
                <a:solidFill>
                  <a:srgbClr val="5E6872"/>
                </a:solidFill>
                <a:latin typeface="Aptos"/>
                <a:ea typeface="Aptos"/>
                <a:cs typeface="Aptos"/>
              </a:rPr>
              <a:t>input tensor</a:t>
            </a:r>
          </a:p>
        </p:txBody>
      </p:sp>
      <p:sp>
        <p:nvSpPr>
          <p:cNvPr id="20" name="">
            <a:extLst xmlns:a="http://schemas.openxmlformats.org/drawingml/2006/main">
              <a:ext uri="{FF2B5EF4-FFF2-40B4-BE49-F238E27FC236}">
                <a16:creationId xmlns:a16="http://schemas.microsoft.com/office/drawing/2014/main" id="{32370D15-BCCC-4586-8811-98708C8B2118}"/>
              </a:ext>
            </a:extLst>
          </p:cNvPr>
          <p:cNvSpPr>
            <a:spLocks xmlns:a="http://schemas.openxmlformats.org/drawingml/2006/main" noGrp="1"/>
          </p:cNvSpPr>
          <p:nvPr/>
        </p:nvSpPr>
        <p:spPr>
          <a:xfrm xmlns:a="http://schemas.openxmlformats.org/drawingml/2006/main">
            <a:off x="6457950" y="2533650"/>
            <a:ext cx="2266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E6872"/>
                </a:solidFill>
                <a:latin typeface="Aptos"/>
                <a:ea typeface="Aptos"/>
                <a:cs typeface="Aptos"/>
              </a:defRPr>
            </a:pPr>
            <a:r>
              <a:rPr sz="825" b="0">
                <a:solidFill>
                  <a:srgbClr val="5E6872"/>
                </a:solidFill>
                <a:latin typeface="Aptos"/>
                <a:ea typeface="Aptos"/>
                <a:cs typeface="Aptos"/>
              </a:rPr>
              <a:t>RGB image resized before inference</a:t>
            </a:r>
          </a:p>
        </p:txBody>
      </p:sp>
      <p:sp>
        <p:nvSpPr>
          <p:cNvPr id="21" name="">
            <a:extLst xmlns:a="http://schemas.openxmlformats.org/drawingml/2006/main">
              <a:ext uri="{FF2B5EF4-FFF2-40B4-BE49-F238E27FC236}">
                <a16:creationId xmlns:a16="http://schemas.microsoft.com/office/drawing/2014/main" id="{DBFEF785-804B-48BA-887B-7D9E8861DD10}"/>
              </a:ext>
            </a:extLst>
          </p:cNvPr>
          <p:cNvSpPr>
            <a:spLocks xmlns:a="http://schemas.openxmlformats.org/drawingml/2006/main" noGrp="1"/>
          </p:cNvSpPr>
          <p:nvPr/>
        </p:nvSpPr>
        <p:spPr>
          <a:xfrm xmlns:a="http://schemas.openxmlformats.org/drawingml/2006/main">
            <a:off x="9144000" y="1809750"/>
            <a:ext cx="22860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00B55F21-31C7-4A58-887D-7EF8605F7857}"/>
              </a:ext>
            </a:extLst>
          </p:cNvPr>
          <p:cNvSpPr>
            <a:spLocks xmlns:a="http://schemas.openxmlformats.org/drawingml/2006/main" noGrp="1"/>
          </p:cNvSpPr>
          <p:nvPr/>
        </p:nvSpPr>
        <p:spPr>
          <a:xfrm xmlns:a="http://schemas.openxmlformats.org/drawingml/2006/main">
            <a:off x="9144000" y="1809750"/>
            <a:ext cx="2286000" cy="47625"/>
          </a:xfrm>
          <a:prstGeom xmlns:a="http://schemas.openxmlformats.org/drawingml/2006/main" prst="rect">
            <a:avLst/>
          </a:prstGeom>
          <a:solidFill xmlns:a="http://schemas.openxmlformats.org/drawingml/2006/main">
            <a:srgbClr val="F2A900"/>
          </a:solidFill>
          <a:ln xmlns:a="http://schemas.openxmlformats.org/drawingml/2006/main" w="0">
            <a:solidFill>
              <a:srgbClr val="000000">
                <a:alpha val="0"/>
              </a:srgbClr>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ff1bb5d6923e4416">
            <a:extLst>
              <a:ext uri="{96DAC541-7B7A-43D3-8B79-37D633B846F1}">
                <asvg:svgBlip xmlns:asvg="http://schemas.microsoft.com/office/drawing/2016/SVG/main" r:embed="R14e468fa2f87496d"/>
              </a:ext>
            </a:extLst>
          </a:blip>
          <a:stretch xmlns:a="http://schemas.openxmlformats.org/drawingml/2006/main"/>
        </p:blipFill>
        <p:spPr>
          <a:xfrm xmlns:a="http://schemas.openxmlformats.org/drawingml/2006/main">
            <a:off x="9296400" y="2000250"/>
            <a:ext cx="266700" cy="2667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265EDB1E-0EE2-44F6-A6C3-726A1E7CA2D0}"/>
              </a:ext>
            </a:extLst>
          </p:cNvPr>
          <p:cNvSpPr>
            <a:spLocks xmlns:a="http://schemas.openxmlformats.org/drawingml/2006/main" noGrp="1"/>
          </p:cNvSpPr>
          <p:nvPr/>
        </p:nvSpPr>
        <p:spPr>
          <a:xfrm xmlns:a="http://schemas.openxmlformats.org/drawingml/2006/main">
            <a:off x="9658350" y="1962150"/>
            <a:ext cx="1638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820"/>
                </a:solidFill>
                <a:latin typeface="Aptos"/>
                <a:ea typeface="Aptos"/>
                <a:cs typeface="Aptos"/>
              </a:defRPr>
            </a:pPr>
            <a:r>
              <a:rPr sz="1950" b="1">
                <a:solidFill>
                  <a:srgbClr val="101820"/>
                </a:solidFill>
                <a:latin typeface="Aptos"/>
                <a:ea typeface="Aptos"/>
                <a:cs typeface="Aptos"/>
              </a:rPr>
              <a:t>118.3 ms</a:t>
            </a:r>
          </a:p>
        </p:txBody>
      </p:sp>
      <p:sp>
        <p:nvSpPr>
          <p:cNvPr id="25" name="">
            <a:extLst xmlns:a="http://schemas.openxmlformats.org/drawingml/2006/main">
              <a:ext uri="{FF2B5EF4-FFF2-40B4-BE49-F238E27FC236}">
                <a16:creationId xmlns:a16="http://schemas.microsoft.com/office/drawing/2014/main" id="{99462637-39DC-4DE5-91E0-BDD4913F9F7E}"/>
              </a:ext>
            </a:extLst>
          </p:cNvPr>
          <p:cNvSpPr>
            <a:spLocks xmlns:a="http://schemas.openxmlformats.org/drawingml/2006/main" noGrp="1"/>
          </p:cNvSpPr>
          <p:nvPr/>
        </p:nvSpPr>
        <p:spPr>
          <a:xfrm xmlns:a="http://schemas.openxmlformats.org/drawingml/2006/main">
            <a:off x="9315450" y="2343150"/>
            <a:ext cx="1981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5E6872"/>
                </a:solidFill>
                <a:latin typeface="Aptos"/>
                <a:ea typeface="Aptos"/>
                <a:cs typeface="Aptos"/>
              </a:defRPr>
            </a:pPr>
            <a:r>
              <a:rPr sz="1050" b="1">
                <a:solidFill>
                  <a:srgbClr val="5E6872"/>
                </a:solidFill>
                <a:latin typeface="Aptos"/>
                <a:ea typeface="Aptos"/>
                <a:cs typeface="Aptos"/>
              </a:rPr>
              <a:t>reported model step</a:t>
            </a:r>
          </a:p>
        </p:txBody>
      </p:sp>
      <p:sp>
        <p:nvSpPr>
          <p:cNvPr id="26" name="">
            <a:extLst xmlns:a="http://schemas.openxmlformats.org/drawingml/2006/main">
              <a:ext uri="{FF2B5EF4-FFF2-40B4-BE49-F238E27FC236}">
                <a16:creationId xmlns:a16="http://schemas.microsoft.com/office/drawing/2014/main" id="{43ED0EC3-A26A-4A04-B0A7-5E86D7A8E121}"/>
              </a:ext>
            </a:extLst>
          </p:cNvPr>
          <p:cNvSpPr>
            <a:spLocks xmlns:a="http://schemas.openxmlformats.org/drawingml/2006/main" noGrp="1"/>
          </p:cNvSpPr>
          <p:nvPr/>
        </p:nvSpPr>
        <p:spPr>
          <a:xfrm xmlns:a="http://schemas.openxmlformats.org/drawingml/2006/main">
            <a:off x="9315450" y="2533650"/>
            <a:ext cx="1981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E6872"/>
                </a:solidFill>
                <a:latin typeface="Aptos"/>
                <a:ea typeface="Aptos"/>
                <a:cs typeface="Aptos"/>
              </a:defRPr>
            </a:pPr>
            <a:r>
              <a:rPr sz="825" b="0">
                <a:solidFill>
                  <a:srgbClr val="5E6872"/>
                </a:solidFill>
                <a:latin typeface="Aptos"/>
                <a:ea typeface="Aptos"/>
                <a:cs typeface="Aptos"/>
              </a:rPr>
              <a:t>Espressif ESP32-S3 timing</a:t>
            </a:r>
          </a:p>
        </p:txBody>
      </p:sp>
      <p:sp>
        <p:nvSpPr>
          <p:cNvPr id="27" name="">
            <a:extLst xmlns:a="http://schemas.openxmlformats.org/drawingml/2006/main">
              <a:ext uri="{FF2B5EF4-FFF2-40B4-BE49-F238E27FC236}">
                <a16:creationId xmlns:a16="http://schemas.microsoft.com/office/drawing/2014/main" id="{AC9F7482-59B2-4510-9F6D-3800AFA9A867}"/>
              </a:ext>
            </a:extLst>
          </p:cNvPr>
          <p:cNvSpPr>
            <a:spLocks xmlns:a="http://schemas.openxmlformats.org/drawingml/2006/main" noGrp="1"/>
          </p:cNvSpPr>
          <p:nvPr/>
        </p:nvSpPr>
        <p:spPr>
          <a:xfrm xmlns:a="http://schemas.openxmlformats.org/drawingml/2006/main">
            <a:off x="819150" y="3733800"/>
            <a:ext cx="2381250" cy="13144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28" name="">
            <a:extLst xmlns:a="http://schemas.openxmlformats.org/drawingml/2006/main">
              <a:ext uri="{FF2B5EF4-FFF2-40B4-BE49-F238E27FC236}">
                <a16:creationId xmlns:a16="http://schemas.microsoft.com/office/drawing/2014/main" id="{32A262DC-CFEF-4B5A-BA62-B7EF5A2C8D6F}"/>
              </a:ext>
            </a:extLst>
          </p:cNvPr>
          <p:cNvSpPr>
            <a:spLocks xmlns:a="http://schemas.openxmlformats.org/drawingml/2006/main" noGrp="1"/>
          </p:cNvSpPr>
          <p:nvPr/>
        </p:nvSpPr>
        <p:spPr>
          <a:xfrm xmlns:a="http://schemas.openxmlformats.org/drawingml/2006/main">
            <a:off x="819150" y="3733800"/>
            <a:ext cx="2381250" cy="47625"/>
          </a:xfrm>
          <a:prstGeom xmlns:a="http://schemas.openxmlformats.org/drawingml/2006/main" prst="rect">
            <a:avLst/>
          </a:prstGeom>
          <a:solidFill xmlns:a="http://schemas.openxmlformats.org/drawingml/2006/main">
            <a:srgbClr val="C32832"/>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146558CD-DE94-4E24-9BA7-A26954BD3246}"/>
              </a:ext>
            </a:extLst>
          </p:cNvPr>
          <p:cNvSpPr>
            <a:spLocks xmlns:a="http://schemas.openxmlformats.org/drawingml/2006/main" noGrp="1"/>
          </p:cNvSpPr>
          <p:nvPr/>
        </p:nvSpPr>
        <p:spPr>
          <a:xfrm xmlns:a="http://schemas.openxmlformats.org/drawingml/2006/main">
            <a:off x="952500" y="3886200"/>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C32832"/>
                </a:solidFill>
                <a:latin typeface="Aptos"/>
                <a:ea typeface="Aptos"/>
                <a:cs typeface="Aptos"/>
              </a:defRPr>
            </a:pPr>
            <a:r>
              <a:rPr sz="1800" b="1">
                <a:solidFill>
                  <a:srgbClr val="C32832"/>
                </a:solidFill>
                <a:latin typeface="Aptos"/>
                <a:ea typeface="Aptos"/>
                <a:cs typeface="Aptos"/>
              </a:rPr>
              <a:t>1</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f383641fe3cc4cd8">
            <a:extLst>
              <a:ext uri="{96DAC541-7B7A-43D3-8B79-37D633B846F1}">
                <asvg:svgBlip xmlns:asvg="http://schemas.microsoft.com/office/drawing/2016/SVG/main" r:embed="R8e766f2d62a748dc"/>
              </a:ext>
            </a:extLst>
          </a:blip>
          <a:stretch xmlns:a="http://schemas.openxmlformats.org/drawingml/2006/main"/>
        </p:blipFill>
        <p:spPr>
          <a:xfrm xmlns:a="http://schemas.openxmlformats.org/drawingml/2006/main">
            <a:off x="2743200" y="3886200"/>
            <a:ext cx="266700" cy="26670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BE623E53-F80C-44A8-A17F-F5E62F11EC70}"/>
              </a:ext>
            </a:extLst>
          </p:cNvPr>
          <p:cNvSpPr>
            <a:spLocks xmlns:a="http://schemas.openxmlformats.org/drawingml/2006/main" noGrp="1"/>
          </p:cNvSpPr>
          <p:nvPr/>
        </p:nvSpPr>
        <p:spPr>
          <a:xfrm xmlns:a="http://schemas.openxmlformats.org/drawingml/2006/main">
            <a:off x="971550" y="4286250"/>
            <a:ext cx="2114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a:ea typeface="Aptos"/>
                <a:cs typeface="Aptos"/>
              </a:defRPr>
            </a:pPr>
            <a:r>
              <a:rPr sz="1350" b="1">
                <a:solidFill>
                  <a:srgbClr val="101820"/>
                </a:solidFill>
                <a:latin typeface="Aptos"/>
                <a:ea typeface="Aptos"/>
                <a:cs typeface="Aptos"/>
              </a:rPr>
              <a:t>Frame</a:t>
            </a:r>
          </a:p>
        </p:txBody>
      </p:sp>
      <p:sp>
        <p:nvSpPr>
          <p:cNvPr id="32" name="">
            <a:extLst xmlns:a="http://schemas.openxmlformats.org/drawingml/2006/main">
              <a:ext uri="{FF2B5EF4-FFF2-40B4-BE49-F238E27FC236}">
                <a16:creationId xmlns:a16="http://schemas.microsoft.com/office/drawing/2014/main" id="{F8DC9B77-8A52-45D0-8AEF-F6BC80E9473D}"/>
              </a:ext>
            </a:extLst>
          </p:cNvPr>
          <p:cNvSpPr>
            <a:spLocks xmlns:a="http://schemas.openxmlformats.org/drawingml/2006/main" noGrp="1"/>
          </p:cNvSpPr>
          <p:nvPr/>
        </p:nvSpPr>
        <p:spPr>
          <a:xfrm xmlns:a="http://schemas.openxmlformats.org/drawingml/2006/main">
            <a:off x="971550" y="4572000"/>
            <a:ext cx="21145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E6872"/>
                </a:solidFill>
                <a:latin typeface="Aptos"/>
                <a:ea typeface="Aptos"/>
                <a:cs typeface="Aptos"/>
              </a:defRPr>
            </a:pPr>
            <a:r>
              <a:rPr sz="900" b="0">
                <a:solidFill>
                  <a:srgbClr val="5E6872"/>
                </a:solidFill>
                <a:latin typeface="Aptos"/>
                <a:ea typeface="Aptos"/>
                <a:cs typeface="Aptos"/>
              </a:rPr>
              <a:t>RGB565 camera frame from ESP32-S3-EYE</a:t>
            </a:r>
          </a:p>
        </p:txBody>
      </p:sp>
      <p:sp>
        <p:nvSpPr>
          <p:cNvPr id="33" name="">
            <a:extLst xmlns:a="http://schemas.openxmlformats.org/drawingml/2006/main">
              <a:ext uri="{FF2B5EF4-FFF2-40B4-BE49-F238E27FC236}">
                <a16:creationId xmlns:a16="http://schemas.microsoft.com/office/drawing/2014/main" id="{7ED6C6AC-2602-4D41-8008-003993D62D58}"/>
              </a:ext>
            </a:extLst>
          </p:cNvPr>
          <p:cNvSpPr>
            <a:spLocks xmlns:a="http://schemas.openxmlformats.org/drawingml/2006/main" noGrp="1"/>
          </p:cNvSpPr>
          <p:nvPr/>
        </p:nvSpPr>
        <p:spPr>
          <a:xfrm xmlns:a="http://schemas.openxmlformats.org/drawingml/2006/main">
            <a:off x="3276600" y="4381500"/>
            <a:ext cx="285750" cy="38100"/>
          </a:xfrm>
          <a:prstGeom xmlns:a="http://schemas.openxmlformats.org/drawingml/2006/main" prst="rect">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7E8951F3-9FA3-4342-BEF3-1047F774AFDE}"/>
              </a:ext>
            </a:extLst>
          </p:cNvPr>
          <p:cNvSpPr>
            <a:spLocks xmlns:a="http://schemas.openxmlformats.org/drawingml/2006/main" noGrp="1"/>
          </p:cNvSpPr>
          <p:nvPr/>
        </p:nvSpPr>
        <p:spPr>
          <a:xfrm xmlns:a="http://schemas.openxmlformats.org/drawingml/2006/main">
            <a:off x="3495675" y="4333875"/>
            <a:ext cx="133350" cy="133350"/>
          </a:xfrm>
          <a:prstGeom xmlns:a="http://schemas.openxmlformats.org/drawingml/2006/main" prst="ellipse">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5907ACCD-DC59-41A2-B9F0-A7AEFEFE716B}"/>
              </a:ext>
            </a:extLst>
          </p:cNvPr>
          <p:cNvSpPr>
            <a:spLocks xmlns:a="http://schemas.openxmlformats.org/drawingml/2006/main" noGrp="1"/>
          </p:cNvSpPr>
          <p:nvPr/>
        </p:nvSpPr>
        <p:spPr>
          <a:xfrm xmlns:a="http://schemas.openxmlformats.org/drawingml/2006/main">
            <a:off x="3638550" y="3733800"/>
            <a:ext cx="2381250" cy="13144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36" name="">
            <a:extLst xmlns:a="http://schemas.openxmlformats.org/drawingml/2006/main">
              <a:ext uri="{FF2B5EF4-FFF2-40B4-BE49-F238E27FC236}">
                <a16:creationId xmlns:a16="http://schemas.microsoft.com/office/drawing/2014/main" id="{881B57AE-017D-401D-9263-8DF5F98ED2FE}"/>
              </a:ext>
            </a:extLst>
          </p:cNvPr>
          <p:cNvSpPr>
            <a:spLocks xmlns:a="http://schemas.openxmlformats.org/drawingml/2006/main" noGrp="1"/>
          </p:cNvSpPr>
          <p:nvPr/>
        </p:nvSpPr>
        <p:spPr>
          <a:xfrm xmlns:a="http://schemas.openxmlformats.org/drawingml/2006/main">
            <a:off x="3638550" y="3733800"/>
            <a:ext cx="2381250" cy="47625"/>
          </a:xfrm>
          <a:prstGeom xmlns:a="http://schemas.openxmlformats.org/drawingml/2006/main" prst="rect">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9CD4BCE3-2391-46EE-A93A-954CB2DAD905}"/>
              </a:ext>
            </a:extLst>
          </p:cNvPr>
          <p:cNvSpPr>
            <a:spLocks xmlns:a="http://schemas.openxmlformats.org/drawingml/2006/main" noGrp="1"/>
          </p:cNvSpPr>
          <p:nvPr/>
        </p:nvSpPr>
        <p:spPr>
          <a:xfrm xmlns:a="http://schemas.openxmlformats.org/drawingml/2006/main">
            <a:off x="3771900" y="3886200"/>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0E7C86"/>
                </a:solidFill>
                <a:latin typeface="Aptos"/>
                <a:ea typeface="Aptos"/>
                <a:cs typeface="Aptos"/>
              </a:defRPr>
            </a:pPr>
            <a:r>
              <a:rPr sz="1800" b="1">
                <a:solidFill>
                  <a:srgbClr val="0E7C86"/>
                </a:solidFill>
                <a:latin typeface="Aptos"/>
                <a:ea typeface="Aptos"/>
                <a:cs typeface="Aptos"/>
              </a:rPr>
              <a:t>2</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0a89fb682c1748db">
            <a:extLst>
              <a:ext uri="{96DAC541-7B7A-43D3-8B79-37D633B846F1}">
                <asvg:svgBlip xmlns:asvg="http://schemas.microsoft.com/office/drawing/2016/SVG/main" r:embed="R5619572ca90c478c"/>
              </a:ext>
            </a:extLst>
          </a:blip>
          <a:stretch xmlns:a="http://schemas.openxmlformats.org/drawingml/2006/main"/>
        </p:blipFill>
        <p:spPr>
          <a:xfrm xmlns:a="http://schemas.openxmlformats.org/drawingml/2006/main">
            <a:off x="5562600" y="3886200"/>
            <a:ext cx="266700" cy="266700"/>
          </a:xfrm>
          <a:prstGeom xmlns:a="http://schemas.openxmlformats.org/drawingml/2006/main" prst="rect">
            <a:avLst/>
          </a:prstGeom>
        </p:spPr>
      </p:pic>
      <p:sp>
        <p:nvSpPr>
          <p:cNvPr id="39" name="">
            <a:extLst xmlns:a="http://schemas.openxmlformats.org/drawingml/2006/main">
              <a:ext uri="{FF2B5EF4-FFF2-40B4-BE49-F238E27FC236}">
                <a16:creationId xmlns:a16="http://schemas.microsoft.com/office/drawing/2014/main" id="{EA4A2C20-BADC-4D0B-842E-14B4FF0C1D09}"/>
              </a:ext>
            </a:extLst>
          </p:cNvPr>
          <p:cNvSpPr>
            <a:spLocks xmlns:a="http://schemas.openxmlformats.org/drawingml/2006/main" noGrp="1"/>
          </p:cNvSpPr>
          <p:nvPr/>
        </p:nvSpPr>
        <p:spPr>
          <a:xfrm xmlns:a="http://schemas.openxmlformats.org/drawingml/2006/main">
            <a:off x="3790950" y="4286250"/>
            <a:ext cx="2114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a:ea typeface="Aptos"/>
                <a:cs typeface="Aptos"/>
              </a:defRPr>
            </a:pPr>
            <a:r>
              <a:rPr sz="1350" b="1">
                <a:solidFill>
                  <a:srgbClr val="101820"/>
                </a:solidFill>
                <a:latin typeface="Aptos"/>
                <a:ea typeface="Aptos"/>
                <a:cs typeface="Aptos"/>
              </a:rPr>
              <a:t>Preprocess</a:t>
            </a:r>
          </a:p>
        </p:txBody>
      </p:sp>
      <p:sp>
        <p:nvSpPr>
          <p:cNvPr id="40" name="">
            <a:extLst xmlns:a="http://schemas.openxmlformats.org/drawingml/2006/main">
              <a:ext uri="{FF2B5EF4-FFF2-40B4-BE49-F238E27FC236}">
                <a16:creationId xmlns:a16="http://schemas.microsoft.com/office/drawing/2014/main" id="{D4E7B30F-118B-40BB-9D7E-00E4EEE9B7C5}"/>
              </a:ext>
            </a:extLst>
          </p:cNvPr>
          <p:cNvSpPr>
            <a:spLocks xmlns:a="http://schemas.openxmlformats.org/drawingml/2006/main" noGrp="1"/>
          </p:cNvSpPr>
          <p:nvPr/>
        </p:nvSpPr>
        <p:spPr>
          <a:xfrm xmlns:a="http://schemas.openxmlformats.org/drawingml/2006/main">
            <a:off x="3790950" y="4572000"/>
            <a:ext cx="21145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E6872"/>
                </a:solidFill>
                <a:latin typeface="Aptos"/>
                <a:ea typeface="Aptos"/>
                <a:cs typeface="Aptos"/>
              </a:defRPr>
            </a:pPr>
            <a:r>
              <a:rPr sz="900" b="0">
                <a:solidFill>
                  <a:srgbClr val="5E6872"/>
                </a:solidFill>
                <a:latin typeface="Aptos"/>
                <a:ea typeface="Aptos"/>
                <a:cs typeface="Aptos"/>
              </a:rPr>
              <a:t>resize and format for 224x224x3 input</a:t>
            </a:r>
          </a:p>
        </p:txBody>
      </p:sp>
      <p:sp>
        <p:nvSpPr>
          <p:cNvPr id="41" name="">
            <a:extLst xmlns:a="http://schemas.openxmlformats.org/drawingml/2006/main">
              <a:ext uri="{FF2B5EF4-FFF2-40B4-BE49-F238E27FC236}">
                <a16:creationId xmlns:a16="http://schemas.microsoft.com/office/drawing/2014/main" id="{714C9AB6-6E79-4028-B8A1-80E12C9FB741}"/>
              </a:ext>
            </a:extLst>
          </p:cNvPr>
          <p:cNvSpPr>
            <a:spLocks xmlns:a="http://schemas.openxmlformats.org/drawingml/2006/main" noGrp="1"/>
          </p:cNvSpPr>
          <p:nvPr/>
        </p:nvSpPr>
        <p:spPr>
          <a:xfrm xmlns:a="http://schemas.openxmlformats.org/drawingml/2006/main">
            <a:off x="6096000" y="4381500"/>
            <a:ext cx="285750" cy="38100"/>
          </a:xfrm>
          <a:prstGeom xmlns:a="http://schemas.openxmlformats.org/drawingml/2006/main" prst="rect">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E8DEBB1D-4536-42FF-8F48-B6F36698F774}"/>
              </a:ext>
            </a:extLst>
          </p:cNvPr>
          <p:cNvSpPr>
            <a:spLocks xmlns:a="http://schemas.openxmlformats.org/drawingml/2006/main" noGrp="1"/>
          </p:cNvSpPr>
          <p:nvPr/>
        </p:nvSpPr>
        <p:spPr>
          <a:xfrm xmlns:a="http://schemas.openxmlformats.org/drawingml/2006/main">
            <a:off x="6315075" y="4333875"/>
            <a:ext cx="133350" cy="133350"/>
          </a:xfrm>
          <a:prstGeom xmlns:a="http://schemas.openxmlformats.org/drawingml/2006/main" prst="ellipse">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14819CC9-683F-4DCA-857F-A2193F9F3398}"/>
              </a:ext>
            </a:extLst>
          </p:cNvPr>
          <p:cNvSpPr>
            <a:spLocks xmlns:a="http://schemas.openxmlformats.org/drawingml/2006/main" noGrp="1"/>
          </p:cNvSpPr>
          <p:nvPr/>
        </p:nvSpPr>
        <p:spPr>
          <a:xfrm xmlns:a="http://schemas.openxmlformats.org/drawingml/2006/main">
            <a:off x="6457950" y="3733800"/>
            <a:ext cx="2381250" cy="13144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44" name="">
            <a:extLst xmlns:a="http://schemas.openxmlformats.org/drawingml/2006/main">
              <a:ext uri="{FF2B5EF4-FFF2-40B4-BE49-F238E27FC236}">
                <a16:creationId xmlns:a16="http://schemas.microsoft.com/office/drawing/2014/main" id="{4D3EE183-17A5-44A0-94D4-1AB306CA8859}"/>
              </a:ext>
            </a:extLst>
          </p:cNvPr>
          <p:cNvSpPr>
            <a:spLocks xmlns:a="http://schemas.openxmlformats.org/drawingml/2006/main" noGrp="1"/>
          </p:cNvSpPr>
          <p:nvPr/>
        </p:nvSpPr>
        <p:spPr>
          <a:xfrm xmlns:a="http://schemas.openxmlformats.org/drawingml/2006/main">
            <a:off x="6457950" y="3733800"/>
            <a:ext cx="2381250" cy="47625"/>
          </a:xfrm>
          <a:prstGeom xmlns:a="http://schemas.openxmlformats.org/drawingml/2006/main" prst="rect">
            <a:avLst/>
          </a:prstGeom>
          <a:solidFill xmlns:a="http://schemas.openxmlformats.org/drawingml/2006/main">
            <a:srgbClr val="2E5EAA"/>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07EA5766-017D-4C67-971E-DE7E2485F7DE}"/>
              </a:ext>
            </a:extLst>
          </p:cNvPr>
          <p:cNvSpPr>
            <a:spLocks xmlns:a="http://schemas.openxmlformats.org/drawingml/2006/main" noGrp="1"/>
          </p:cNvSpPr>
          <p:nvPr/>
        </p:nvSpPr>
        <p:spPr>
          <a:xfrm xmlns:a="http://schemas.openxmlformats.org/drawingml/2006/main">
            <a:off x="6591300" y="3886200"/>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2E5EAA"/>
                </a:solidFill>
                <a:latin typeface="Aptos"/>
                <a:ea typeface="Aptos"/>
                <a:cs typeface="Aptos"/>
              </a:defRPr>
            </a:pPr>
            <a:r>
              <a:rPr sz="1800" b="1">
                <a:solidFill>
                  <a:srgbClr val="2E5EAA"/>
                </a:solidFill>
                <a:latin typeface="Aptos"/>
                <a:ea typeface="Aptos"/>
                <a:cs typeface="Aptos"/>
              </a:rPr>
              <a:t>3</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572dc44ffcbe4696">
            <a:extLst>
              <a:ext uri="{96DAC541-7B7A-43D3-8B79-37D633B846F1}">
                <asvg:svgBlip xmlns:asvg="http://schemas.microsoft.com/office/drawing/2016/SVG/main" r:embed="R6007229c956f490b"/>
              </a:ext>
            </a:extLst>
          </a:blip>
          <a:stretch xmlns:a="http://schemas.openxmlformats.org/drawingml/2006/main"/>
        </p:blipFill>
        <p:spPr>
          <a:xfrm xmlns:a="http://schemas.openxmlformats.org/drawingml/2006/main">
            <a:off x="8382000" y="3886200"/>
            <a:ext cx="266700" cy="266700"/>
          </a:xfrm>
          <a:prstGeom xmlns:a="http://schemas.openxmlformats.org/drawingml/2006/main" prst="rect">
            <a:avLst/>
          </a:prstGeom>
        </p:spPr>
      </p:pic>
      <p:sp>
        <p:nvSpPr>
          <p:cNvPr id="47" name="">
            <a:extLst xmlns:a="http://schemas.openxmlformats.org/drawingml/2006/main">
              <a:ext uri="{FF2B5EF4-FFF2-40B4-BE49-F238E27FC236}">
                <a16:creationId xmlns:a16="http://schemas.microsoft.com/office/drawing/2014/main" id="{22572C27-7D11-47B1-8965-029CB01AF531}"/>
              </a:ext>
            </a:extLst>
          </p:cNvPr>
          <p:cNvSpPr>
            <a:spLocks xmlns:a="http://schemas.openxmlformats.org/drawingml/2006/main" noGrp="1"/>
          </p:cNvSpPr>
          <p:nvPr/>
        </p:nvSpPr>
        <p:spPr>
          <a:xfrm xmlns:a="http://schemas.openxmlformats.org/drawingml/2006/main">
            <a:off x="6610350" y="4286250"/>
            <a:ext cx="2114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a:ea typeface="Aptos"/>
                <a:cs typeface="Aptos"/>
              </a:defRPr>
            </a:pPr>
            <a:r>
              <a:rPr sz="1350" b="1">
                <a:solidFill>
                  <a:srgbClr val="101820"/>
                </a:solidFill>
                <a:latin typeface="Aptos"/>
                <a:ea typeface="Aptos"/>
                <a:cs typeface="Aptos"/>
              </a:rPr>
              <a:t>Infer</a:t>
            </a:r>
          </a:p>
        </p:txBody>
      </p:sp>
      <p:sp>
        <p:nvSpPr>
          <p:cNvPr id="48" name="">
            <a:extLst xmlns:a="http://schemas.openxmlformats.org/drawingml/2006/main">
              <a:ext uri="{FF2B5EF4-FFF2-40B4-BE49-F238E27FC236}">
                <a16:creationId xmlns:a16="http://schemas.microsoft.com/office/drawing/2014/main" id="{3512AD4A-5FFA-47DE-AAA5-F4ADE1B3ADCB}"/>
              </a:ext>
            </a:extLst>
          </p:cNvPr>
          <p:cNvSpPr>
            <a:spLocks xmlns:a="http://schemas.openxmlformats.org/drawingml/2006/main" noGrp="1"/>
          </p:cNvSpPr>
          <p:nvPr/>
        </p:nvSpPr>
        <p:spPr>
          <a:xfrm xmlns:a="http://schemas.openxmlformats.org/drawingml/2006/main">
            <a:off x="6610350" y="4572000"/>
            <a:ext cx="21145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E6872"/>
                </a:solidFill>
                <a:latin typeface="Aptos"/>
                <a:ea typeface="Aptos"/>
                <a:cs typeface="Aptos"/>
              </a:defRPr>
            </a:pPr>
            <a:r>
              <a:rPr sz="900" b="0">
                <a:solidFill>
                  <a:srgbClr val="5E6872"/>
                </a:solidFill>
                <a:latin typeface="Aptos"/>
                <a:ea typeface="Aptos"/>
                <a:cs typeface="Aptos"/>
              </a:rPr>
              <a:t>PedestrianDetect calls ESP-DL model locally</a:t>
            </a:r>
          </a:p>
        </p:txBody>
      </p:sp>
      <p:sp>
        <p:nvSpPr>
          <p:cNvPr id="49" name="">
            <a:extLst xmlns:a="http://schemas.openxmlformats.org/drawingml/2006/main">
              <a:ext uri="{FF2B5EF4-FFF2-40B4-BE49-F238E27FC236}">
                <a16:creationId xmlns:a16="http://schemas.microsoft.com/office/drawing/2014/main" id="{0422EE1E-DA7B-47A6-962D-3EB856C903E1}"/>
              </a:ext>
            </a:extLst>
          </p:cNvPr>
          <p:cNvSpPr>
            <a:spLocks xmlns:a="http://schemas.openxmlformats.org/drawingml/2006/main" noGrp="1"/>
          </p:cNvSpPr>
          <p:nvPr/>
        </p:nvSpPr>
        <p:spPr>
          <a:xfrm xmlns:a="http://schemas.openxmlformats.org/drawingml/2006/main">
            <a:off x="8915400" y="4381500"/>
            <a:ext cx="285750" cy="38100"/>
          </a:xfrm>
          <a:prstGeom xmlns:a="http://schemas.openxmlformats.org/drawingml/2006/main" prst="rect">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BE7CE6AB-A320-4A56-887D-AC3CC681DD76}"/>
              </a:ext>
            </a:extLst>
          </p:cNvPr>
          <p:cNvSpPr>
            <a:spLocks xmlns:a="http://schemas.openxmlformats.org/drawingml/2006/main" noGrp="1"/>
          </p:cNvSpPr>
          <p:nvPr/>
        </p:nvSpPr>
        <p:spPr>
          <a:xfrm xmlns:a="http://schemas.openxmlformats.org/drawingml/2006/main">
            <a:off x="9134475" y="4333875"/>
            <a:ext cx="133350" cy="133350"/>
          </a:xfrm>
          <a:prstGeom xmlns:a="http://schemas.openxmlformats.org/drawingml/2006/main" prst="ellipse">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D93ABB3E-5FDA-4A59-AD2B-D1D07148FD08}"/>
              </a:ext>
            </a:extLst>
          </p:cNvPr>
          <p:cNvSpPr>
            <a:spLocks xmlns:a="http://schemas.openxmlformats.org/drawingml/2006/main" noGrp="1"/>
          </p:cNvSpPr>
          <p:nvPr/>
        </p:nvSpPr>
        <p:spPr>
          <a:xfrm xmlns:a="http://schemas.openxmlformats.org/drawingml/2006/main">
            <a:off x="9277350" y="3733800"/>
            <a:ext cx="2381250" cy="13144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52" name="">
            <a:extLst xmlns:a="http://schemas.openxmlformats.org/drawingml/2006/main">
              <a:ext uri="{FF2B5EF4-FFF2-40B4-BE49-F238E27FC236}">
                <a16:creationId xmlns:a16="http://schemas.microsoft.com/office/drawing/2014/main" id="{796AD3DF-F129-4433-9073-45D55BFC9596}"/>
              </a:ext>
            </a:extLst>
          </p:cNvPr>
          <p:cNvSpPr>
            <a:spLocks xmlns:a="http://schemas.openxmlformats.org/drawingml/2006/main" noGrp="1"/>
          </p:cNvSpPr>
          <p:nvPr/>
        </p:nvSpPr>
        <p:spPr>
          <a:xfrm xmlns:a="http://schemas.openxmlformats.org/drawingml/2006/main">
            <a:off x="9277350" y="3733800"/>
            <a:ext cx="2381250" cy="47625"/>
          </a:xfrm>
          <a:prstGeom xmlns:a="http://schemas.openxmlformats.org/drawingml/2006/main" prst="rect">
            <a:avLst/>
          </a:prstGeom>
          <a:solidFill xmlns:a="http://schemas.openxmlformats.org/drawingml/2006/main">
            <a:srgbClr val="2E7D46"/>
          </a:solidFill>
          <a:ln xmlns:a="http://schemas.openxmlformats.org/drawingml/2006/main" w="0">
            <a:solidFill>
              <a:srgbClr val="000000">
                <a:alpha val="0"/>
              </a:srgbClr>
            </a:solidFill>
            <a:prstDash val="solid"/>
          </a:ln>
        </p:spPr>
      </p:sp>
      <p:sp>
        <p:nvSpPr>
          <p:cNvPr id="53" name="">
            <a:extLst xmlns:a="http://schemas.openxmlformats.org/drawingml/2006/main">
              <a:ext uri="{FF2B5EF4-FFF2-40B4-BE49-F238E27FC236}">
                <a16:creationId xmlns:a16="http://schemas.microsoft.com/office/drawing/2014/main" id="{C7177D62-552D-4F1A-8972-FCF2D992811D}"/>
              </a:ext>
            </a:extLst>
          </p:cNvPr>
          <p:cNvSpPr>
            <a:spLocks xmlns:a="http://schemas.openxmlformats.org/drawingml/2006/main" noGrp="1"/>
          </p:cNvSpPr>
          <p:nvPr/>
        </p:nvSpPr>
        <p:spPr>
          <a:xfrm xmlns:a="http://schemas.openxmlformats.org/drawingml/2006/main">
            <a:off x="9410700" y="3886200"/>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2E7D46"/>
                </a:solidFill>
                <a:latin typeface="Aptos"/>
                <a:ea typeface="Aptos"/>
                <a:cs typeface="Aptos"/>
              </a:defRPr>
            </a:pPr>
            <a:r>
              <a:rPr sz="1800" b="1">
                <a:solidFill>
                  <a:srgbClr val="2E7D46"/>
                </a:solidFill>
                <a:latin typeface="Aptos"/>
                <a:ea typeface="Aptos"/>
                <a:cs typeface="Aptos"/>
              </a:rPr>
              <a:t>4</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4f71ea4e6c784c09">
            <a:extLst>
              <a:ext uri="{96DAC541-7B7A-43D3-8B79-37D633B846F1}">
                <asvg:svgBlip xmlns:asvg="http://schemas.microsoft.com/office/drawing/2016/SVG/main" r:embed="Rcc8ecacbce954692"/>
              </a:ext>
            </a:extLst>
          </a:blip>
          <a:stretch xmlns:a="http://schemas.openxmlformats.org/drawingml/2006/main"/>
        </p:blipFill>
        <p:spPr>
          <a:xfrm xmlns:a="http://schemas.openxmlformats.org/drawingml/2006/main">
            <a:off x="11201400" y="3886200"/>
            <a:ext cx="266700" cy="266700"/>
          </a:xfrm>
          <a:prstGeom xmlns:a="http://schemas.openxmlformats.org/drawingml/2006/main" prst="rect">
            <a:avLst/>
          </a:prstGeom>
        </p:spPr>
      </p:pic>
      <p:sp>
        <p:nvSpPr>
          <p:cNvPr id="55" name="">
            <a:extLst xmlns:a="http://schemas.openxmlformats.org/drawingml/2006/main">
              <a:ext uri="{FF2B5EF4-FFF2-40B4-BE49-F238E27FC236}">
                <a16:creationId xmlns:a16="http://schemas.microsoft.com/office/drawing/2014/main" id="{868B7842-5A77-4666-A8AF-324D6875DAB6}"/>
              </a:ext>
            </a:extLst>
          </p:cNvPr>
          <p:cNvSpPr>
            <a:spLocks xmlns:a="http://schemas.openxmlformats.org/drawingml/2006/main" noGrp="1"/>
          </p:cNvSpPr>
          <p:nvPr/>
        </p:nvSpPr>
        <p:spPr>
          <a:xfrm xmlns:a="http://schemas.openxmlformats.org/drawingml/2006/main">
            <a:off x="9429750" y="4286250"/>
            <a:ext cx="2114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a:ea typeface="Aptos"/>
                <a:cs typeface="Aptos"/>
              </a:defRPr>
            </a:pPr>
            <a:r>
              <a:rPr sz="1350" b="1">
                <a:solidFill>
                  <a:srgbClr val="101820"/>
                </a:solidFill>
                <a:latin typeface="Aptos"/>
                <a:ea typeface="Aptos"/>
                <a:cs typeface="Aptos"/>
              </a:rPr>
              <a:t>Result</a:t>
            </a:r>
          </a:p>
        </p:txBody>
      </p:sp>
      <p:sp>
        <p:nvSpPr>
          <p:cNvPr id="56" name="">
            <a:extLst xmlns:a="http://schemas.openxmlformats.org/drawingml/2006/main">
              <a:ext uri="{FF2B5EF4-FFF2-40B4-BE49-F238E27FC236}">
                <a16:creationId xmlns:a16="http://schemas.microsoft.com/office/drawing/2014/main" id="{12F8481A-3207-4EC4-9E72-2DF590FD61AF}"/>
              </a:ext>
            </a:extLst>
          </p:cNvPr>
          <p:cNvSpPr>
            <a:spLocks xmlns:a="http://schemas.openxmlformats.org/drawingml/2006/main" noGrp="1"/>
          </p:cNvSpPr>
          <p:nvPr/>
        </p:nvSpPr>
        <p:spPr>
          <a:xfrm xmlns:a="http://schemas.openxmlformats.org/drawingml/2006/main">
            <a:off x="9429750" y="4572000"/>
            <a:ext cx="21145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E6872"/>
                </a:solidFill>
                <a:latin typeface="Aptos"/>
                <a:ea typeface="Aptos"/>
                <a:cs typeface="Aptos"/>
              </a:defRPr>
            </a:pPr>
            <a:r>
              <a:rPr sz="900" b="0">
                <a:solidFill>
                  <a:srgbClr val="5E6872"/>
                </a:solidFill>
                <a:latin typeface="Aptos"/>
                <a:ea typeface="Aptos"/>
                <a:cs typeface="Aptos"/>
              </a:rPr>
              <a:t>person box and confidence score returned</a:t>
            </a:r>
          </a:p>
        </p:txBody>
      </p:sp>
      <p:sp>
        <p:nvSpPr>
          <p:cNvPr id="57" name="">
            <a:extLst xmlns:a="http://schemas.openxmlformats.org/drawingml/2006/main">
              <a:ext uri="{FF2B5EF4-FFF2-40B4-BE49-F238E27FC236}">
                <a16:creationId xmlns:a16="http://schemas.microsoft.com/office/drawing/2014/main" id="{71245EB9-8B7F-4DDE-80A7-7809D867D2B1}"/>
              </a:ext>
            </a:extLst>
          </p:cNvPr>
          <p:cNvSpPr>
            <a:spLocks xmlns:a="http://schemas.openxmlformats.org/drawingml/2006/main" noGrp="1"/>
          </p:cNvSpPr>
          <p:nvPr/>
        </p:nvSpPr>
        <p:spPr>
          <a:xfrm xmlns:a="http://schemas.openxmlformats.org/drawingml/2006/main">
            <a:off x="1200150" y="5505450"/>
            <a:ext cx="97917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58" name="">
            <a:extLst xmlns:a="http://schemas.openxmlformats.org/drawingml/2006/main">
              <a:ext uri="{FF2B5EF4-FFF2-40B4-BE49-F238E27FC236}">
                <a16:creationId xmlns:a16="http://schemas.microsoft.com/office/drawing/2014/main" id="{17A8246C-E90C-4F26-871C-04510485C290}"/>
              </a:ext>
            </a:extLst>
          </p:cNvPr>
          <p:cNvSpPr>
            <a:spLocks xmlns:a="http://schemas.openxmlformats.org/drawingml/2006/main" noGrp="1"/>
          </p:cNvSpPr>
          <p:nvPr/>
        </p:nvSpPr>
        <p:spPr>
          <a:xfrm xmlns:a="http://schemas.openxmlformats.org/drawingml/2006/main">
            <a:off x="1428750" y="5657850"/>
            <a:ext cx="933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01820"/>
                </a:solidFill>
                <a:latin typeface="Aptos"/>
                <a:ea typeface="Aptos"/>
                <a:cs typeface="Aptos"/>
              </a:defRPr>
            </a:pPr>
            <a:r>
              <a:rPr sz="1350" b="1">
                <a:solidFill>
                  <a:srgbClr val="101820"/>
                </a:solidFill>
                <a:latin typeface="Aptos"/>
                <a:ea typeface="Aptos"/>
                <a:cs typeface="Aptos"/>
              </a:rPr>
              <a:t>Model artifact: pedestrian_detect_pico_s8_v1.espdl | Runtime: ESP-WHO + ESP-DL on ESP32-S3</a:t>
            </a:r>
          </a:p>
        </p:txBody>
      </p:sp>
      <p:sp>
        <p:nvSpPr>
          <p:cNvPr id="59" name="">
            <a:extLst xmlns:a="http://schemas.openxmlformats.org/drawingml/2006/main">
              <a:ext uri="{FF2B5EF4-FFF2-40B4-BE49-F238E27FC236}">
                <a16:creationId xmlns:a16="http://schemas.microsoft.com/office/drawing/2014/main" id="{6072D6DE-88EB-4AF6-B962-8CDA7FF17A41}"/>
              </a:ext>
            </a:extLst>
          </p:cNvPr>
          <p:cNvSpPr>
            <a:spLocks xmlns:a="http://schemas.openxmlformats.org/drawingml/2006/main" noGrp="1"/>
          </p:cNvSpPr>
          <p:nvPr/>
        </p:nvSpPr>
        <p:spPr>
          <a:xfrm xmlns:a="http://schemas.openxmlformats.org/drawingml/2006/main">
            <a:off x="552450" y="64579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E6872"/>
                </a:solidFill>
                <a:latin typeface="Aptos"/>
                <a:ea typeface="Aptos"/>
                <a:cs typeface="Aptos"/>
              </a:defRPr>
            </a:pPr>
            <a:r>
              <a:rPr sz="1050" b="0">
                <a:solidFill>
                  <a:srgbClr val="5E6872"/>
                </a:solidFill>
                <a:latin typeface="Aptos"/>
                <a:ea typeface="Aptos"/>
                <a:cs typeface="Aptos"/>
              </a:rPr>
              <a:t>Smart Visual Alarm System | 05</a:t>
            </a:r>
          </a:p>
        </p:txBody>
      </p:sp>
    </p:spTree>
    <p:extLst>
      <p:ext uri="{BB962C8B-B14F-4D97-AF65-F5344CB8AC3E}">
        <p14:creationId xmlns:p14="http://schemas.microsoft.com/office/powerpoint/2010/main" val="31024632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46F7270-7B7F-48A1-B0F0-5478F057B6A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B4453DA-06F6-425E-B080-2527AEBE6BC6}"/>
              </a:ext>
            </a:extLst>
          </p:cNvPr>
          <p:cNvSpPr>
            <a:spLocks xmlns:a="http://schemas.openxmlformats.org/drawingml/2006/main" noGrp="1"/>
          </p:cNvSpPr>
          <p:nvPr/>
        </p:nvSpPr>
        <p:spPr>
          <a:xfrm xmlns:a="http://schemas.openxmlformats.org/drawingml/2006/main">
            <a:off x="552450" y="438150"/>
            <a:ext cx="9334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01820"/>
                </a:solidFill>
                <a:latin typeface="Aptos Display"/>
                <a:ea typeface="Aptos Display"/>
                <a:cs typeface="Aptos Display"/>
              </a:defRPr>
            </a:pPr>
            <a:r>
              <a:rPr sz="3300" b="1">
                <a:solidFill>
                  <a:srgbClr val="101820"/>
                </a:solidFill>
                <a:latin typeface="Aptos Display"/>
                <a:ea typeface="Aptos Display"/>
                <a:cs typeface="Aptos Display"/>
              </a:rPr>
              <a:t>Confirmed detections become MQTT events</a:t>
            </a:r>
          </a:p>
        </p:txBody>
      </p:sp>
      <p:sp>
        <p:nvSpPr>
          <p:cNvPr id="3" name="">
            <a:extLst xmlns:a="http://schemas.openxmlformats.org/drawingml/2006/main">
              <a:ext uri="{FF2B5EF4-FFF2-40B4-BE49-F238E27FC236}">
                <a16:creationId xmlns:a16="http://schemas.microsoft.com/office/drawing/2014/main" id="{ACBFB1CE-6293-41FD-B960-C0CC399562B5}"/>
              </a:ext>
            </a:extLst>
          </p:cNvPr>
          <p:cNvSpPr>
            <a:spLocks xmlns:a="http://schemas.openxmlformats.org/drawingml/2006/main" noGrp="1"/>
          </p:cNvSpPr>
          <p:nvPr/>
        </p:nvSpPr>
        <p:spPr>
          <a:xfrm xmlns:a="http://schemas.openxmlformats.org/drawingml/2006/main">
            <a:off x="1047750" y="2819400"/>
            <a:ext cx="6953250" cy="47625"/>
          </a:xfrm>
          <a:prstGeom xmlns:a="http://schemas.openxmlformats.org/drawingml/2006/main" prst="rect">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15E9BC1-E54A-4568-883A-BB5A17DC484B}"/>
              </a:ext>
            </a:extLst>
          </p:cNvPr>
          <p:cNvSpPr>
            <a:spLocks xmlns:a="http://schemas.openxmlformats.org/drawingml/2006/main" noGrp="1"/>
          </p:cNvSpPr>
          <p:nvPr/>
        </p:nvSpPr>
        <p:spPr>
          <a:xfrm xmlns:a="http://schemas.openxmlformats.org/drawingml/2006/main">
            <a:off x="1095375" y="2695575"/>
            <a:ext cx="285750" cy="285750"/>
          </a:xfrm>
          <a:prstGeom xmlns:a="http://schemas.openxmlformats.org/drawingml/2006/main" prst="ellipse">
            <a:avLst/>
          </a:prstGeom>
          <a:solidFill xmlns:a="http://schemas.openxmlformats.org/drawingml/2006/main">
            <a:srgbClr val="C32832"/>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98BE9FA-9387-42E5-A3F3-DD766BA8CE77}"/>
              </a:ext>
            </a:extLst>
          </p:cNvPr>
          <p:cNvSpPr>
            <a:spLocks xmlns:a="http://schemas.openxmlformats.org/drawingml/2006/main" noGrp="1"/>
          </p:cNvSpPr>
          <p:nvPr/>
        </p:nvSpPr>
        <p:spPr>
          <a:xfrm xmlns:a="http://schemas.openxmlformats.org/drawingml/2006/main">
            <a:off x="1047750" y="2752725"/>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61ED15BF-FF60-4B5E-9E51-B30E258B074A}"/>
              </a:ext>
            </a:extLst>
          </p:cNvPr>
          <p:cNvSpPr>
            <a:spLocks xmlns:a="http://schemas.openxmlformats.org/drawingml/2006/main" noGrp="1"/>
          </p:cNvSpPr>
          <p:nvPr/>
        </p:nvSpPr>
        <p:spPr>
          <a:xfrm xmlns:a="http://schemas.openxmlformats.org/drawingml/2006/main">
            <a:off x="638175" y="3067050"/>
            <a:ext cx="1200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101820"/>
                </a:solidFill>
                <a:latin typeface="Aptos"/>
                <a:ea typeface="Aptos"/>
                <a:cs typeface="Aptos"/>
              </a:defRPr>
            </a:pPr>
            <a:r>
              <a:rPr sz="975" b="1">
                <a:solidFill>
                  <a:srgbClr val="101820"/>
                </a:solidFill>
                <a:latin typeface="Aptos"/>
                <a:ea typeface="Aptos"/>
                <a:cs typeface="Aptos"/>
              </a:rPr>
              <a:t>candidate seen</a:t>
            </a:r>
          </a:p>
        </p:txBody>
      </p:sp>
      <p:sp>
        <p:nvSpPr>
          <p:cNvPr id="7" name="">
            <a:extLst xmlns:a="http://schemas.openxmlformats.org/drawingml/2006/main">
              <a:ext uri="{FF2B5EF4-FFF2-40B4-BE49-F238E27FC236}">
                <a16:creationId xmlns:a16="http://schemas.microsoft.com/office/drawing/2014/main" id="{14D91868-26CD-42B2-87B6-04C1888CF663}"/>
              </a:ext>
            </a:extLst>
          </p:cNvPr>
          <p:cNvSpPr>
            <a:spLocks xmlns:a="http://schemas.openxmlformats.org/drawingml/2006/main" noGrp="1"/>
          </p:cNvSpPr>
          <p:nvPr/>
        </p:nvSpPr>
        <p:spPr>
          <a:xfrm xmlns:a="http://schemas.openxmlformats.org/drawingml/2006/main">
            <a:off x="2905125" y="2695575"/>
            <a:ext cx="285750" cy="285750"/>
          </a:xfrm>
          <a:prstGeom xmlns:a="http://schemas.openxmlformats.org/drawingml/2006/main" prst="ellipse">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2992F5DB-ACE0-4D0D-A911-2819AC8036F0}"/>
              </a:ext>
            </a:extLst>
          </p:cNvPr>
          <p:cNvSpPr>
            <a:spLocks xmlns:a="http://schemas.openxmlformats.org/drawingml/2006/main" noGrp="1"/>
          </p:cNvSpPr>
          <p:nvPr/>
        </p:nvSpPr>
        <p:spPr>
          <a:xfrm xmlns:a="http://schemas.openxmlformats.org/drawingml/2006/main">
            <a:off x="2857500" y="2752725"/>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2</a:t>
            </a:r>
          </a:p>
        </p:txBody>
      </p:sp>
      <p:sp>
        <p:nvSpPr>
          <p:cNvPr id="9" name="">
            <a:extLst xmlns:a="http://schemas.openxmlformats.org/drawingml/2006/main">
              <a:ext uri="{FF2B5EF4-FFF2-40B4-BE49-F238E27FC236}">
                <a16:creationId xmlns:a16="http://schemas.microsoft.com/office/drawing/2014/main" id="{19B183CB-D065-473A-9851-603F9B788A70}"/>
              </a:ext>
            </a:extLst>
          </p:cNvPr>
          <p:cNvSpPr>
            <a:spLocks xmlns:a="http://schemas.openxmlformats.org/drawingml/2006/main" noGrp="1"/>
          </p:cNvSpPr>
          <p:nvPr/>
        </p:nvSpPr>
        <p:spPr>
          <a:xfrm xmlns:a="http://schemas.openxmlformats.org/drawingml/2006/main">
            <a:off x="2447925" y="3067050"/>
            <a:ext cx="1200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101820"/>
                </a:solidFill>
                <a:latin typeface="Aptos"/>
                <a:ea typeface="Aptos"/>
                <a:cs typeface="Aptos"/>
              </a:defRPr>
            </a:pPr>
            <a:r>
              <a:rPr sz="975" b="1">
                <a:solidFill>
                  <a:srgbClr val="101820"/>
                </a:solidFill>
                <a:latin typeface="Aptos"/>
                <a:ea typeface="Aptos"/>
                <a:cs typeface="Aptos"/>
              </a:rPr>
              <a:t>threshold passed</a:t>
            </a:r>
          </a:p>
        </p:txBody>
      </p:sp>
      <p:sp>
        <p:nvSpPr>
          <p:cNvPr id="10" name="">
            <a:extLst xmlns:a="http://schemas.openxmlformats.org/drawingml/2006/main">
              <a:ext uri="{FF2B5EF4-FFF2-40B4-BE49-F238E27FC236}">
                <a16:creationId xmlns:a16="http://schemas.microsoft.com/office/drawing/2014/main" id="{F364A783-8895-42C5-B405-5E75421C068D}"/>
              </a:ext>
            </a:extLst>
          </p:cNvPr>
          <p:cNvSpPr>
            <a:spLocks xmlns:a="http://schemas.openxmlformats.org/drawingml/2006/main" noGrp="1"/>
          </p:cNvSpPr>
          <p:nvPr/>
        </p:nvSpPr>
        <p:spPr>
          <a:xfrm xmlns:a="http://schemas.openxmlformats.org/drawingml/2006/main">
            <a:off x="4714875" y="2695575"/>
            <a:ext cx="285750" cy="285750"/>
          </a:xfrm>
          <a:prstGeom xmlns:a="http://schemas.openxmlformats.org/drawingml/2006/main" prst="ellipse">
            <a:avLst/>
          </a:prstGeom>
          <a:solidFill xmlns:a="http://schemas.openxmlformats.org/drawingml/2006/main">
            <a:srgbClr val="2E5EAA"/>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71981022-6354-4243-B9B8-0866F94B6A04}"/>
              </a:ext>
            </a:extLst>
          </p:cNvPr>
          <p:cNvSpPr>
            <a:spLocks xmlns:a="http://schemas.openxmlformats.org/drawingml/2006/main" noGrp="1"/>
          </p:cNvSpPr>
          <p:nvPr/>
        </p:nvSpPr>
        <p:spPr>
          <a:xfrm xmlns:a="http://schemas.openxmlformats.org/drawingml/2006/main">
            <a:off x="4667250" y="2752725"/>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N</a:t>
            </a:r>
          </a:p>
        </p:txBody>
      </p:sp>
      <p:sp>
        <p:nvSpPr>
          <p:cNvPr id="12" name="">
            <a:extLst xmlns:a="http://schemas.openxmlformats.org/drawingml/2006/main">
              <a:ext uri="{FF2B5EF4-FFF2-40B4-BE49-F238E27FC236}">
                <a16:creationId xmlns:a16="http://schemas.microsoft.com/office/drawing/2014/main" id="{4E7AB2FB-BE93-4191-8810-DEC23A85EFFA}"/>
              </a:ext>
            </a:extLst>
          </p:cNvPr>
          <p:cNvSpPr>
            <a:spLocks xmlns:a="http://schemas.openxmlformats.org/drawingml/2006/main" noGrp="1"/>
          </p:cNvSpPr>
          <p:nvPr/>
        </p:nvSpPr>
        <p:spPr>
          <a:xfrm xmlns:a="http://schemas.openxmlformats.org/drawingml/2006/main">
            <a:off x="4257675" y="3067050"/>
            <a:ext cx="1200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101820"/>
                </a:solidFill>
                <a:latin typeface="Aptos"/>
                <a:ea typeface="Aptos"/>
                <a:cs typeface="Aptos"/>
              </a:defRPr>
            </a:pPr>
            <a:r>
              <a:rPr sz="975" b="1">
                <a:solidFill>
                  <a:srgbClr val="101820"/>
                </a:solidFill>
                <a:latin typeface="Aptos"/>
                <a:ea typeface="Aptos"/>
                <a:cs typeface="Aptos"/>
              </a:rPr>
              <a:t>repeated frames</a:t>
            </a:r>
          </a:p>
        </p:txBody>
      </p:sp>
      <p:sp>
        <p:nvSpPr>
          <p:cNvPr id="13" name="">
            <a:extLst xmlns:a="http://schemas.openxmlformats.org/drawingml/2006/main">
              <a:ext uri="{FF2B5EF4-FFF2-40B4-BE49-F238E27FC236}">
                <a16:creationId xmlns:a16="http://schemas.microsoft.com/office/drawing/2014/main" id="{847D83C2-228D-4FD9-812F-43AB4A0904CC}"/>
              </a:ext>
            </a:extLst>
          </p:cNvPr>
          <p:cNvSpPr>
            <a:spLocks xmlns:a="http://schemas.openxmlformats.org/drawingml/2006/main" noGrp="1"/>
          </p:cNvSpPr>
          <p:nvPr/>
        </p:nvSpPr>
        <p:spPr>
          <a:xfrm xmlns:a="http://schemas.openxmlformats.org/drawingml/2006/main">
            <a:off x="6524625" y="2695575"/>
            <a:ext cx="285750" cy="285750"/>
          </a:xfrm>
          <a:prstGeom xmlns:a="http://schemas.openxmlformats.org/drawingml/2006/main" prst="ellipse">
            <a:avLst/>
          </a:prstGeom>
          <a:solidFill xmlns:a="http://schemas.openxmlformats.org/drawingml/2006/main">
            <a:srgbClr val="2E7D46"/>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DF82D209-34B2-4527-87F2-B18C2BED827D}"/>
              </a:ext>
            </a:extLst>
          </p:cNvPr>
          <p:cNvSpPr>
            <a:spLocks xmlns:a="http://schemas.openxmlformats.org/drawingml/2006/main" noGrp="1"/>
          </p:cNvSpPr>
          <p:nvPr/>
        </p:nvSpPr>
        <p:spPr>
          <a:xfrm xmlns:a="http://schemas.openxmlformats.org/drawingml/2006/main">
            <a:off x="6477000" y="2752725"/>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a:t>
            </a:r>
          </a:p>
        </p:txBody>
      </p:sp>
      <p:sp>
        <p:nvSpPr>
          <p:cNvPr id="15" name="">
            <a:extLst xmlns:a="http://schemas.openxmlformats.org/drawingml/2006/main">
              <a:ext uri="{FF2B5EF4-FFF2-40B4-BE49-F238E27FC236}">
                <a16:creationId xmlns:a16="http://schemas.microsoft.com/office/drawing/2014/main" id="{84A63493-75DF-4802-8350-7832DD2519C5}"/>
              </a:ext>
            </a:extLst>
          </p:cNvPr>
          <p:cNvSpPr>
            <a:spLocks xmlns:a="http://schemas.openxmlformats.org/drawingml/2006/main" noGrp="1"/>
          </p:cNvSpPr>
          <p:nvPr/>
        </p:nvSpPr>
        <p:spPr>
          <a:xfrm xmlns:a="http://schemas.openxmlformats.org/drawingml/2006/main">
            <a:off x="6067425" y="3067050"/>
            <a:ext cx="1200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101820"/>
                </a:solidFill>
                <a:latin typeface="Aptos"/>
                <a:ea typeface="Aptos"/>
                <a:cs typeface="Aptos"/>
              </a:defRPr>
            </a:pPr>
            <a:r>
              <a:rPr sz="975" b="1">
                <a:solidFill>
                  <a:srgbClr val="101820"/>
                </a:solidFill>
                <a:latin typeface="Aptos"/>
                <a:ea typeface="Aptos"/>
                <a:cs typeface="Aptos"/>
              </a:rPr>
              <a:t>publish event</a:t>
            </a:r>
          </a:p>
        </p:txBody>
      </p:sp>
      <p:sp>
        <p:nvSpPr>
          <p:cNvPr id="16" name="">
            <a:extLst xmlns:a="http://schemas.openxmlformats.org/drawingml/2006/main">
              <a:ext uri="{FF2B5EF4-FFF2-40B4-BE49-F238E27FC236}">
                <a16:creationId xmlns:a16="http://schemas.microsoft.com/office/drawing/2014/main" id="{C9CD9DD9-B360-443D-8ECA-7B2CD7D26295}"/>
              </a:ext>
            </a:extLst>
          </p:cNvPr>
          <p:cNvSpPr>
            <a:spLocks xmlns:a="http://schemas.openxmlformats.org/drawingml/2006/main" noGrp="1"/>
          </p:cNvSpPr>
          <p:nvPr/>
        </p:nvSpPr>
        <p:spPr>
          <a:xfrm xmlns:a="http://schemas.openxmlformats.org/drawingml/2006/main">
            <a:off x="7858125" y="2695575"/>
            <a:ext cx="285750" cy="285750"/>
          </a:xfrm>
          <a:prstGeom xmlns:a="http://schemas.openxmlformats.org/drawingml/2006/main" prst="ellipse">
            <a:avLst/>
          </a:prstGeom>
          <a:solidFill xmlns:a="http://schemas.openxmlformats.org/drawingml/2006/main">
            <a:srgbClr val="F2A900"/>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708C7417-4B2E-4968-8A23-794538A496AA}"/>
              </a:ext>
            </a:extLst>
          </p:cNvPr>
          <p:cNvSpPr>
            <a:spLocks xmlns:a="http://schemas.openxmlformats.org/drawingml/2006/main" noGrp="1"/>
          </p:cNvSpPr>
          <p:nvPr/>
        </p:nvSpPr>
        <p:spPr>
          <a:xfrm xmlns:a="http://schemas.openxmlformats.org/drawingml/2006/main">
            <a:off x="7810500" y="2752725"/>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30s</a:t>
            </a:r>
          </a:p>
        </p:txBody>
      </p:sp>
      <p:sp>
        <p:nvSpPr>
          <p:cNvPr id="18" name="">
            <a:extLst xmlns:a="http://schemas.openxmlformats.org/drawingml/2006/main">
              <a:ext uri="{FF2B5EF4-FFF2-40B4-BE49-F238E27FC236}">
                <a16:creationId xmlns:a16="http://schemas.microsoft.com/office/drawing/2014/main" id="{13413B7E-30A0-44CD-B85C-DFE2C4A776A2}"/>
              </a:ext>
            </a:extLst>
          </p:cNvPr>
          <p:cNvSpPr>
            <a:spLocks xmlns:a="http://schemas.openxmlformats.org/drawingml/2006/main" noGrp="1"/>
          </p:cNvSpPr>
          <p:nvPr/>
        </p:nvSpPr>
        <p:spPr>
          <a:xfrm xmlns:a="http://schemas.openxmlformats.org/drawingml/2006/main">
            <a:off x="7400925" y="3067050"/>
            <a:ext cx="1200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101820"/>
                </a:solidFill>
                <a:latin typeface="Aptos"/>
                <a:ea typeface="Aptos"/>
                <a:cs typeface="Aptos"/>
              </a:defRPr>
            </a:pPr>
            <a:r>
              <a:rPr sz="975" b="1">
                <a:solidFill>
                  <a:srgbClr val="101820"/>
                </a:solidFill>
                <a:latin typeface="Aptos"/>
                <a:ea typeface="Aptos"/>
                <a:cs typeface="Aptos"/>
              </a:rPr>
              <a:t>cooldown</a:t>
            </a:r>
          </a:p>
        </p:txBody>
      </p:sp>
      <p:sp>
        <p:nvSpPr>
          <p:cNvPr id="19" name="">
            <a:extLst xmlns:a="http://schemas.openxmlformats.org/drawingml/2006/main">
              <a:ext uri="{FF2B5EF4-FFF2-40B4-BE49-F238E27FC236}">
                <a16:creationId xmlns:a16="http://schemas.microsoft.com/office/drawing/2014/main" id="{EB233E6D-3690-4A7C-8108-E7B946A09006}"/>
              </a:ext>
            </a:extLst>
          </p:cNvPr>
          <p:cNvSpPr>
            <a:spLocks xmlns:a="http://schemas.openxmlformats.org/drawingml/2006/main" noGrp="1"/>
          </p:cNvSpPr>
          <p:nvPr/>
        </p:nvSpPr>
        <p:spPr>
          <a:xfrm xmlns:a="http://schemas.openxmlformats.org/drawingml/2006/main">
            <a:off x="781050" y="4095750"/>
            <a:ext cx="28575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461D9126-A44C-4D18-82BC-DC92442EE3C8}"/>
              </a:ext>
            </a:extLst>
          </p:cNvPr>
          <p:cNvSpPr>
            <a:spLocks xmlns:a="http://schemas.openxmlformats.org/drawingml/2006/main" noGrp="1"/>
          </p:cNvSpPr>
          <p:nvPr/>
        </p:nvSpPr>
        <p:spPr>
          <a:xfrm xmlns:a="http://schemas.openxmlformats.org/drawingml/2006/main">
            <a:off x="781050" y="4095750"/>
            <a:ext cx="2857500" cy="47625"/>
          </a:xfrm>
          <a:prstGeom xmlns:a="http://schemas.openxmlformats.org/drawingml/2006/main" prst="rect">
            <a:avLst/>
          </a:prstGeom>
          <a:solidFill xmlns:a="http://schemas.openxmlformats.org/drawingml/2006/main">
            <a:srgbClr val="0E7C86"/>
          </a:solidFill>
          <a:ln xmlns:a="http://schemas.openxmlformats.org/drawingml/2006/main" w="0">
            <a:solidFill>
              <a:srgbClr val="000000">
                <a:alpha val="0"/>
              </a:srgbClr>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b0ffc3d11b64a78">
            <a:extLst>
              <a:ext uri="{96DAC541-7B7A-43D3-8B79-37D633B846F1}">
                <asvg:svgBlip xmlns:asvg="http://schemas.microsoft.com/office/drawing/2016/SVG/main" r:embed="Ref26f5e4a05c4a36"/>
              </a:ext>
            </a:extLst>
          </a:blip>
          <a:stretch xmlns:a="http://schemas.openxmlformats.org/drawingml/2006/main"/>
        </p:blipFill>
        <p:spPr>
          <a:xfrm xmlns:a="http://schemas.openxmlformats.org/drawingml/2006/main">
            <a:off x="933450" y="4286250"/>
            <a:ext cx="266700" cy="2667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AF24D9A7-83F9-4BD2-9993-16758C934F46}"/>
              </a:ext>
            </a:extLst>
          </p:cNvPr>
          <p:cNvSpPr>
            <a:spLocks xmlns:a="http://schemas.openxmlformats.org/drawingml/2006/main" noGrp="1"/>
          </p:cNvSpPr>
          <p:nvPr/>
        </p:nvSpPr>
        <p:spPr>
          <a:xfrm xmlns:a="http://schemas.openxmlformats.org/drawingml/2006/main">
            <a:off x="1295400" y="4248150"/>
            <a:ext cx="2209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820"/>
                </a:solidFill>
                <a:latin typeface="Aptos"/>
                <a:ea typeface="Aptos"/>
                <a:cs typeface="Aptos"/>
              </a:defRPr>
            </a:pPr>
            <a:r>
              <a:rPr sz="1950" b="1">
                <a:solidFill>
                  <a:srgbClr val="101820"/>
                </a:solidFill>
                <a:latin typeface="Aptos"/>
                <a:ea typeface="Aptos"/>
                <a:cs typeface="Aptos"/>
              </a:rPr>
              <a:t>6+</a:t>
            </a:r>
          </a:p>
        </p:txBody>
      </p:sp>
      <p:sp>
        <p:nvSpPr>
          <p:cNvPr id="23" name="">
            <a:extLst xmlns:a="http://schemas.openxmlformats.org/drawingml/2006/main">
              <a:ext uri="{FF2B5EF4-FFF2-40B4-BE49-F238E27FC236}">
                <a16:creationId xmlns:a16="http://schemas.microsoft.com/office/drawing/2014/main" id="{D29078B4-ABC7-4F95-95DE-320A17124E71}"/>
              </a:ext>
            </a:extLst>
          </p:cNvPr>
          <p:cNvSpPr>
            <a:spLocks xmlns:a="http://schemas.openxmlformats.org/drawingml/2006/main" noGrp="1"/>
          </p:cNvSpPr>
          <p:nvPr/>
        </p:nvSpPr>
        <p:spPr>
          <a:xfrm xmlns:a="http://schemas.openxmlformats.org/drawingml/2006/main">
            <a:off x="952500" y="4629150"/>
            <a:ext cx="2552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5E6872"/>
                </a:solidFill>
                <a:latin typeface="Aptos"/>
                <a:ea typeface="Aptos"/>
                <a:cs typeface="Aptos"/>
              </a:defRPr>
            </a:pPr>
            <a:r>
              <a:rPr sz="1050" b="1">
                <a:solidFill>
                  <a:srgbClr val="5E6872"/>
                </a:solidFill>
                <a:latin typeface="Aptos"/>
                <a:ea typeface="Aptos"/>
                <a:cs typeface="Aptos"/>
              </a:rPr>
              <a:t>required fields</a:t>
            </a:r>
          </a:p>
        </p:txBody>
      </p:sp>
      <p:sp>
        <p:nvSpPr>
          <p:cNvPr id="24" name="">
            <a:extLst xmlns:a="http://schemas.openxmlformats.org/drawingml/2006/main">
              <a:ext uri="{FF2B5EF4-FFF2-40B4-BE49-F238E27FC236}">
                <a16:creationId xmlns:a16="http://schemas.microsoft.com/office/drawing/2014/main" id="{1259B6D7-FDC8-4794-936F-F447FC176FEC}"/>
              </a:ext>
            </a:extLst>
          </p:cNvPr>
          <p:cNvSpPr>
            <a:spLocks xmlns:a="http://schemas.openxmlformats.org/drawingml/2006/main" noGrp="1"/>
          </p:cNvSpPr>
          <p:nvPr/>
        </p:nvSpPr>
        <p:spPr>
          <a:xfrm xmlns:a="http://schemas.openxmlformats.org/drawingml/2006/main">
            <a:off x="952500" y="4819650"/>
            <a:ext cx="2552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E6872"/>
                </a:solidFill>
                <a:latin typeface="Aptos"/>
                <a:ea typeface="Aptos"/>
                <a:cs typeface="Aptos"/>
              </a:defRPr>
            </a:pPr>
            <a:r>
              <a:rPr sz="825" b="0">
                <a:solidFill>
                  <a:srgbClr val="5E6872"/>
                </a:solidFill>
                <a:latin typeface="Aptos"/>
                <a:ea typeface="Aptos"/>
                <a:cs typeface="Aptos"/>
              </a:rPr>
              <a:t>event, device, time, label, confidence, frames</a:t>
            </a:r>
          </a:p>
        </p:txBody>
      </p:sp>
      <p:sp>
        <p:nvSpPr>
          <p:cNvPr id="25" name="">
            <a:extLst xmlns:a="http://schemas.openxmlformats.org/drawingml/2006/main">
              <a:ext uri="{FF2B5EF4-FFF2-40B4-BE49-F238E27FC236}">
                <a16:creationId xmlns:a16="http://schemas.microsoft.com/office/drawing/2014/main" id="{481AF2C8-DE91-4302-B889-2D8AA608523C}"/>
              </a:ext>
            </a:extLst>
          </p:cNvPr>
          <p:cNvSpPr>
            <a:spLocks xmlns:a="http://schemas.openxmlformats.org/drawingml/2006/main" noGrp="1"/>
          </p:cNvSpPr>
          <p:nvPr/>
        </p:nvSpPr>
        <p:spPr>
          <a:xfrm xmlns:a="http://schemas.openxmlformats.org/drawingml/2006/main">
            <a:off x="4000500" y="4095750"/>
            <a:ext cx="28575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FFABB17A-6AA4-48E8-AC1F-929775243AD8}"/>
              </a:ext>
            </a:extLst>
          </p:cNvPr>
          <p:cNvSpPr>
            <a:spLocks xmlns:a="http://schemas.openxmlformats.org/drawingml/2006/main" noGrp="1"/>
          </p:cNvSpPr>
          <p:nvPr/>
        </p:nvSpPr>
        <p:spPr>
          <a:xfrm xmlns:a="http://schemas.openxmlformats.org/drawingml/2006/main">
            <a:off x="4000500" y="4095750"/>
            <a:ext cx="2857500" cy="47625"/>
          </a:xfrm>
          <a:prstGeom xmlns:a="http://schemas.openxmlformats.org/drawingml/2006/main" prst="rect">
            <a:avLst/>
          </a:prstGeom>
          <a:solidFill xmlns:a="http://schemas.openxmlformats.org/drawingml/2006/main">
            <a:srgbClr val="2E5EAA"/>
          </a:solidFill>
          <a:ln xmlns:a="http://schemas.openxmlformats.org/drawingml/2006/main" w="0">
            <a:solidFill>
              <a:srgbClr val="000000">
                <a:alpha val="0"/>
              </a:srgbClr>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adfcfd3244a14ea4">
            <a:extLst>
              <a:ext uri="{96DAC541-7B7A-43D3-8B79-37D633B846F1}">
                <asvg:svgBlip xmlns:asvg="http://schemas.microsoft.com/office/drawing/2016/SVG/main" r:embed="R04dba90b58ce435c"/>
              </a:ext>
            </a:extLst>
          </a:blip>
          <a:stretch xmlns:a="http://schemas.openxmlformats.org/drawingml/2006/main"/>
        </p:blipFill>
        <p:spPr>
          <a:xfrm xmlns:a="http://schemas.openxmlformats.org/drawingml/2006/main">
            <a:off x="4152900" y="4286250"/>
            <a:ext cx="266700" cy="2667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EEC1C128-3023-4CE7-80E4-6FCB948B1E67}"/>
              </a:ext>
            </a:extLst>
          </p:cNvPr>
          <p:cNvSpPr>
            <a:spLocks xmlns:a="http://schemas.openxmlformats.org/drawingml/2006/main" noGrp="1"/>
          </p:cNvSpPr>
          <p:nvPr/>
        </p:nvSpPr>
        <p:spPr>
          <a:xfrm xmlns:a="http://schemas.openxmlformats.org/drawingml/2006/main">
            <a:off x="4514850" y="4248150"/>
            <a:ext cx="2209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820"/>
                </a:solidFill>
                <a:latin typeface="Aptos"/>
                <a:ea typeface="Aptos"/>
                <a:cs typeface="Aptos"/>
              </a:defRPr>
            </a:pPr>
            <a:r>
              <a:rPr sz="1950" b="1">
                <a:solidFill>
                  <a:srgbClr val="101820"/>
                </a:solidFill>
                <a:latin typeface="Aptos"/>
                <a:ea typeface="Aptos"/>
                <a:cs typeface="Aptos"/>
              </a:rPr>
              <a:t>0..1</a:t>
            </a:r>
          </a:p>
        </p:txBody>
      </p:sp>
      <p:sp>
        <p:nvSpPr>
          <p:cNvPr id="29" name="">
            <a:extLst xmlns:a="http://schemas.openxmlformats.org/drawingml/2006/main">
              <a:ext uri="{FF2B5EF4-FFF2-40B4-BE49-F238E27FC236}">
                <a16:creationId xmlns:a16="http://schemas.microsoft.com/office/drawing/2014/main" id="{F2D4A914-F4C6-46CE-83DB-FB79B1836F50}"/>
              </a:ext>
            </a:extLst>
          </p:cNvPr>
          <p:cNvSpPr>
            <a:spLocks xmlns:a="http://schemas.openxmlformats.org/drawingml/2006/main" noGrp="1"/>
          </p:cNvSpPr>
          <p:nvPr/>
        </p:nvSpPr>
        <p:spPr>
          <a:xfrm xmlns:a="http://schemas.openxmlformats.org/drawingml/2006/main">
            <a:off x="4171950" y="4629150"/>
            <a:ext cx="2552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5E6872"/>
                </a:solidFill>
                <a:latin typeface="Aptos"/>
                <a:ea typeface="Aptos"/>
                <a:cs typeface="Aptos"/>
              </a:defRPr>
            </a:pPr>
            <a:r>
              <a:rPr sz="1050" b="1">
                <a:solidFill>
                  <a:srgbClr val="5E6872"/>
                </a:solidFill>
                <a:latin typeface="Aptos"/>
                <a:ea typeface="Aptos"/>
                <a:cs typeface="Aptos"/>
              </a:rPr>
              <a:t>alarm quality</a:t>
            </a:r>
          </a:p>
        </p:txBody>
      </p:sp>
      <p:sp>
        <p:nvSpPr>
          <p:cNvPr id="30" name="">
            <a:extLst xmlns:a="http://schemas.openxmlformats.org/drawingml/2006/main">
              <a:ext uri="{FF2B5EF4-FFF2-40B4-BE49-F238E27FC236}">
                <a16:creationId xmlns:a16="http://schemas.microsoft.com/office/drawing/2014/main" id="{4446E528-5AF3-4F5E-955B-C541791384B3}"/>
              </a:ext>
            </a:extLst>
          </p:cNvPr>
          <p:cNvSpPr>
            <a:spLocks xmlns:a="http://schemas.openxmlformats.org/drawingml/2006/main" noGrp="1"/>
          </p:cNvSpPr>
          <p:nvPr/>
        </p:nvSpPr>
        <p:spPr>
          <a:xfrm xmlns:a="http://schemas.openxmlformats.org/drawingml/2006/main">
            <a:off x="4171950" y="4819650"/>
            <a:ext cx="2552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E6872"/>
                </a:solidFill>
                <a:latin typeface="Aptos"/>
                <a:ea typeface="Aptos"/>
                <a:cs typeface="Aptos"/>
              </a:defRPr>
            </a:pPr>
            <a:r>
              <a:rPr sz="825" b="0">
                <a:solidFill>
                  <a:srgbClr val="5E6872"/>
                </a:solidFill>
                <a:latin typeface="Aptos"/>
                <a:ea typeface="Aptos"/>
                <a:cs typeface="Aptos"/>
              </a:rPr>
              <a:t>confidence score kept in payload</a:t>
            </a:r>
          </a:p>
        </p:txBody>
      </p:sp>
      <p:sp>
        <p:nvSpPr>
          <p:cNvPr id="31" name="">
            <a:extLst xmlns:a="http://schemas.openxmlformats.org/drawingml/2006/main">
              <a:ext uri="{FF2B5EF4-FFF2-40B4-BE49-F238E27FC236}">
                <a16:creationId xmlns:a16="http://schemas.microsoft.com/office/drawing/2014/main" id="{788C4F1C-D925-45E5-B247-B62A82C1467B}"/>
              </a:ext>
            </a:extLst>
          </p:cNvPr>
          <p:cNvSpPr>
            <a:spLocks xmlns:a="http://schemas.openxmlformats.org/drawingml/2006/main" noGrp="1"/>
          </p:cNvSpPr>
          <p:nvPr/>
        </p:nvSpPr>
        <p:spPr>
          <a:xfrm xmlns:a="http://schemas.openxmlformats.org/drawingml/2006/main">
            <a:off x="7219950" y="4095750"/>
            <a:ext cx="28575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45B91B6E-8CEF-45C2-AF6A-3CDD20AD87CE}"/>
              </a:ext>
            </a:extLst>
          </p:cNvPr>
          <p:cNvSpPr>
            <a:spLocks xmlns:a="http://schemas.openxmlformats.org/drawingml/2006/main" noGrp="1"/>
          </p:cNvSpPr>
          <p:nvPr/>
        </p:nvSpPr>
        <p:spPr>
          <a:xfrm xmlns:a="http://schemas.openxmlformats.org/drawingml/2006/main">
            <a:off x="7219950" y="4095750"/>
            <a:ext cx="2857500" cy="47625"/>
          </a:xfrm>
          <a:prstGeom xmlns:a="http://schemas.openxmlformats.org/drawingml/2006/main" prst="rect">
            <a:avLst/>
          </a:prstGeom>
          <a:solidFill xmlns:a="http://schemas.openxmlformats.org/drawingml/2006/main">
            <a:srgbClr val="C32832"/>
          </a:solidFill>
          <a:ln xmlns:a="http://schemas.openxmlformats.org/drawingml/2006/main" w="0">
            <a:solidFill>
              <a:srgbClr val="000000">
                <a:alpha val="0"/>
              </a:srgbClr>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e902f0f083964918">
            <a:extLst>
              <a:ext uri="{96DAC541-7B7A-43D3-8B79-37D633B846F1}">
                <asvg:svgBlip xmlns:asvg="http://schemas.microsoft.com/office/drawing/2016/SVG/main" r:embed="Rccbcbc87cedd404e"/>
              </a:ext>
            </a:extLst>
          </a:blip>
          <a:stretch xmlns:a="http://schemas.openxmlformats.org/drawingml/2006/main"/>
        </p:blipFill>
        <p:spPr>
          <a:xfrm xmlns:a="http://schemas.openxmlformats.org/drawingml/2006/main">
            <a:off x="7372350" y="4286250"/>
            <a:ext cx="266700" cy="266700"/>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33ECAAF6-10F7-4467-8F4A-64646714800C}"/>
              </a:ext>
            </a:extLst>
          </p:cNvPr>
          <p:cNvSpPr>
            <a:spLocks xmlns:a="http://schemas.openxmlformats.org/drawingml/2006/main" noGrp="1"/>
          </p:cNvSpPr>
          <p:nvPr/>
        </p:nvSpPr>
        <p:spPr>
          <a:xfrm xmlns:a="http://schemas.openxmlformats.org/drawingml/2006/main">
            <a:off x="7734300" y="4248150"/>
            <a:ext cx="2209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820"/>
                </a:solidFill>
                <a:latin typeface="Aptos"/>
                <a:ea typeface="Aptos"/>
                <a:cs typeface="Aptos"/>
              </a:defRPr>
            </a:pPr>
            <a:r>
              <a:rPr sz="1950" b="1">
                <a:solidFill>
                  <a:srgbClr val="101820"/>
                </a:solidFill>
                <a:latin typeface="Aptos"/>
                <a:ea typeface="Aptos"/>
                <a:cs typeface="Aptos"/>
              </a:rPr>
              <a:t>box</a:t>
            </a:r>
          </a:p>
        </p:txBody>
      </p:sp>
      <p:sp>
        <p:nvSpPr>
          <p:cNvPr id="35" name="">
            <a:extLst xmlns:a="http://schemas.openxmlformats.org/drawingml/2006/main">
              <a:ext uri="{FF2B5EF4-FFF2-40B4-BE49-F238E27FC236}">
                <a16:creationId xmlns:a16="http://schemas.microsoft.com/office/drawing/2014/main" id="{31C80000-8606-4338-8E60-80EDD542DF1E}"/>
              </a:ext>
            </a:extLst>
          </p:cNvPr>
          <p:cNvSpPr>
            <a:spLocks xmlns:a="http://schemas.openxmlformats.org/drawingml/2006/main" noGrp="1"/>
          </p:cNvSpPr>
          <p:nvPr/>
        </p:nvSpPr>
        <p:spPr>
          <a:xfrm xmlns:a="http://schemas.openxmlformats.org/drawingml/2006/main">
            <a:off x="7391400" y="4629150"/>
            <a:ext cx="2552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5E6872"/>
                </a:solidFill>
                <a:latin typeface="Aptos"/>
                <a:ea typeface="Aptos"/>
                <a:cs typeface="Aptos"/>
              </a:defRPr>
            </a:pPr>
            <a:r>
              <a:rPr sz="1050" b="1">
                <a:solidFill>
                  <a:srgbClr val="5E6872"/>
                </a:solidFill>
                <a:latin typeface="Aptos"/>
                <a:ea typeface="Aptos"/>
                <a:cs typeface="Aptos"/>
              </a:rPr>
              <a:t>debug evidence</a:t>
            </a:r>
          </a:p>
        </p:txBody>
      </p:sp>
      <p:sp>
        <p:nvSpPr>
          <p:cNvPr id="36" name="">
            <a:extLst xmlns:a="http://schemas.openxmlformats.org/drawingml/2006/main">
              <a:ext uri="{FF2B5EF4-FFF2-40B4-BE49-F238E27FC236}">
                <a16:creationId xmlns:a16="http://schemas.microsoft.com/office/drawing/2014/main" id="{808B4DCA-8740-4140-A4F3-E48DA98E8C02}"/>
              </a:ext>
            </a:extLst>
          </p:cNvPr>
          <p:cNvSpPr>
            <a:spLocks xmlns:a="http://schemas.openxmlformats.org/drawingml/2006/main" noGrp="1"/>
          </p:cNvSpPr>
          <p:nvPr/>
        </p:nvSpPr>
        <p:spPr>
          <a:xfrm xmlns:a="http://schemas.openxmlformats.org/drawingml/2006/main">
            <a:off x="7391400" y="4819650"/>
            <a:ext cx="2552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E6872"/>
                </a:solidFill>
                <a:latin typeface="Aptos"/>
                <a:ea typeface="Aptos"/>
                <a:cs typeface="Aptos"/>
              </a:defRPr>
            </a:pPr>
            <a:r>
              <a:rPr sz="825" b="0">
                <a:solidFill>
                  <a:srgbClr val="5E6872"/>
                </a:solidFill>
                <a:latin typeface="Aptos"/>
                <a:ea typeface="Aptos"/>
                <a:cs typeface="Aptos"/>
              </a:rPr>
              <a:t>x_min, y_min, x_max, y_max</a:t>
            </a:r>
          </a:p>
        </p:txBody>
      </p:sp>
      <p:sp>
        <p:nvSpPr>
          <p:cNvPr id="37" name="">
            <a:extLst xmlns:a="http://schemas.openxmlformats.org/drawingml/2006/main">
              <a:ext uri="{FF2B5EF4-FFF2-40B4-BE49-F238E27FC236}">
                <a16:creationId xmlns:a16="http://schemas.microsoft.com/office/drawing/2014/main" id="{DCBE02F4-9A91-408F-9C30-A67696CEF524}"/>
              </a:ext>
            </a:extLst>
          </p:cNvPr>
          <p:cNvSpPr>
            <a:spLocks xmlns:a="http://schemas.openxmlformats.org/drawingml/2006/main" noGrp="1"/>
          </p:cNvSpPr>
          <p:nvPr/>
        </p:nvSpPr>
        <p:spPr>
          <a:xfrm xmlns:a="http://schemas.openxmlformats.org/drawingml/2006/main">
            <a:off x="8458200" y="1828800"/>
            <a:ext cx="3086100" cy="20383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38" name="">
            <a:extLst xmlns:a="http://schemas.openxmlformats.org/drawingml/2006/main">
              <a:ext uri="{FF2B5EF4-FFF2-40B4-BE49-F238E27FC236}">
                <a16:creationId xmlns:a16="http://schemas.microsoft.com/office/drawing/2014/main" id="{612BB709-A81A-43E7-B210-3761E5F12F0B}"/>
              </a:ext>
            </a:extLst>
          </p:cNvPr>
          <p:cNvSpPr>
            <a:spLocks xmlns:a="http://schemas.openxmlformats.org/drawingml/2006/main" noGrp="1"/>
          </p:cNvSpPr>
          <p:nvPr/>
        </p:nvSpPr>
        <p:spPr>
          <a:xfrm xmlns:a="http://schemas.openxmlformats.org/drawingml/2006/main">
            <a:off x="8648700" y="2019300"/>
            <a:ext cx="2705100" cy="1657350"/>
          </a:xfrm>
          <a:prstGeom xmlns:a="http://schemas.openxmlformats.org/drawingml/2006/main" prst="rect">
            <a:avLst/>
          </a:prstGeom>
          <a:solidFill xmlns:a="http://schemas.openxmlformats.org/drawingml/2006/main">
            <a:srgbClr val="18212B"/>
          </a:solidFill>
          <a:ln xmlns:a="http://schemas.openxmlformats.org/drawingml/2006/main" w="9525">
            <a:solidFill>
              <a:srgbClr val="314154"/>
            </a:solidFill>
            <a:prstDash val="solid"/>
          </a:ln>
        </p:spPr>
      </p:sp>
      <p:sp>
        <p:nvSpPr>
          <p:cNvPr id="39" name="">
            <a:extLst xmlns:a="http://schemas.openxmlformats.org/drawingml/2006/main">
              <a:ext uri="{FF2B5EF4-FFF2-40B4-BE49-F238E27FC236}">
                <a16:creationId xmlns:a16="http://schemas.microsoft.com/office/drawing/2014/main" id="{F2C2C58E-129F-4E52-AF6C-DB855A828AB3}"/>
              </a:ext>
            </a:extLst>
          </p:cNvPr>
          <p:cNvSpPr>
            <a:spLocks xmlns:a="http://schemas.openxmlformats.org/drawingml/2006/main" noGrp="1"/>
          </p:cNvSpPr>
          <p:nvPr/>
        </p:nvSpPr>
        <p:spPr>
          <a:xfrm xmlns:a="http://schemas.openxmlformats.org/drawingml/2006/main">
            <a:off x="8820150" y="2171700"/>
            <a:ext cx="2362200" cy="1390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EAF2F8"/>
                </a:solidFill>
                <a:latin typeface="Aptos Mono"/>
                <a:ea typeface="Aptos Mono"/>
                <a:cs typeface="Aptos Mono"/>
              </a:defRPr>
            </a:pPr>
            <a:r>
              <a:rPr sz="1200" b="0">
                <a:solidFill>
                  <a:srgbClr val="EAF2F8"/>
                </a:solidFill>
                <a:latin typeface="Aptos Mono"/>
                <a:ea typeface="Aptos Mono"/>
                <a:cs typeface="Aptos Mono"/>
              </a:rPr>
              <a:t>{</a:t>
            </a:r>
          </a:p>
          <a:p xmlns:a="http://schemas.openxmlformats.org/drawingml/2006/main">
            <a:pPr algn="l">
              <a:defRPr sz="1200" b="0">
                <a:solidFill>
                  <a:srgbClr val="EAF2F8"/>
                </a:solidFill>
                <a:latin typeface="Aptos Mono"/>
                <a:ea typeface="Aptos Mono"/>
                <a:cs typeface="Aptos Mono"/>
              </a:defRPr>
            </a:pPr>
            <a:r>
              <a:rPr sz="1200" b="0">
                <a:solidFill>
                  <a:srgbClr val="EAF2F8"/>
                </a:solidFill>
                <a:latin typeface="Aptos Mono"/>
                <a:ea typeface="Aptos Mono"/>
                <a:cs typeface="Aptos Mono"/>
              </a:rPr>
              <a:t>  "device_id": "esp32s3-eye-01",</a:t>
            </a:r>
          </a:p>
          <a:p xmlns:a="http://schemas.openxmlformats.org/drawingml/2006/main">
            <a:pPr algn="l">
              <a:defRPr sz="1200" b="0">
                <a:solidFill>
                  <a:srgbClr val="EAF2F8"/>
                </a:solidFill>
                <a:latin typeface="Aptos Mono"/>
                <a:ea typeface="Aptos Mono"/>
                <a:cs typeface="Aptos Mono"/>
              </a:defRPr>
            </a:pPr>
            <a:r>
              <a:rPr sz="1200" b="0">
                <a:solidFill>
                  <a:srgbClr val="EAF2F8"/>
                </a:solidFill>
                <a:latin typeface="Aptos Mono"/>
                <a:ea typeface="Aptos Mono"/>
                <a:cs typeface="Aptos Mono"/>
              </a:rPr>
              <a:t>  "label": "person",</a:t>
            </a:r>
          </a:p>
          <a:p xmlns:a="http://schemas.openxmlformats.org/drawingml/2006/main">
            <a:pPr algn="l">
              <a:defRPr sz="1200" b="0">
                <a:solidFill>
                  <a:srgbClr val="EAF2F8"/>
                </a:solidFill>
                <a:latin typeface="Aptos Mono"/>
                <a:ea typeface="Aptos Mono"/>
                <a:cs typeface="Aptos Mono"/>
              </a:defRPr>
            </a:pPr>
            <a:r>
              <a:rPr sz="1200" b="0">
                <a:solidFill>
                  <a:srgbClr val="EAF2F8"/>
                </a:solidFill>
                <a:latin typeface="Aptos Mono"/>
                <a:ea typeface="Aptos Mono"/>
                <a:cs typeface="Aptos Mono"/>
              </a:rPr>
              <a:t>  "confidence": 0.824,</a:t>
            </a:r>
          </a:p>
          <a:p xmlns:a="http://schemas.openxmlformats.org/drawingml/2006/main">
            <a:pPr algn="l">
              <a:defRPr sz="1200" b="0">
                <a:solidFill>
                  <a:srgbClr val="EAF2F8"/>
                </a:solidFill>
                <a:latin typeface="Aptos Mono"/>
                <a:ea typeface="Aptos Mono"/>
                <a:cs typeface="Aptos Mono"/>
              </a:defRPr>
            </a:pPr>
            <a:r>
              <a:rPr sz="1200" b="0">
                <a:solidFill>
                  <a:srgbClr val="EAF2F8"/>
                </a:solidFill>
                <a:latin typeface="Aptos Mono"/>
                <a:ea typeface="Aptos Mono"/>
                <a:cs typeface="Aptos Mono"/>
              </a:rPr>
              <a:t>  "confirmation_frames": 11,</a:t>
            </a:r>
          </a:p>
          <a:p xmlns:a="http://schemas.openxmlformats.org/drawingml/2006/main">
            <a:pPr algn="l">
              <a:defRPr sz="1200" b="0">
                <a:solidFill>
                  <a:srgbClr val="EAF2F8"/>
                </a:solidFill>
                <a:latin typeface="Aptos Mono"/>
                <a:ea typeface="Aptos Mono"/>
                <a:cs typeface="Aptos Mono"/>
              </a:defRPr>
            </a:pPr>
            <a:r>
              <a:rPr sz="1200" b="0">
                <a:solidFill>
                  <a:srgbClr val="EAF2F8"/>
                </a:solidFill>
                <a:latin typeface="Aptos Mono"/>
                <a:ea typeface="Aptos Mono"/>
                <a:cs typeface="Aptos Mono"/>
              </a:rPr>
              <a:t>  "box": {"x_min":0, "y_min":58}</a:t>
            </a:r>
          </a:p>
          <a:p xmlns:a="http://schemas.openxmlformats.org/drawingml/2006/main">
            <a:pPr algn="l">
              <a:defRPr sz="1200" b="0">
                <a:solidFill>
                  <a:srgbClr val="EAF2F8"/>
                </a:solidFill>
                <a:latin typeface="Aptos Mono"/>
                <a:ea typeface="Aptos Mono"/>
                <a:cs typeface="Aptos Mono"/>
              </a:defRPr>
            </a:pPr>
            <a:r>
              <a:rPr sz="1200" b="0">
                <a:solidFill>
                  <a:srgbClr val="EAF2F8"/>
                </a:solidFill>
                <a:latin typeface="Aptos Mono"/>
                <a:ea typeface="Aptos Mono"/>
                <a:cs typeface="Aptos Mono"/>
              </a:rPr>
              <a:t>}</a:t>
            </a:r>
          </a:p>
        </p:txBody>
      </p:sp>
      <p:sp>
        <p:nvSpPr>
          <p:cNvPr id="40" name="">
            <a:extLst xmlns:a="http://schemas.openxmlformats.org/drawingml/2006/main">
              <a:ext uri="{FF2B5EF4-FFF2-40B4-BE49-F238E27FC236}">
                <a16:creationId xmlns:a16="http://schemas.microsoft.com/office/drawing/2014/main" id="{89A92E52-856C-466B-B866-26BFA0E6E95A}"/>
              </a:ext>
            </a:extLst>
          </p:cNvPr>
          <p:cNvSpPr>
            <a:spLocks xmlns:a="http://schemas.openxmlformats.org/drawingml/2006/main" noGrp="1"/>
          </p:cNvSpPr>
          <p:nvPr/>
        </p:nvSpPr>
        <p:spPr>
          <a:xfrm xmlns:a="http://schemas.openxmlformats.org/drawingml/2006/main">
            <a:off x="781050" y="5562600"/>
            <a:ext cx="98107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101820"/>
                </a:solidFill>
                <a:latin typeface="Aptos"/>
                <a:ea typeface="Aptos"/>
                <a:cs typeface="Aptos"/>
              </a:defRPr>
            </a:pPr>
            <a:r>
              <a:rPr sz="1650" b="1">
                <a:solidFill>
                  <a:srgbClr val="101820"/>
                </a:solidFill>
                <a:latin typeface="Aptos"/>
                <a:ea typeface="Aptos"/>
                <a:cs typeface="Aptos"/>
              </a:rPr>
              <a:t>Design reason: the backend receives enough context for an alert, while the camera frame stays local.</a:t>
            </a:r>
          </a:p>
        </p:txBody>
      </p:sp>
      <p:sp>
        <p:nvSpPr>
          <p:cNvPr id="41" name="">
            <a:extLst xmlns:a="http://schemas.openxmlformats.org/drawingml/2006/main">
              <a:ext uri="{FF2B5EF4-FFF2-40B4-BE49-F238E27FC236}">
                <a16:creationId xmlns:a16="http://schemas.microsoft.com/office/drawing/2014/main" id="{AA85FE75-70FE-4E0D-9F33-DC824310F96C}"/>
              </a:ext>
            </a:extLst>
          </p:cNvPr>
          <p:cNvSpPr>
            <a:spLocks xmlns:a="http://schemas.openxmlformats.org/drawingml/2006/main" noGrp="1"/>
          </p:cNvSpPr>
          <p:nvPr/>
        </p:nvSpPr>
        <p:spPr>
          <a:xfrm xmlns:a="http://schemas.openxmlformats.org/drawingml/2006/main">
            <a:off x="552450" y="64579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E6872"/>
                </a:solidFill>
                <a:latin typeface="Aptos"/>
                <a:ea typeface="Aptos"/>
                <a:cs typeface="Aptos"/>
              </a:defRPr>
            </a:pPr>
            <a:r>
              <a:rPr sz="1050" b="0">
                <a:solidFill>
                  <a:srgbClr val="5E6872"/>
                </a:solidFill>
                <a:latin typeface="Aptos"/>
                <a:ea typeface="Aptos"/>
                <a:cs typeface="Aptos"/>
              </a:rPr>
              <a:t>Smart Visual Alarm System | 06</a:t>
            </a:r>
          </a:p>
        </p:txBody>
      </p:sp>
    </p:spTree>
    <p:extLst>
      <p:ext uri="{BB962C8B-B14F-4D97-AF65-F5344CB8AC3E}">
        <p14:creationId xmlns:p14="http://schemas.microsoft.com/office/powerpoint/2010/main" val="188439191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98EC81E-6915-4BA4-92A2-B4D13D4211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FBDFEC8-A299-46AF-9CFF-324DD730428D}"/>
              </a:ext>
            </a:extLst>
          </p:cNvPr>
          <p:cNvSpPr>
            <a:spLocks xmlns:a="http://schemas.openxmlformats.org/drawingml/2006/main" noGrp="1"/>
          </p:cNvSpPr>
          <p:nvPr/>
        </p:nvSpPr>
        <p:spPr>
          <a:xfrm xmlns:a="http://schemas.openxmlformats.org/drawingml/2006/main">
            <a:off x="552450" y="438150"/>
            <a:ext cx="8572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01820"/>
                </a:solidFill>
                <a:latin typeface="Aptos Display"/>
                <a:ea typeface="Aptos Display"/>
                <a:cs typeface="Aptos Display"/>
              </a:defRPr>
            </a:pPr>
            <a:r>
              <a:rPr sz="3300" b="1">
                <a:solidFill>
                  <a:srgbClr val="101820"/>
                </a:solidFill>
                <a:latin typeface="Aptos Display"/>
                <a:ea typeface="Aptos Display"/>
                <a:cs typeface="Aptos Display"/>
              </a:rPr>
              <a:t>Python bridge sends Telegram alerts</a:t>
            </a:r>
          </a:p>
        </p:txBody>
      </p:sp>
      <p:sp>
        <p:nvSpPr>
          <p:cNvPr id="3" name="">
            <a:extLst xmlns:a="http://schemas.openxmlformats.org/drawingml/2006/main">
              <a:ext uri="{FF2B5EF4-FFF2-40B4-BE49-F238E27FC236}">
                <a16:creationId xmlns:a16="http://schemas.microsoft.com/office/drawing/2014/main" id="{2743EB69-9507-46AE-B7FF-5C7EF553C00B}"/>
              </a:ext>
            </a:extLst>
          </p:cNvPr>
          <p:cNvSpPr>
            <a:spLocks xmlns:a="http://schemas.openxmlformats.org/drawingml/2006/main" noGrp="1"/>
          </p:cNvSpPr>
          <p:nvPr/>
        </p:nvSpPr>
        <p:spPr>
          <a:xfrm xmlns:a="http://schemas.openxmlformats.org/drawingml/2006/main">
            <a:off x="685800" y="2190750"/>
            <a:ext cx="226695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4" name="">
            <a:extLst xmlns:a="http://schemas.openxmlformats.org/drawingml/2006/main">
              <a:ext uri="{FF2B5EF4-FFF2-40B4-BE49-F238E27FC236}">
                <a16:creationId xmlns:a16="http://schemas.microsoft.com/office/drawing/2014/main" id="{37008764-0B88-4BB9-9C2A-A120CE631243}"/>
              </a:ext>
            </a:extLst>
          </p:cNvPr>
          <p:cNvSpPr>
            <a:spLocks xmlns:a="http://schemas.openxmlformats.org/drawingml/2006/main" noGrp="1"/>
          </p:cNvSpPr>
          <p:nvPr/>
        </p:nvSpPr>
        <p:spPr>
          <a:xfrm xmlns:a="http://schemas.openxmlformats.org/drawingml/2006/main">
            <a:off x="685800" y="2190750"/>
            <a:ext cx="2266950" cy="47625"/>
          </a:xfrm>
          <a:prstGeom xmlns:a="http://schemas.openxmlformats.org/drawingml/2006/main" prst="rect">
            <a:avLst/>
          </a:prstGeom>
          <a:solidFill xmlns:a="http://schemas.openxmlformats.org/drawingml/2006/main">
            <a:srgbClr val="2E5EAA"/>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C57D4459-B6D3-4463-805E-5F57E8777DBB}"/>
              </a:ext>
            </a:extLst>
          </p:cNvPr>
          <p:cNvSpPr>
            <a:spLocks xmlns:a="http://schemas.openxmlformats.org/drawingml/2006/main" noGrp="1"/>
          </p:cNvSpPr>
          <p:nvPr/>
        </p:nvSpPr>
        <p:spPr>
          <a:xfrm xmlns:a="http://schemas.openxmlformats.org/drawingml/2006/main">
            <a:off x="819150" y="2343150"/>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2E5EAA"/>
                </a:solidFill>
                <a:latin typeface="Aptos"/>
                <a:ea typeface="Aptos"/>
                <a:cs typeface="Aptos"/>
              </a:defRPr>
            </a:pPr>
            <a:r>
              <a:rPr sz="1800" b="1">
                <a:solidFill>
                  <a:srgbClr val="2E5EAA"/>
                </a:solidFill>
                <a:latin typeface="Aptos"/>
                <a:ea typeface="Aptos"/>
                <a:cs typeface="Aptos"/>
              </a:rPr>
              <a:t>01</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7ed746d88eb44ee">
            <a:extLst>
              <a:ext uri="{96DAC541-7B7A-43D3-8B79-37D633B846F1}">
                <asvg:svgBlip xmlns:asvg="http://schemas.microsoft.com/office/drawing/2016/SVG/main" r:embed="R12351a473ab84e8b"/>
              </a:ext>
            </a:extLst>
          </a:blip>
          <a:stretch xmlns:a="http://schemas.openxmlformats.org/drawingml/2006/main"/>
        </p:blipFill>
        <p:spPr>
          <a:xfrm xmlns:a="http://schemas.openxmlformats.org/drawingml/2006/main">
            <a:off x="2495550" y="2343150"/>
            <a:ext cx="266700" cy="266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9E390FC-DC31-4D88-8074-089018D714A2}"/>
              </a:ext>
            </a:extLst>
          </p:cNvPr>
          <p:cNvSpPr>
            <a:spLocks xmlns:a="http://schemas.openxmlformats.org/drawingml/2006/main" noGrp="1"/>
          </p:cNvSpPr>
          <p:nvPr/>
        </p:nvSpPr>
        <p:spPr>
          <a:xfrm xmlns:a="http://schemas.openxmlformats.org/drawingml/2006/main">
            <a:off x="838200" y="27432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a:ea typeface="Aptos"/>
                <a:cs typeface="Aptos"/>
              </a:defRPr>
            </a:pPr>
            <a:r>
              <a:rPr sz="1350" b="1">
                <a:solidFill>
                  <a:srgbClr val="101820"/>
                </a:solidFill>
                <a:latin typeface="Aptos"/>
                <a:ea typeface="Aptos"/>
                <a:cs typeface="Aptos"/>
              </a:rPr>
              <a:t>Mosquitto</a:t>
            </a:r>
          </a:p>
        </p:txBody>
      </p:sp>
      <p:sp>
        <p:nvSpPr>
          <p:cNvPr id="8" name="">
            <a:extLst xmlns:a="http://schemas.openxmlformats.org/drawingml/2006/main">
              <a:ext uri="{FF2B5EF4-FFF2-40B4-BE49-F238E27FC236}">
                <a16:creationId xmlns:a16="http://schemas.microsoft.com/office/drawing/2014/main" id="{B14B5953-FB71-4E47-B243-B75ABDEFA60D}"/>
              </a:ext>
            </a:extLst>
          </p:cNvPr>
          <p:cNvSpPr>
            <a:spLocks xmlns:a="http://schemas.openxmlformats.org/drawingml/2006/main" noGrp="1"/>
          </p:cNvSpPr>
          <p:nvPr/>
        </p:nvSpPr>
        <p:spPr>
          <a:xfrm xmlns:a="http://schemas.openxmlformats.org/drawingml/2006/main">
            <a:off x="838200" y="3028950"/>
            <a:ext cx="2000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E6872"/>
                </a:solidFill>
                <a:latin typeface="Aptos"/>
                <a:ea typeface="Aptos"/>
                <a:cs typeface="Aptos"/>
              </a:defRPr>
            </a:pPr>
            <a:r>
              <a:rPr sz="900" b="0">
                <a:solidFill>
                  <a:srgbClr val="5E6872"/>
                </a:solidFill>
                <a:latin typeface="Aptos"/>
                <a:ea typeface="Aptos"/>
                <a:cs typeface="Aptos"/>
              </a:rPr>
              <a:t>LAN broker receives smart-visual-alarm/events</a:t>
            </a:r>
          </a:p>
        </p:txBody>
      </p:sp>
      <p:sp>
        <p:nvSpPr>
          <p:cNvPr id="9" name="">
            <a:extLst xmlns:a="http://schemas.openxmlformats.org/drawingml/2006/main">
              <a:ext uri="{FF2B5EF4-FFF2-40B4-BE49-F238E27FC236}">
                <a16:creationId xmlns:a16="http://schemas.microsoft.com/office/drawing/2014/main" id="{FE9A3DD8-3F27-4C4F-91F3-E42F72E74749}"/>
              </a:ext>
            </a:extLst>
          </p:cNvPr>
          <p:cNvSpPr>
            <a:spLocks xmlns:a="http://schemas.openxmlformats.org/drawingml/2006/main" noGrp="1"/>
          </p:cNvSpPr>
          <p:nvPr/>
        </p:nvSpPr>
        <p:spPr>
          <a:xfrm xmlns:a="http://schemas.openxmlformats.org/drawingml/2006/main">
            <a:off x="3019425" y="2914650"/>
            <a:ext cx="266700" cy="38100"/>
          </a:xfrm>
          <a:prstGeom xmlns:a="http://schemas.openxmlformats.org/drawingml/2006/main" prst="rect">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508B27AF-CFC5-4FF4-A817-537B20E25D95}"/>
              </a:ext>
            </a:extLst>
          </p:cNvPr>
          <p:cNvSpPr>
            <a:spLocks xmlns:a="http://schemas.openxmlformats.org/drawingml/2006/main" noGrp="1"/>
          </p:cNvSpPr>
          <p:nvPr/>
        </p:nvSpPr>
        <p:spPr>
          <a:xfrm xmlns:a="http://schemas.openxmlformats.org/drawingml/2006/main">
            <a:off x="3219450" y="2867025"/>
            <a:ext cx="133350" cy="133350"/>
          </a:xfrm>
          <a:prstGeom xmlns:a="http://schemas.openxmlformats.org/drawingml/2006/main" prst="ellipse">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E580564B-2D81-4B54-AFCD-1B6B4E840F34}"/>
              </a:ext>
            </a:extLst>
          </p:cNvPr>
          <p:cNvSpPr>
            <a:spLocks xmlns:a="http://schemas.openxmlformats.org/drawingml/2006/main" noGrp="1"/>
          </p:cNvSpPr>
          <p:nvPr/>
        </p:nvSpPr>
        <p:spPr>
          <a:xfrm xmlns:a="http://schemas.openxmlformats.org/drawingml/2006/main">
            <a:off x="3352800" y="2190750"/>
            <a:ext cx="226695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12" name="">
            <a:extLst xmlns:a="http://schemas.openxmlformats.org/drawingml/2006/main">
              <a:ext uri="{FF2B5EF4-FFF2-40B4-BE49-F238E27FC236}">
                <a16:creationId xmlns:a16="http://schemas.microsoft.com/office/drawing/2014/main" id="{8C3EA765-DE35-4274-BF55-FBA20A1498F3}"/>
              </a:ext>
            </a:extLst>
          </p:cNvPr>
          <p:cNvSpPr>
            <a:spLocks xmlns:a="http://schemas.openxmlformats.org/drawingml/2006/main" noGrp="1"/>
          </p:cNvSpPr>
          <p:nvPr/>
        </p:nvSpPr>
        <p:spPr>
          <a:xfrm xmlns:a="http://schemas.openxmlformats.org/drawingml/2006/main">
            <a:off x="3352800" y="2190750"/>
            <a:ext cx="2266950" cy="47625"/>
          </a:xfrm>
          <a:prstGeom xmlns:a="http://schemas.openxmlformats.org/drawingml/2006/main" prst="rect">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AD745F00-A97E-436F-9BC4-1951BA6E94D3}"/>
              </a:ext>
            </a:extLst>
          </p:cNvPr>
          <p:cNvSpPr>
            <a:spLocks xmlns:a="http://schemas.openxmlformats.org/drawingml/2006/main" noGrp="1"/>
          </p:cNvSpPr>
          <p:nvPr/>
        </p:nvSpPr>
        <p:spPr>
          <a:xfrm xmlns:a="http://schemas.openxmlformats.org/drawingml/2006/main">
            <a:off x="3486150" y="2343150"/>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0E7C86"/>
                </a:solidFill>
                <a:latin typeface="Aptos"/>
                <a:ea typeface="Aptos"/>
                <a:cs typeface="Aptos"/>
              </a:defRPr>
            </a:pPr>
            <a:r>
              <a:rPr sz="1800" b="1">
                <a:solidFill>
                  <a:srgbClr val="0E7C86"/>
                </a:solidFill>
                <a:latin typeface="Aptos"/>
                <a:ea typeface="Aptos"/>
                <a:cs typeface="Aptos"/>
              </a:rPr>
              <a:t>02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cfce527fdc54b42">
            <a:extLst>
              <a:ext uri="{96DAC541-7B7A-43D3-8B79-37D633B846F1}">
                <asvg:svgBlip xmlns:asvg="http://schemas.microsoft.com/office/drawing/2016/SVG/main" r:embed="R87f19e930c644a33"/>
              </a:ext>
            </a:extLst>
          </a:blip>
          <a:stretch xmlns:a="http://schemas.openxmlformats.org/drawingml/2006/main"/>
        </p:blipFill>
        <p:spPr>
          <a:xfrm xmlns:a="http://schemas.openxmlformats.org/drawingml/2006/main">
            <a:off x="5162550" y="2343150"/>
            <a:ext cx="266700" cy="2667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922F82A3-F2AB-4191-BD2A-DE4CBD0342F8}"/>
              </a:ext>
            </a:extLst>
          </p:cNvPr>
          <p:cNvSpPr>
            <a:spLocks xmlns:a="http://schemas.openxmlformats.org/drawingml/2006/main" noGrp="1"/>
          </p:cNvSpPr>
          <p:nvPr/>
        </p:nvSpPr>
        <p:spPr>
          <a:xfrm xmlns:a="http://schemas.openxmlformats.org/drawingml/2006/main">
            <a:off x="3505200" y="27432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a:ea typeface="Aptos"/>
                <a:cs typeface="Aptos"/>
              </a:defRPr>
            </a:pPr>
            <a:r>
              <a:rPr sz="1350" b="1">
                <a:solidFill>
                  <a:srgbClr val="101820"/>
                </a:solidFill>
                <a:latin typeface="Aptos"/>
                <a:ea typeface="Aptos"/>
                <a:cs typeface="Aptos"/>
              </a:rPr>
              <a:t>paho-mqtt</a:t>
            </a:r>
          </a:p>
        </p:txBody>
      </p:sp>
      <p:sp>
        <p:nvSpPr>
          <p:cNvPr id="16" name="">
            <a:extLst xmlns:a="http://schemas.openxmlformats.org/drawingml/2006/main">
              <a:ext uri="{FF2B5EF4-FFF2-40B4-BE49-F238E27FC236}">
                <a16:creationId xmlns:a16="http://schemas.microsoft.com/office/drawing/2014/main" id="{C15733BE-23DA-47D2-B133-4D902975D2D1}"/>
              </a:ext>
            </a:extLst>
          </p:cNvPr>
          <p:cNvSpPr>
            <a:spLocks xmlns:a="http://schemas.openxmlformats.org/drawingml/2006/main" noGrp="1"/>
          </p:cNvSpPr>
          <p:nvPr/>
        </p:nvSpPr>
        <p:spPr>
          <a:xfrm xmlns:a="http://schemas.openxmlformats.org/drawingml/2006/main">
            <a:off x="3505200" y="3028950"/>
            <a:ext cx="2000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E6872"/>
                </a:solidFill>
                <a:latin typeface="Aptos"/>
                <a:ea typeface="Aptos"/>
                <a:cs typeface="Aptos"/>
              </a:defRPr>
            </a:pPr>
            <a:r>
              <a:rPr sz="900" b="0">
                <a:solidFill>
                  <a:srgbClr val="5E6872"/>
                </a:solidFill>
                <a:latin typeface="Aptos"/>
                <a:ea typeface="Aptos"/>
                <a:cs typeface="Aptos"/>
              </a:rPr>
              <a:t>Python subscriber receives the JSON payload</a:t>
            </a:r>
          </a:p>
        </p:txBody>
      </p:sp>
      <p:sp>
        <p:nvSpPr>
          <p:cNvPr id="17" name="">
            <a:extLst xmlns:a="http://schemas.openxmlformats.org/drawingml/2006/main">
              <a:ext uri="{FF2B5EF4-FFF2-40B4-BE49-F238E27FC236}">
                <a16:creationId xmlns:a16="http://schemas.microsoft.com/office/drawing/2014/main" id="{A233FC27-0547-4552-B7E1-A599C6A92980}"/>
              </a:ext>
            </a:extLst>
          </p:cNvPr>
          <p:cNvSpPr>
            <a:spLocks xmlns:a="http://schemas.openxmlformats.org/drawingml/2006/main" noGrp="1"/>
          </p:cNvSpPr>
          <p:nvPr/>
        </p:nvSpPr>
        <p:spPr>
          <a:xfrm xmlns:a="http://schemas.openxmlformats.org/drawingml/2006/main">
            <a:off x="5686425" y="2914650"/>
            <a:ext cx="266700" cy="38100"/>
          </a:xfrm>
          <a:prstGeom xmlns:a="http://schemas.openxmlformats.org/drawingml/2006/main" prst="rect">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C4822AFB-4C32-4365-9217-3D1A6F3BCB04}"/>
              </a:ext>
            </a:extLst>
          </p:cNvPr>
          <p:cNvSpPr>
            <a:spLocks xmlns:a="http://schemas.openxmlformats.org/drawingml/2006/main" noGrp="1"/>
          </p:cNvSpPr>
          <p:nvPr/>
        </p:nvSpPr>
        <p:spPr>
          <a:xfrm xmlns:a="http://schemas.openxmlformats.org/drawingml/2006/main">
            <a:off x="5886450" y="2867025"/>
            <a:ext cx="133350" cy="133350"/>
          </a:xfrm>
          <a:prstGeom xmlns:a="http://schemas.openxmlformats.org/drawingml/2006/main" prst="ellipse">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EF8EFA29-6AF0-4F8C-9810-8865B9837BF8}"/>
              </a:ext>
            </a:extLst>
          </p:cNvPr>
          <p:cNvSpPr>
            <a:spLocks xmlns:a="http://schemas.openxmlformats.org/drawingml/2006/main" noGrp="1"/>
          </p:cNvSpPr>
          <p:nvPr/>
        </p:nvSpPr>
        <p:spPr>
          <a:xfrm xmlns:a="http://schemas.openxmlformats.org/drawingml/2006/main">
            <a:off x="6019800" y="2190750"/>
            <a:ext cx="226695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20" name="">
            <a:extLst xmlns:a="http://schemas.openxmlformats.org/drawingml/2006/main">
              <a:ext uri="{FF2B5EF4-FFF2-40B4-BE49-F238E27FC236}">
                <a16:creationId xmlns:a16="http://schemas.microsoft.com/office/drawing/2014/main" id="{0555D912-F064-4D3F-BFED-C46BFFD08D1F}"/>
              </a:ext>
            </a:extLst>
          </p:cNvPr>
          <p:cNvSpPr>
            <a:spLocks xmlns:a="http://schemas.openxmlformats.org/drawingml/2006/main" noGrp="1"/>
          </p:cNvSpPr>
          <p:nvPr/>
        </p:nvSpPr>
        <p:spPr>
          <a:xfrm xmlns:a="http://schemas.openxmlformats.org/drawingml/2006/main">
            <a:off x="6019800" y="2190750"/>
            <a:ext cx="2266950" cy="47625"/>
          </a:xfrm>
          <a:prstGeom xmlns:a="http://schemas.openxmlformats.org/drawingml/2006/main" prst="rect">
            <a:avLst/>
          </a:prstGeom>
          <a:solidFill xmlns:a="http://schemas.openxmlformats.org/drawingml/2006/main">
            <a:srgbClr val="2E7D46"/>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FF832D74-947F-4549-90EF-9E0A6A49C090}"/>
              </a:ext>
            </a:extLst>
          </p:cNvPr>
          <p:cNvSpPr>
            <a:spLocks xmlns:a="http://schemas.openxmlformats.org/drawingml/2006/main" noGrp="1"/>
          </p:cNvSpPr>
          <p:nvPr/>
        </p:nvSpPr>
        <p:spPr>
          <a:xfrm xmlns:a="http://schemas.openxmlformats.org/drawingml/2006/main">
            <a:off x="6153150" y="2343150"/>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2E7D46"/>
                </a:solidFill>
                <a:latin typeface="Aptos"/>
                <a:ea typeface="Aptos"/>
                <a:cs typeface="Aptos"/>
              </a:defRPr>
            </a:pPr>
            <a:r>
              <a:rPr sz="1800" b="1">
                <a:solidFill>
                  <a:srgbClr val="2E7D46"/>
                </a:solidFill>
                <a:latin typeface="Aptos"/>
                <a:ea typeface="Aptos"/>
                <a:cs typeface="Aptos"/>
              </a:rPr>
              <a:t>03</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8de3aa937d74d4d">
            <a:extLst>
              <a:ext uri="{96DAC541-7B7A-43D3-8B79-37D633B846F1}">
                <asvg:svgBlip xmlns:asvg="http://schemas.microsoft.com/office/drawing/2016/SVG/main" r:embed="R5570d24464d740eb"/>
              </a:ext>
            </a:extLst>
          </a:blip>
          <a:stretch xmlns:a="http://schemas.openxmlformats.org/drawingml/2006/main"/>
        </p:blipFill>
        <p:spPr>
          <a:xfrm xmlns:a="http://schemas.openxmlformats.org/drawingml/2006/main">
            <a:off x="7829550" y="2343150"/>
            <a:ext cx="266700" cy="2667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B162CA8A-1167-45C5-BB7B-A400C98D5761}"/>
              </a:ext>
            </a:extLst>
          </p:cNvPr>
          <p:cNvSpPr>
            <a:spLocks xmlns:a="http://schemas.openxmlformats.org/drawingml/2006/main" noGrp="1"/>
          </p:cNvSpPr>
          <p:nvPr/>
        </p:nvSpPr>
        <p:spPr>
          <a:xfrm xmlns:a="http://schemas.openxmlformats.org/drawingml/2006/main">
            <a:off x="6172200" y="27432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a:ea typeface="Aptos"/>
                <a:cs typeface="Aptos"/>
              </a:defRPr>
            </a:pPr>
            <a:r>
              <a:rPr sz="1350" b="1">
                <a:solidFill>
                  <a:srgbClr val="101820"/>
                </a:solidFill>
                <a:latin typeface="Aptos"/>
                <a:ea typeface="Aptos"/>
                <a:cs typeface="Aptos"/>
              </a:rPr>
              <a:t>validator</a:t>
            </a:r>
          </a:p>
        </p:txBody>
      </p:sp>
      <p:sp>
        <p:nvSpPr>
          <p:cNvPr id="24" name="">
            <a:extLst xmlns:a="http://schemas.openxmlformats.org/drawingml/2006/main">
              <a:ext uri="{FF2B5EF4-FFF2-40B4-BE49-F238E27FC236}">
                <a16:creationId xmlns:a16="http://schemas.microsoft.com/office/drawing/2014/main" id="{513B6C72-ADED-4653-89B0-E154E8EF85E8}"/>
              </a:ext>
            </a:extLst>
          </p:cNvPr>
          <p:cNvSpPr>
            <a:spLocks xmlns:a="http://schemas.openxmlformats.org/drawingml/2006/main" noGrp="1"/>
          </p:cNvSpPr>
          <p:nvPr/>
        </p:nvSpPr>
        <p:spPr>
          <a:xfrm xmlns:a="http://schemas.openxmlformats.org/drawingml/2006/main">
            <a:off x="6172200" y="3028950"/>
            <a:ext cx="2000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E6872"/>
                </a:solidFill>
                <a:latin typeface="Aptos"/>
                <a:ea typeface="Aptos"/>
                <a:cs typeface="Aptos"/>
              </a:defRPr>
            </a:pPr>
            <a:r>
              <a:rPr sz="900" b="0">
                <a:solidFill>
                  <a:srgbClr val="5E6872"/>
                </a:solidFill>
                <a:latin typeface="Aptos"/>
                <a:ea typeface="Aptos"/>
                <a:cs typeface="Aptos"/>
              </a:rPr>
              <a:t>Rejects missing fields and invalid confidence</a:t>
            </a:r>
          </a:p>
        </p:txBody>
      </p:sp>
      <p:sp>
        <p:nvSpPr>
          <p:cNvPr id="25" name="">
            <a:extLst xmlns:a="http://schemas.openxmlformats.org/drawingml/2006/main">
              <a:ext uri="{FF2B5EF4-FFF2-40B4-BE49-F238E27FC236}">
                <a16:creationId xmlns:a16="http://schemas.microsoft.com/office/drawing/2014/main" id="{B0500962-13BA-4CB9-917F-F1E71CD35344}"/>
              </a:ext>
            </a:extLst>
          </p:cNvPr>
          <p:cNvSpPr>
            <a:spLocks xmlns:a="http://schemas.openxmlformats.org/drawingml/2006/main" noGrp="1"/>
          </p:cNvSpPr>
          <p:nvPr/>
        </p:nvSpPr>
        <p:spPr>
          <a:xfrm xmlns:a="http://schemas.openxmlformats.org/drawingml/2006/main">
            <a:off x="8353425" y="2914650"/>
            <a:ext cx="266700" cy="38100"/>
          </a:xfrm>
          <a:prstGeom xmlns:a="http://schemas.openxmlformats.org/drawingml/2006/main" prst="rect">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6F44E006-AAE5-42E3-8068-57D72A594B9F}"/>
              </a:ext>
            </a:extLst>
          </p:cNvPr>
          <p:cNvSpPr>
            <a:spLocks xmlns:a="http://schemas.openxmlformats.org/drawingml/2006/main" noGrp="1"/>
          </p:cNvSpPr>
          <p:nvPr/>
        </p:nvSpPr>
        <p:spPr>
          <a:xfrm xmlns:a="http://schemas.openxmlformats.org/drawingml/2006/main">
            <a:off x="8553450" y="2867025"/>
            <a:ext cx="133350" cy="133350"/>
          </a:xfrm>
          <a:prstGeom xmlns:a="http://schemas.openxmlformats.org/drawingml/2006/main" prst="ellipse">
            <a:avLst/>
          </a:prstGeom>
          <a:solidFill xmlns:a="http://schemas.openxmlformats.org/drawingml/2006/main">
            <a:srgbClr val="D8D1C5"/>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9E5D20B0-2629-4EF0-8185-62D6E4703E5C}"/>
              </a:ext>
            </a:extLst>
          </p:cNvPr>
          <p:cNvSpPr>
            <a:spLocks xmlns:a="http://schemas.openxmlformats.org/drawingml/2006/main" noGrp="1"/>
          </p:cNvSpPr>
          <p:nvPr/>
        </p:nvSpPr>
        <p:spPr>
          <a:xfrm xmlns:a="http://schemas.openxmlformats.org/drawingml/2006/main">
            <a:off x="8686800" y="2190750"/>
            <a:ext cx="226695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28" name="">
            <a:extLst xmlns:a="http://schemas.openxmlformats.org/drawingml/2006/main">
              <a:ext uri="{FF2B5EF4-FFF2-40B4-BE49-F238E27FC236}">
                <a16:creationId xmlns:a16="http://schemas.microsoft.com/office/drawing/2014/main" id="{504B3AA0-F968-477D-A990-B6A75C410CCD}"/>
              </a:ext>
            </a:extLst>
          </p:cNvPr>
          <p:cNvSpPr>
            <a:spLocks xmlns:a="http://schemas.openxmlformats.org/drawingml/2006/main" noGrp="1"/>
          </p:cNvSpPr>
          <p:nvPr/>
        </p:nvSpPr>
        <p:spPr>
          <a:xfrm xmlns:a="http://schemas.openxmlformats.org/drawingml/2006/main">
            <a:off x="8686800" y="2190750"/>
            <a:ext cx="2266950" cy="47625"/>
          </a:xfrm>
          <a:prstGeom xmlns:a="http://schemas.openxmlformats.org/drawingml/2006/main" prst="rect">
            <a:avLst/>
          </a:prstGeom>
          <a:solidFill xmlns:a="http://schemas.openxmlformats.org/drawingml/2006/main">
            <a:srgbClr val="C32832"/>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70BC8240-1F82-4E3D-9E7E-12516757C7DB}"/>
              </a:ext>
            </a:extLst>
          </p:cNvPr>
          <p:cNvSpPr>
            <a:spLocks xmlns:a="http://schemas.openxmlformats.org/drawingml/2006/main" noGrp="1"/>
          </p:cNvSpPr>
          <p:nvPr/>
        </p:nvSpPr>
        <p:spPr>
          <a:xfrm xmlns:a="http://schemas.openxmlformats.org/drawingml/2006/main">
            <a:off x="8820150" y="2343150"/>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C32832"/>
                </a:solidFill>
                <a:latin typeface="Aptos"/>
                <a:ea typeface="Aptos"/>
                <a:cs typeface="Aptos"/>
              </a:defRPr>
            </a:pPr>
            <a:r>
              <a:rPr sz="1800" b="1">
                <a:solidFill>
                  <a:srgbClr val="C32832"/>
                </a:solidFill>
                <a:latin typeface="Aptos"/>
                <a:ea typeface="Aptos"/>
                <a:cs typeface="Aptos"/>
              </a:rPr>
              <a:t>04</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9b81f58e14f245b3">
            <a:extLst>
              <a:ext uri="{96DAC541-7B7A-43D3-8B79-37D633B846F1}">
                <asvg:svgBlip xmlns:asvg="http://schemas.microsoft.com/office/drawing/2016/SVG/main" r:embed="Rba964363dbd243fc"/>
              </a:ext>
            </a:extLst>
          </a:blip>
          <a:stretch xmlns:a="http://schemas.openxmlformats.org/drawingml/2006/main"/>
        </p:blipFill>
        <p:spPr>
          <a:xfrm xmlns:a="http://schemas.openxmlformats.org/drawingml/2006/main">
            <a:off x="10496550" y="2343150"/>
            <a:ext cx="266700" cy="26670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BED907FC-A20A-40AA-A35D-3E0C524C33D8}"/>
              </a:ext>
            </a:extLst>
          </p:cNvPr>
          <p:cNvSpPr>
            <a:spLocks xmlns:a="http://schemas.openxmlformats.org/drawingml/2006/main" noGrp="1"/>
          </p:cNvSpPr>
          <p:nvPr/>
        </p:nvSpPr>
        <p:spPr>
          <a:xfrm xmlns:a="http://schemas.openxmlformats.org/drawingml/2006/main">
            <a:off x="8839200" y="27432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a:ea typeface="Aptos"/>
                <a:cs typeface="Aptos"/>
              </a:defRPr>
            </a:pPr>
            <a:r>
              <a:rPr sz="1350" b="1">
                <a:solidFill>
                  <a:srgbClr val="101820"/>
                </a:solidFill>
                <a:latin typeface="Aptos"/>
                <a:ea typeface="Aptos"/>
                <a:cs typeface="Aptos"/>
              </a:rPr>
              <a:t>sendMessage</a:t>
            </a:r>
          </a:p>
        </p:txBody>
      </p:sp>
      <p:sp>
        <p:nvSpPr>
          <p:cNvPr id="32" name="">
            <a:extLst xmlns:a="http://schemas.openxmlformats.org/drawingml/2006/main">
              <a:ext uri="{FF2B5EF4-FFF2-40B4-BE49-F238E27FC236}">
                <a16:creationId xmlns:a16="http://schemas.microsoft.com/office/drawing/2014/main" id="{4BB8D099-39E0-4A8C-82FA-91D0ECF17F65}"/>
              </a:ext>
            </a:extLst>
          </p:cNvPr>
          <p:cNvSpPr>
            <a:spLocks xmlns:a="http://schemas.openxmlformats.org/drawingml/2006/main" noGrp="1"/>
          </p:cNvSpPr>
          <p:nvPr/>
        </p:nvSpPr>
        <p:spPr>
          <a:xfrm xmlns:a="http://schemas.openxmlformats.org/drawingml/2006/main">
            <a:off x="8839200" y="3028950"/>
            <a:ext cx="2000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E6872"/>
                </a:solidFill>
                <a:latin typeface="Aptos"/>
                <a:ea typeface="Aptos"/>
                <a:cs typeface="Aptos"/>
              </a:defRPr>
            </a:pPr>
            <a:r>
              <a:rPr sz="900" b="0">
                <a:solidFill>
                  <a:srgbClr val="5E6872"/>
                </a:solidFill>
                <a:latin typeface="Aptos"/>
                <a:ea typeface="Aptos"/>
                <a:cs typeface="Aptos"/>
              </a:rPr>
              <a:t>requests posts to Telegram Bot API</a:t>
            </a:r>
          </a:p>
        </p:txBody>
      </p:sp>
      <p:sp>
        <p:nvSpPr>
          <p:cNvPr id="33" name="">
            <a:extLst xmlns:a="http://schemas.openxmlformats.org/drawingml/2006/main">
              <a:ext uri="{FF2B5EF4-FFF2-40B4-BE49-F238E27FC236}">
                <a16:creationId xmlns:a16="http://schemas.microsoft.com/office/drawing/2014/main" id="{49FA8E5B-C449-4136-81FA-692EB017926B}"/>
              </a:ext>
            </a:extLst>
          </p:cNvPr>
          <p:cNvSpPr>
            <a:spLocks xmlns:a="http://schemas.openxmlformats.org/drawingml/2006/main" noGrp="1"/>
          </p:cNvSpPr>
          <p:nvPr/>
        </p:nvSpPr>
        <p:spPr>
          <a:xfrm xmlns:a="http://schemas.openxmlformats.org/drawingml/2006/main">
            <a:off x="952500" y="4343400"/>
            <a:ext cx="4762500" cy="1428750"/>
          </a:xfrm>
          <a:prstGeom xmlns:a="http://schemas.openxmlformats.org/drawingml/2006/main" prst="rect">
            <a:avLst/>
          </a:prstGeom>
          <a:solidFill xmlns:a="http://schemas.openxmlformats.org/drawingml/2006/main">
            <a:srgbClr val="DDF0EF"/>
          </a:solidFill>
          <a:ln xmlns:a="http://schemas.openxmlformats.org/drawingml/2006/main" w="9525">
            <a:solidFill>
              <a:srgbClr val="9FD1CF"/>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1a1bafb9b4e3450c">
            <a:extLst>
              <a:ext uri="{96DAC541-7B7A-43D3-8B79-37D633B846F1}">
                <asvg:svgBlip xmlns:asvg="http://schemas.microsoft.com/office/drawing/2016/SVG/main" r:embed="R58b42a9ac6d94560"/>
              </a:ext>
            </a:extLst>
          </a:blip>
          <a:stretch xmlns:a="http://schemas.openxmlformats.org/drawingml/2006/main"/>
        </p:blipFill>
        <p:spPr>
          <a:xfrm xmlns:a="http://schemas.openxmlformats.org/drawingml/2006/main">
            <a:off x="1200150" y="4591050"/>
            <a:ext cx="323850" cy="323850"/>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A7324813-2FEB-48AF-8273-B283F26022E4}"/>
              </a:ext>
            </a:extLst>
          </p:cNvPr>
          <p:cNvSpPr>
            <a:spLocks xmlns:a="http://schemas.openxmlformats.org/drawingml/2006/main" noGrp="1"/>
          </p:cNvSpPr>
          <p:nvPr/>
        </p:nvSpPr>
        <p:spPr>
          <a:xfrm xmlns:a="http://schemas.openxmlformats.org/drawingml/2006/main">
            <a:off x="1676400" y="4552950"/>
            <a:ext cx="2476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01820"/>
                </a:solidFill>
                <a:latin typeface="Aptos"/>
                <a:ea typeface="Aptos"/>
                <a:cs typeface="Aptos"/>
              </a:defRPr>
            </a:pPr>
            <a:r>
              <a:rPr sz="1800" b="1">
                <a:solidFill>
                  <a:srgbClr val="101820"/>
                </a:solidFill>
                <a:latin typeface="Aptos"/>
                <a:ea typeface="Aptos"/>
                <a:cs typeface="Aptos"/>
              </a:rPr>
              <a:t>Backend checks</a:t>
            </a:r>
          </a:p>
        </p:txBody>
      </p:sp>
      <p:sp>
        <p:nvSpPr>
          <p:cNvPr id="36" name="">
            <a:extLst xmlns:a="http://schemas.openxmlformats.org/drawingml/2006/main">
              <a:ext uri="{FF2B5EF4-FFF2-40B4-BE49-F238E27FC236}">
                <a16:creationId xmlns:a16="http://schemas.microsoft.com/office/drawing/2014/main" id="{9713E876-6C06-4E07-9B18-15B7D326F1CB}"/>
              </a:ext>
            </a:extLst>
          </p:cNvPr>
          <p:cNvSpPr>
            <a:spLocks xmlns:a="http://schemas.openxmlformats.org/drawingml/2006/main" noGrp="1"/>
          </p:cNvSpPr>
          <p:nvPr/>
        </p:nvSpPr>
        <p:spPr>
          <a:xfrm xmlns:a="http://schemas.openxmlformats.org/drawingml/2006/main">
            <a:off x="1257300" y="5038725"/>
            <a:ext cx="114300" cy="114300"/>
          </a:xfrm>
          <a:prstGeom xmlns:a="http://schemas.openxmlformats.org/drawingml/2006/main" prst="ellipse">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89BD2D39-F595-4994-A07C-BAA059B6D9E4}"/>
              </a:ext>
            </a:extLst>
          </p:cNvPr>
          <p:cNvSpPr>
            <a:spLocks xmlns:a="http://schemas.openxmlformats.org/drawingml/2006/main" noGrp="1"/>
          </p:cNvSpPr>
          <p:nvPr/>
        </p:nvSpPr>
        <p:spPr>
          <a:xfrm xmlns:a="http://schemas.openxmlformats.org/drawingml/2006/main">
            <a:off x="1504950" y="4972050"/>
            <a:ext cx="3905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required fields exist and have correct types</a:t>
            </a:r>
          </a:p>
        </p:txBody>
      </p:sp>
      <p:sp>
        <p:nvSpPr>
          <p:cNvPr id="38" name="">
            <a:extLst xmlns:a="http://schemas.openxmlformats.org/drawingml/2006/main">
              <a:ext uri="{FF2B5EF4-FFF2-40B4-BE49-F238E27FC236}">
                <a16:creationId xmlns:a16="http://schemas.microsoft.com/office/drawing/2014/main" id="{6F377EE3-11EA-4790-B372-C608AE19D641}"/>
              </a:ext>
            </a:extLst>
          </p:cNvPr>
          <p:cNvSpPr>
            <a:spLocks xmlns:a="http://schemas.openxmlformats.org/drawingml/2006/main" noGrp="1"/>
          </p:cNvSpPr>
          <p:nvPr/>
        </p:nvSpPr>
        <p:spPr>
          <a:xfrm xmlns:a="http://schemas.openxmlformats.org/drawingml/2006/main">
            <a:off x="1257300" y="5267325"/>
            <a:ext cx="114300" cy="114300"/>
          </a:xfrm>
          <a:prstGeom xmlns:a="http://schemas.openxmlformats.org/drawingml/2006/main" prst="ellipse">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5783E6C0-5065-4849-AC2C-0907C8E50CDF}"/>
              </a:ext>
            </a:extLst>
          </p:cNvPr>
          <p:cNvSpPr>
            <a:spLocks xmlns:a="http://schemas.openxmlformats.org/drawingml/2006/main" noGrp="1"/>
          </p:cNvSpPr>
          <p:nvPr/>
        </p:nvSpPr>
        <p:spPr>
          <a:xfrm xmlns:a="http://schemas.openxmlformats.org/drawingml/2006/main">
            <a:off x="1504950" y="5200650"/>
            <a:ext cx="3905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confidence is numeric and between 0 and 1</a:t>
            </a:r>
          </a:p>
        </p:txBody>
      </p:sp>
      <p:sp>
        <p:nvSpPr>
          <p:cNvPr id="40" name="">
            <a:extLst xmlns:a="http://schemas.openxmlformats.org/drawingml/2006/main">
              <a:ext uri="{FF2B5EF4-FFF2-40B4-BE49-F238E27FC236}">
                <a16:creationId xmlns:a16="http://schemas.microsoft.com/office/drawing/2014/main" id="{E5EB1643-9E75-441C-B84B-A28EC4CFDAE5}"/>
              </a:ext>
            </a:extLst>
          </p:cNvPr>
          <p:cNvSpPr>
            <a:spLocks xmlns:a="http://schemas.openxmlformats.org/drawingml/2006/main" noGrp="1"/>
          </p:cNvSpPr>
          <p:nvPr/>
        </p:nvSpPr>
        <p:spPr>
          <a:xfrm xmlns:a="http://schemas.openxmlformats.org/drawingml/2006/main">
            <a:off x="1257300" y="5495925"/>
            <a:ext cx="114300" cy="114300"/>
          </a:xfrm>
          <a:prstGeom xmlns:a="http://schemas.openxmlformats.org/drawingml/2006/main" prst="ellipse">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E35DB780-2ED8-4DAD-8145-D06C69CE7846}"/>
              </a:ext>
            </a:extLst>
          </p:cNvPr>
          <p:cNvSpPr>
            <a:spLocks xmlns:a="http://schemas.openxmlformats.org/drawingml/2006/main" noGrp="1"/>
          </p:cNvSpPr>
          <p:nvPr/>
        </p:nvSpPr>
        <p:spPr>
          <a:xfrm xmlns:a="http://schemas.openxmlformats.org/drawingml/2006/main">
            <a:off x="1504950" y="5429250"/>
            <a:ext cx="3905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cooldown prevents repeated Telegram spam</a:t>
            </a:r>
          </a:p>
        </p:txBody>
      </p:sp>
      <p:sp>
        <p:nvSpPr>
          <p:cNvPr id="42" name="">
            <a:extLst xmlns:a="http://schemas.openxmlformats.org/drawingml/2006/main">
              <a:ext uri="{FF2B5EF4-FFF2-40B4-BE49-F238E27FC236}">
                <a16:creationId xmlns:a16="http://schemas.microsoft.com/office/drawing/2014/main" id="{A8107FB0-6FF9-4250-B641-090D1F3EC6BD}"/>
              </a:ext>
            </a:extLst>
          </p:cNvPr>
          <p:cNvSpPr>
            <a:spLocks xmlns:a="http://schemas.openxmlformats.org/drawingml/2006/main" noGrp="1"/>
          </p:cNvSpPr>
          <p:nvPr/>
        </p:nvSpPr>
        <p:spPr>
          <a:xfrm xmlns:a="http://schemas.openxmlformats.org/drawingml/2006/main">
            <a:off x="6477000" y="4343400"/>
            <a:ext cx="4286250" cy="1238250"/>
          </a:xfrm>
          <a:prstGeom xmlns:a="http://schemas.openxmlformats.org/drawingml/2006/main" prst="rect">
            <a:avLst/>
          </a:prstGeom>
          <a:solidFill xmlns:a="http://schemas.openxmlformats.org/drawingml/2006/main">
            <a:srgbClr val="8B1E29"/>
          </a:solidFill>
          <a:ln xmlns:a="http://schemas.openxmlformats.org/drawingml/2006/main" w="9525">
            <a:solidFill>
              <a:srgbClr val="8B1E29"/>
            </a:solid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63db61ff706c4e3a">
            <a:extLst>
              <a:ext uri="{96DAC541-7B7A-43D3-8B79-37D633B846F1}">
                <asvg:svgBlip xmlns:asvg="http://schemas.microsoft.com/office/drawing/2016/SVG/main" r:embed="Raa07e13197314e1d"/>
              </a:ext>
            </a:extLst>
          </a:blip>
          <a:stretch xmlns:a="http://schemas.openxmlformats.org/drawingml/2006/main"/>
        </p:blipFill>
        <p:spPr>
          <a:xfrm xmlns:a="http://schemas.openxmlformats.org/drawingml/2006/main">
            <a:off x="6724650" y="4591050"/>
            <a:ext cx="323850" cy="323850"/>
          </a:xfrm>
          <a:prstGeom xmlns:a="http://schemas.openxmlformats.org/drawingml/2006/main" prst="rect">
            <a:avLst/>
          </a:prstGeom>
        </p:spPr>
      </p:pic>
      <p:sp>
        <p:nvSpPr>
          <p:cNvPr id="44" name="">
            <a:extLst xmlns:a="http://schemas.openxmlformats.org/drawingml/2006/main">
              <a:ext uri="{FF2B5EF4-FFF2-40B4-BE49-F238E27FC236}">
                <a16:creationId xmlns:a16="http://schemas.microsoft.com/office/drawing/2014/main" id="{1C6B5C03-78CD-4068-8463-893E9B5D075E}"/>
              </a:ext>
            </a:extLst>
          </p:cNvPr>
          <p:cNvSpPr>
            <a:spLocks xmlns:a="http://schemas.openxmlformats.org/drawingml/2006/main" noGrp="1"/>
          </p:cNvSpPr>
          <p:nvPr/>
        </p:nvSpPr>
        <p:spPr>
          <a:xfrm xmlns:a="http://schemas.openxmlformats.org/drawingml/2006/main">
            <a:off x="7219950" y="4533900"/>
            <a:ext cx="30480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FFFFFF"/>
                </a:solidFill>
                <a:latin typeface="Aptos"/>
                <a:ea typeface="Aptos"/>
                <a:cs typeface="Aptos"/>
              </a:defRPr>
            </a:pPr>
            <a:r>
              <a:rPr sz="1575" b="1">
                <a:solidFill>
                  <a:srgbClr val="FFFFFF"/>
                </a:solidFill>
                <a:latin typeface="Aptos"/>
                <a:ea typeface="Aptos"/>
                <a:cs typeface="Aptos"/>
              </a:rPr>
              <a:t>User sees: device, event ID, person label, confidence, confirmation frames, timestamp, and box.</a:t>
            </a:r>
          </a:p>
        </p:txBody>
      </p:sp>
      <p:sp>
        <p:nvSpPr>
          <p:cNvPr id="45" name="">
            <a:extLst xmlns:a="http://schemas.openxmlformats.org/drawingml/2006/main">
              <a:ext uri="{FF2B5EF4-FFF2-40B4-BE49-F238E27FC236}">
                <a16:creationId xmlns:a16="http://schemas.microsoft.com/office/drawing/2014/main" id="{E33E3339-A9EC-4662-A6FB-2688A6A489FF}"/>
              </a:ext>
            </a:extLst>
          </p:cNvPr>
          <p:cNvSpPr>
            <a:spLocks xmlns:a="http://schemas.openxmlformats.org/drawingml/2006/main" noGrp="1"/>
          </p:cNvSpPr>
          <p:nvPr/>
        </p:nvSpPr>
        <p:spPr>
          <a:xfrm xmlns:a="http://schemas.openxmlformats.org/drawingml/2006/main">
            <a:off x="552450" y="64579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E6872"/>
                </a:solidFill>
                <a:latin typeface="Aptos"/>
                <a:ea typeface="Aptos"/>
                <a:cs typeface="Aptos"/>
              </a:defRPr>
            </a:pPr>
            <a:r>
              <a:rPr sz="1050" b="0">
                <a:solidFill>
                  <a:srgbClr val="5E6872"/>
                </a:solidFill>
                <a:latin typeface="Aptos"/>
                <a:ea typeface="Aptos"/>
                <a:cs typeface="Aptos"/>
              </a:rPr>
              <a:t>Smart Visual Alarm System | 07</a:t>
            </a:r>
          </a:p>
        </p:txBody>
      </p:sp>
    </p:spTree>
    <p:extLst>
      <p:ext uri="{BB962C8B-B14F-4D97-AF65-F5344CB8AC3E}">
        <p14:creationId xmlns:p14="http://schemas.microsoft.com/office/powerpoint/2010/main" val="15758234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DAC61B4-3108-4B44-8C1A-A01E6455CC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5BA9306-2FB3-49AC-A64D-2FF684428D95}"/>
              </a:ext>
            </a:extLst>
          </p:cNvPr>
          <p:cNvSpPr>
            <a:spLocks xmlns:a="http://schemas.openxmlformats.org/drawingml/2006/main" noGrp="1"/>
          </p:cNvSpPr>
          <p:nvPr/>
        </p:nvSpPr>
        <p:spPr>
          <a:xfrm xmlns:a="http://schemas.openxmlformats.org/drawingml/2006/main">
            <a:off x="552450" y="438150"/>
            <a:ext cx="8763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01820"/>
                </a:solidFill>
                <a:latin typeface="Aptos Display"/>
                <a:ea typeface="Aptos Display"/>
                <a:cs typeface="Aptos Display"/>
              </a:defRPr>
            </a:pPr>
            <a:r>
              <a:rPr sz="3300" b="1">
                <a:solidFill>
                  <a:srgbClr val="101820"/>
                </a:solidFill>
                <a:latin typeface="Aptos Display"/>
                <a:ea typeface="Aptos Display"/>
                <a:cs typeface="Aptos Display"/>
              </a:rPr>
              <a:t>The bounding box is visible on the device</a:t>
            </a:r>
          </a:p>
        </p:txBody>
      </p:sp>
      <p:sp>
        <p:nvSpPr>
          <p:cNvPr id="3" name="">
            <a:extLst xmlns:a="http://schemas.openxmlformats.org/drawingml/2006/main">
              <a:ext uri="{FF2B5EF4-FFF2-40B4-BE49-F238E27FC236}">
                <a16:creationId xmlns:a16="http://schemas.microsoft.com/office/drawing/2014/main" id="{56D4EDB0-A0F9-4286-B321-D0A47E2CF43F}"/>
              </a:ext>
            </a:extLst>
          </p:cNvPr>
          <p:cNvSpPr>
            <a:spLocks xmlns:a="http://schemas.openxmlformats.org/drawingml/2006/main" noGrp="1"/>
          </p:cNvSpPr>
          <p:nvPr/>
        </p:nvSpPr>
        <p:spPr>
          <a:xfrm xmlns:a="http://schemas.openxmlformats.org/drawingml/2006/main">
            <a:off x="3429000" y="1943100"/>
            <a:ext cx="39624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5c4ed268f73d471c"/>
          <a:stretch xmlns:a="http://schemas.openxmlformats.org/drawingml/2006/main"/>
        </p:blipFill>
        <p:spPr>
          <a:xfrm xmlns:a="http://schemas.openxmlformats.org/drawingml/2006/main">
            <a:off x="4290610" y="2038350"/>
            <a:ext cx="2239181" cy="34861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6E2E140-A78E-4A94-A725-1E906A8DEE15}"/>
              </a:ext>
            </a:extLst>
          </p:cNvPr>
          <p:cNvSpPr>
            <a:spLocks xmlns:a="http://schemas.openxmlformats.org/drawingml/2006/main" noGrp="1"/>
          </p:cNvSpPr>
          <p:nvPr/>
        </p:nvSpPr>
        <p:spPr>
          <a:xfrm xmlns:a="http://schemas.openxmlformats.org/drawingml/2006/main">
            <a:off x="3562350" y="5695950"/>
            <a:ext cx="36957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E6872"/>
                </a:solidFill>
                <a:latin typeface="Aptos"/>
                <a:ea typeface="Aptos"/>
                <a:cs typeface="Aptos"/>
              </a:defRPr>
            </a:pPr>
            <a:r>
              <a:rPr sz="975" b="0">
                <a:solidFill>
                  <a:srgbClr val="5E6872"/>
                </a:solidFill>
                <a:latin typeface="Aptos"/>
                <a:ea typeface="Aptos"/>
                <a:cs typeface="Aptos"/>
              </a:rPr>
              <a:t>ESP32-S3-EYE LCD preview with red person bounding box</a:t>
            </a:r>
          </a:p>
        </p:txBody>
      </p:sp>
      <p:sp>
        <p:nvSpPr>
          <p:cNvPr id="6" name="">
            <a:extLst xmlns:a="http://schemas.openxmlformats.org/drawingml/2006/main">
              <a:ext uri="{FF2B5EF4-FFF2-40B4-BE49-F238E27FC236}">
                <a16:creationId xmlns:a16="http://schemas.microsoft.com/office/drawing/2014/main" id="{17AD38A5-13A1-46A3-80F6-E5404977DA0F}"/>
              </a:ext>
            </a:extLst>
          </p:cNvPr>
          <p:cNvSpPr>
            <a:spLocks xmlns:a="http://schemas.openxmlformats.org/drawingml/2006/main" noGrp="1"/>
          </p:cNvSpPr>
          <p:nvPr/>
        </p:nvSpPr>
        <p:spPr>
          <a:xfrm xmlns:a="http://schemas.openxmlformats.org/drawingml/2006/main">
            <a:off x="7810500" y="2571750"/>
            <a:ext cx="3143250" cy="2000250"/>
          </a:xfrm>
          <a:prstGeom xmlns:a="http://schemas.openxmlformats.org/drawingml/2006/main" prst="rect">
            <a:avLst/>
          </a:prstGeom>
          <a:solidFill xmlns:a="http://schemas.openxmlformats.org/drawingml/2006/main">
            <a:srgbClr val="FFF7F7"/>
          </a:solidFill>
          <a:ln xmlns:a="http://schemas.openxmlformats.org/drawingml/2006/main" w="9525">
            <a:solidFill>
              <a:srgbClr val="E6B7BC"/>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92c51d2eeb34823">
            <a:extLst>
              <a:ext uri="{96DAC541-7B7A-43D3-8B79-37D633B846F1}">
                <asvg:svgBlip xmlns:asvg="http://schemas.microsoft.com/office/drawing/2016/SVG/main" r:embed="R7dea57232d3a49b5"/>
              </a:ext>
            </a:extLst>
          </a:blip>
          <a:stretch xmlns:a="http://schemas.openxmlformats.org/drawingml/2006/main"/>
        </p:blipFill>
        <p:spPr>
          <a:xfrm xmlns:a="http://schemas.openxmlformats.org/drawingml/2006/main">
            <a:off x="8077200" y="2838450"/>
            <a:ext cx="342900" cy="3429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4D65F72-1F8B-4EEC-863A-954AFBC2415C}"/>
              </a:ext>
            </a:extLst>
          </p:cNvPr>
          <p:cNvSpPr>
            <a:spLocks xmlns:a="http://schemas.openxmlformats.org/drawingml/2006/main" noGrp="1"/>
          </p:cNvSpPr>
          <p:nvPr/>
        </p:nvSpPr>
        <p:spPr>
          <a:xfrm xmlns:a="http://schemas.openxmlformats.org/drawingml/2006/main">
            <a:off x="8591550" y="2819400"/>
            <a:ext cx="1809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01820"/>
                </a:solidFill>
                <a:latin typeface="Aptos"/>
                <a:ea typeface="Aptos"/>
                <a:cs typeface="Aptos"/>
              </a:defRPr>
            </a:pPr>
            <a:r>
              <a:rPr sz="1875" b="1">
                <a:solidFill>
                  <a:srgbClr val="101820"/>
                </a:solidFill>
                <a:latin typeface="Aptos"/>
                <a:ea typeface="Aptos"/>
                <a:cs typeface="Aptos"/>
              </a:rPr>
              <a:t>What this proves</a:t>
            </a:r>
          </a:p>
        </p:txBody>
      </p:sp>
      <p:sp>
        <p:nvSpPr>
          <p:cNvPr id="9" name="">
            <a:extLst xmlns:a="http://schemas.openxmlformats.org/drawingml/2006/main">
              <a:ext uri="{FF2B5EF4-FFF2-40B4-BE49-F238E27FC236}">
                <a16:creationId xmlns:a16="http://schemas.microsoft.com/office/drawing/2014/main" id="{1571C934-49D6-4EA7-80DB-B4DD405716FC}"/>
              </a:ext>
            </a:extLst>
          </p:cNvPr>
          <p:cNvSpPr>
            <a:spLocks xmlns:a="http://schemas.openxmlformats.org/drawingml/2006/main" noGrp="1"/>
          </p:cNvSpPr>
          <p:nvPr/>
        </p:nvSpPr>
        <p:spPr>
          <a:xfrm xmlns:a="http://schemas.openxmlformats.org/drawingml/2006/main">
            <a:off x="8096250" y="3352800"/>
            <a:ext cx="24765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01820"/>
                </a:solidFill>
                <a:latin typeface="Aptos"/>
                <a:ea typeface="Aptos"/>
                <a:cs typeface="Aptos"/>
              </a:defRPr>
            </a:pPr>
            <a:r>
              <a:rPr sz="1350" b="0">
                <a:solidFill>
                  <a:srgbClr val="101820"/>
                </a:solidFill>
                <a:latin typeface="Aptos"/>
                <a:ea typeface="Aptos"/>
                <a:cs typeface="Aptos"/>
              </a:rPr>
              <a:t>The camera image is processed on the embedded board, and the detection result is rendered immediately as a bounding box on the device display.</a:t>
            </a:r>
          </a:p>
        </p:txBody>
      </p:sp>
      <p:sp>
        <p:nvSpPr>
          <p:cNvPr id="10" name="">
            <a:extLst xmlns:a="http://schemas.openxmlformats.org/drawingml/2006/main">
              <a:ext uri="{FF2B5EF4-FFF2-40B4-BE49-F238E27FC236}">
                <a16:creationId xmlns:a16="http://schemas.microsoft.com/office/drawing/2014/main" id="{244772C4-CA6D-422D-AA8C-68BBBDD8F0CE}"/>
              </a:ext>
            </a:extLst>
          </p:cNvPr>
          <p:cNvSpPr>
            <a:spLocks xmlns:a="http://schemas.openxmlformats.org/drawingml/2006/main" noGrp="1"/>
          </p:cNvSpPr>
          <p:nvPr/>
        </p:nvSpPr>
        <p:spPr>
          <a:xfrm xmlns:a="http://schemas.openxmlformats.org/drawingml/2006/main">
            <a:off x="552450" y="64579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E6872"/>
                </a:solidFill>
                <a:latin typeface="Aptos"/>
                <a:ea typeface="Aptos"/>
                <a:cs typeface="Aptos"/>
              </a:defRPr>
            </a:pPr>
            <a:r>
              <a:rPr sz="1050" b="0">
                <a:solidFill>
                  <a:srgbClr val="5E6872"/>
                </a:solidFill>
                <a:latin typeface="Aptos"/>
                <a:ea typeface="Aptos"/>
                <a:cs typeface="Aptos"/>
              </a:rPr>
              <a:t>Smart Visual Alarm System | 08</a:t>
            </a:r>
          </a:p>
        </p:txBody>
      </p:sp>
    </p:spTree>
    <p:extLst>
      <p:ext uri="{BB962C8B-B14F-4D97-AF65-F5344CB8AC3E}">
        <p14:creationId xmlns:p14="http://schemas.microsoft.com/office/powerpoint/2010/main" val="92038047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B4595A1-FC1B-42ED-9219-7550EA479BE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E8AE648-8712-428F-8DD7-294EEB5FD4DB}"/>
              </a:ext>
            </a:extLst>
          </p:cNvPr>
          <p:cNvSpPr>
            <a:spLocks xmlns:a="http://schemas.openxmlformats.org/drawingml/2006/main" noGrp="1"/>
          </p:cNvSpPr>
          <p:nvPr/>
        </p:nvSpPr>
        <p:spPr>
          <a:xfrm xmlns:a="http://schemas.openxmlformats.org/drawingml/2006/main">
            <a:off x="552450" y="43815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01820"/>
                </a:solidFill>
                <a:latin typeface="Aptos Display"/>
                <a:ea typeface="Aptos Display"/>
                <a:cs typeface="Aptos Display"/>
              </a:defRPr>
            </a:pPr>
            <a:r>
              <a:rPr sz="3300" b="1">
                <a:solidFill>
                  <a:srgbClr val="101820"/>
                </a:solidFill>
                <a:latin typeface="Aptos Display"/>
                <a:ea typeface="Aptos Display"/>
                <a:cs typeface="Aptos Display"/>
              </a:rPr>
              <a:t>Telegram alert metadata</a:t>
            </a:r>
          </a:p>
        </p:txBody>
      </p:sp>
      <p:sp>
        <p:nvSpPr>
          <p:cNvPr id="3" name="">
            <a:extLst xmlns:a="http://schemas.openxmlformats.org/drawingml/2006/main">
              <a:ext uri="{FF2B5EF4-FFF2-40B4-BE49-F238E27FC236}">
                <a16:creationId xmlns:a16="http://schemas.microsoft.com/office/drawing/2014/main" id="{42ECC31C-EE78-49A3-92F9-22633BCE6B49}"/>
              </a:ext>
            </a:extLst>
          </p:cNvPr>
          <p:cNvSpPr>
            <a:spLocks xmlns:a="http://schemas.openxmlformats.org/drawingml/2006/main" noGrp="1"/>
          </p:cNvSpPr>
          <p:nvPr/>
        </p:nvSpPr>
        <p:spPr>
          <a:xfrm xmlns:a="http://schemas.openxmlformats.org/drawingml/2006/main">
            <a:off x="609600" y="1866900"/>
            <a:ext cx="4857750" cy="316230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cf151c806e384785"/>
          <a:stretch xmlns:a="http://schemas.openxmlformats.org/drawingml/2006/main"/>
        </p:blipFill>
        <p:spPr>
          <a:xfrm xmlns:a="http://schemas.openxmlformats.org/drawingml/2006/main">
            <a:off x="1090005" y="1962150"/>
            <a:ext cx="3896941" cy="25527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1A4D2EC-710A-4709-A52F-0D7B0B6C6C7E}"/>
              </a:ext>
            </a:extLst>
          </p:cNvPr>
          <p:cNvSpPr>
            <a:spLocks xmlns:a="http://schemas.openxmlformats.org/drawingml/2006/main" noGrp="1"/>
          </p:cNvSpPr>
          <p:nvPr/>
        </p:nvSpPr>
        <p:spPr>
          <a:xfrm xmlns:a="http://schemas.openxmlformats.org/drawingml/2006/main">
            <a:off x="742950" y="4686300"/>
            <a:ext cx="45910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E6872"/>
                </a:solidFill>
                <a:latin typeface="Aptos"/>
                <a:ea typeface="Aptos"/>
                <a:cs typeface="Aptos"/>
              </a:defRPr>
            </a:pPr>
            <a:r>
              <a:rPr sz="975" b="0">
                <a:solidFill>
                  <a:srgbClr val="5E6872"/>
                </a:solidFill>
                <a:latin typeface="Aptos"/>
                <a:ea typeface="Aptos"/>
                <a:cs typeface="Aptos"/>
              </a:rPr>
              <a:t>Telegram alert generated by the Python backend</a:t>
            </a:r>
          </a:p>
        </p:txBody>
      </p:sp>
      <p:sp>
        <p:nvSpPr>
          <p:cNvPr id="6" name="">
            <a:extLst xmlns:a="http://schemas.openxmlformats.org/drawingml/2006/main">
              <a:ext uri="{FF2B5EF4-FFF2-40B4-BE49-F238E27FC236}">
                <a16:creationId xmlns:a16="http://schemas.microsoft.com/office/drawing/2014/main" id="{8FF21BD7-CD7D-421C-8FE2-9B7FC983FCF9}"/>
              </a:ext>
            </a:extLst>
          </p:cNvPr>
          <p:cNvSpPr>
            <a:spLocks xmlns:a="http://schemas.openxmlformats.org/drawingml/2006/main" noGrp="1"/>
          </p:cNvSpPr>
          <p:nvPr/>
        </p:nvSpPr>
        <p:spPr>
          <a:xfrm xmlns:a="http://schemas.openxmlformats.org/drawingml/2006/main">
            <a:off x="5962650" y="1809750"/>
            <a:ext cx="400050" cy="400050"/>
          </a:xfrm>
          <a:prstGeom xmlns:a="http://schemas.openxmlformats.org/drawingml/2006/main" prst="rect">
            <a:avLst/>
          </a:prstGeom>
          <a:solidFill xmlns:a="http://schemas.openxmlformats.org/drawingml/2006/main">
            <a:srgbClr val="8B1E29"/>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A8F42517-1F7F-4B59-82C1-FF8FDD5D535F}"/>
              </a:ext>
            </a:extLst>
          </p:cNvPr>
          <p:cNvSpPr>
            <a:spLocks xmlns:a="http://schemas.openxmlformats.org/drawingml/2006/main" noGrp="1"/>
          </p:cNvSpPr>
          <p:nvPr/>
        </p:nvSpPr>
        <p:spPr>
          <a:xfrm xmlns:a="http://schemas.openxmlformats.org/drawingml/2006/main">
            <a:off x="5962650" y="1905000"/>
            <a:ext cx="400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AB2054B4-8346-4CCD-BF0B-5AB9B6B2D20C}"/>
              </a:ext>
            </a:extLst>
          </p:cNvPr>
          <p:cNvSpPr>
            <a:spLocks xmlns:a="http://schemas.openxmlformats.org/drawingml/2006/main" noGrp="1"/>
          </p:cNvSpPr>
          <p:nvPr/>
        </p:nvSpPr>
        <p:spPr>
          <a:xfrm xmlns:a="http://schemas.openxmlformats.org/drawingml/2006/main">
            <a:off x="6515100" y="1790700"/>
            <a:ext cx="47625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9" name="">
            <a:extLst xmlns:a="http://schemas.openxmlformats.org/drawingml/2006/main">
              <a:ext uri="{FF2B5EF4-FFF2-40B4-BE49-F238E27FC236}">
                <a16:creationId xmlns:a16="http://schemas.microsoft.com/office/drawing/2014/main" id="{7F76E3E3-9841-4AE9-A6F8-CE35937DB321}"/>
              </a:ext>
            </a:extLst>
          </p:cNvPr>
          <p:cNvSpPr>
            <a:spLocks xmlns:a="http://schemas.openxmlformats.org/drawingml/2006/main" noGrp="1"/>
          </p:cNvSpPr>
          <p:nvPr/>
        </p:nvSpPr>
        <p:spPr>
          <a:xfrm xmlns:a="http://schemas.openxmlformats.org/drawingml/2006/main">
            <a:off x="6705600" y="1876425"/>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1820"/>
                </a:solidFill>
                <a:latin typeface="Aptos"/>
                <a:ea typeface="Aptos"/>
                <a:cs typeface="Aptos"/>
              </a:defRPr>
            </a:pPr>
            <a:r>
              <a:rPr sz="1200" b="1">
                <a:solidFill>
                  <a:srgbClr val="101820"/>
                </a:solidFill>
                <a:latin typeface="Aptos"/>
                <a:ea typeface="Aptos"/>
                <a:cs typeface="Aptos"/>
              </a:rPr>
              <a:t>Device</a:t>
            </a:r>
          </a:p>
        </p:txBody>
      </p:sp>
      <p:sp>
        <p:nvSpPr>
          <p:cNvPr id="10" name="">
            <a:extLst xmlns:a="http://schemas.openxmlformats.org/drawingml/2006/main">
              <a:ext uri="{FF2B5EF4-FFF2-40B4-BE49-F238E27FC236}">
                <a16:creationId xmlns:a16="http://schemas.microsoft.com/office/drawing/2014/main" id="{6AF9BEED-7296-465D-AE5B-E804AF5D77EA}"/>
              </a:ext>
            </a:extLst>
          </p:cNvPr>
          <p:cNvSpPr>
            <a:spLocks xmlns:a="http://schemas.openxmlformats.org/drawingml/2006/main" noGrp="1"/>
          </p:cNvSpPr>
          <p:nvPr/>
        </p:nvSpPr>
        <p:spPr>
          <a:xfrm xmlns:a="http://schemas.openxmlformats.org/drawingml/2006/main">
            <a:off x="8153400" y="1876425"/>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E6872"/>
                </a:solidFill>
                <a:latin typeface="Aptos"/>
                <a:ea typeface="Aptos"/>
                <a:cs typeface="Aptos"/>
              </a:defRPr>
            </a:pPr>
            <a:r>
              <a:rPr sz="1125" b="0">
                <a:solidFill>
                  <a:srgbClr val="5E6872"/>
                </a:solidFill>
                <a:latin typeface="Aptos"/>
                <a:ea typeface="Aptos"/>
                <a:cs typeface="Aptos"/>
              </a:rPr>
              <a:t>which ESP32-S3-EYE produced the alarm</a:t>
            </a:r>
          </a:p>
        </p:txBody>
      </p:sp>
      <p:sp>
        <p:nvSpPr>
          <p:cNvPr id="11" name="">
            <a:extLst xmlns:a="http://schemas.openxmlformats.org/drawingml/2006/main">
              <a:ext uri="{FF2B5EF4-FFF2-40B4-BE49-F238E27FC236}">
                <a16:creationId xmlns:a16="http://schemas.microsoft.com/office/drawing/2014/main" id="{C01CA0E5-28F2-4DAF-8EE6-33BC17153867}"/>
              </a:ext>
            </a:extLst>
          </p:cNvPr>
          <p:cNvSpPr>
            <a:spLocks xmlns:a="http://schemas.openxmlformats.org/drawingml/2006/main" noGrp="1"/>
          </p:cNvSpPr>
          <p:nvPr/>
        </p:nvSpPr>
        <p:spPr>
          <a:xfrm xmlns:a="http://schemas.openxmlformats.org/drawingml/2006/main">
            <a:off x="5962650" y="2343150"/>
            <a:ext cx="400050" cy="400050"/>
          </a:xfrm>
          <a:prstGeom xmlns:a="http://schemas.openxmlformats.org/drawingml/2006/main" prst="rect">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3D54420D-1CAC-4CA5-8FD2-06CDA2EE65AF}"/>
              </a:ext>
            </a:extLst>
          </p:cNvPr>
          <p:cNvSpPr>
            <a:spLocks xmlns:a="http://schemas.openxmlformats.org/drawingml/2006/main" noGrp="1"/>
          </p:cNvSpPr>
          <p:nvPr/>
        </p:nvSpPr>
        <p:spPr>
          <a:xfrm xmlns:a="http://schemas.openxmlformats.org/drawingml/2006/main">
            <a:off x="5962650" y="2438400"/>
            <a:ext cx="400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056AF75E-EEF4-4B58-82C6-54E3367C2A17}"/>
              </a:ext>
            </a:extLst>
          </p:cNvPr>
          <p:cNvSpPr>
            <a:spLocks xmlns:a="http://schemas.openxmlformats.org/drawingml/2006/main" noGrp="1"/>
          </p:cNvSpPr>
          <p:nvPr/>
        </p:nvSpPr>
        <p:spPr>
          <a:xfrm xmlns:a="http://schemas.openxmlformats.org/drawingml/2006/main">
            <a:off x="6515100" y="2324100"/>
            <a:ext cx="4762500" cy="438150"/>
          </a:xfrm>
          <a:prstGeom xmlns:a="http://schemas.openxmlformats.org/drawingml/2006/main" prst="rect">
            <a:avLst/>
          </a:prstGeom>
          <a:solidFill xmlns:a="http://schemas.openxmlformats.org/drawingml/2006/main">
            <a:srgbClr val="DDF0EF"/>
          </a:solidFill>
          <a:ln xmlns:a="http://schemas.openxmlformats.org/drawingml/2006/main" w="9525">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A79486A5-3B7F-4754-8B6E-4A722DCD66AC}"/>
              </a:ext>
            </a:extLst>
          </p:cNvPr>
          <p:cNvSpPr>
            <a:spLocks xmlns:a="http://schemas.openxmlformats.org/drawingml/2006/main" noGrp="1"/>
          </p:cNvSpPr>
          <p:nvPr/>
        </p:nvSpPr>
        <p:spPr>
          <a:xfrm xmlns:a="http://schemas.openxmlformats.org/drawingml/2006/main">
            <a:off x="6705600" y="2409825"/>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1820"/>
                </a:solidFill>
                <a:latin typeface="Aptos"/>
                <a:ea typeface="Aptos"/>
                <a:cs typeface="Aptos"/>
              </a:defRPr>
            </a:pPr>
            <a:r>
              <a:rPr sz="1200" b="1">
                <a:solidFill>
                  <a:srgbClr val="101820"/>
                </a:solidFill>
                <a:latin typeface="Aptos"/>
                <a:ea typeface="Aptos"/>
                <a:cs typeface="Aptos"/>
              </a:rPr>
              <a:t>Event</a:t>
            </a:r>
          </a:p>
        </p:txBody>
      </p:sp>
      <p:sp>
        <p:nvSpPr>
          <p:cNvPr id="15" name="">
            <a:extLst xmlns:a="http://schemas.openxmlformats.org/drawingml/2006/main">
              <a:ext uri="{FF2B5EF4-FFF2-40B4-BE49-F238E27FC236}">
                <a16:creationId xmlns:a16="http://schemas.microsoft.com/office/drawing/2014/main" id="{727278F3-5F04-45C8-B906-2FD6A169A8A6}"/>
              </a:ext>
            </a:extLst>
          </p:cNvPr>
          <p:cNvSpPr>
            <a:spLocks xmlns:a="http://schemas.openxmlformats.org/drawingml/2006/main" noGrp="1"/>
          </p:cNvSpPr>
          <p:nvPr/>
        </p:nvSpPr>
        <p:spPr>
          <a:xfrm xmlns:a="http://schemas.openxmlformats.org/drawingml/2006/main">
            <a:off x="8153400" y="2409825"/>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E6872"/>
                </a:solidFill>
                <a:latin typeface="Aptos"/>
                <a:ea typeface="Aptos"/>
                <a:cs typeface="Aptos"/>
              </a:defRPr>
            </a:pPr>
            <a:r>
              <a:rPr sz="1125" b="0">
                <a:solidFill>
                  <a:srgbClr val="5E6872"/>
                </a:solidFill>
                <a:latin typeface="Aptos"/>
                <a:ea typeface="Aptos"/>
                <a:cs typeface="Aptos"/>
              </a:rPr>
              <a:t>unique event ID for logs and debugging</a:t>
            </a:r>
          </a:p>
        </p:txBody>
      </p:sp>
      <p:sp>
        <p:nvSpPr>
          <p:cNvPr id="16" name="">
            <a:extLst xmlns:a="http://schemas.openxmlformats.org/drawingml/2006/main">
              <a:ext uri="{FF2B5EF4-FFF2-40B4-BE49-F238E27FC236}">
                <a16:creationId xmlns:a16="http://schemas.microsoft.com/office/drawing/2014/main" id="{300C7CBF-DD69-42F0-87A4-7698502BE59D}"/>
              </a:ext>
            </a:extLst>
          </p:cNvPr>
          <p:cNvSpPr>
            <a:spLocks xmlns:a="http://schemas.openxmlformats.org/drawingml/2006/main" noGrp="1"/>
          </p:cNvSpPr>
          <p:nvPr/>
        </p:nvSpPr>
        <p:spPr>
          <a:xfrm xmlns:a="http://schemas.openxmlformats.org/drawingml/2006/main">
            <a:off x="5962650" y="2876550"/>
            <a:ext cx="400050" cy="400050"/>
          </a:xfrm>
          <a:prstGeom xmlns:a="http://schemas.openxmlformats.org/drawingml/2006/main" prst="rect">
            <a:avLst/>
          </a:prstGeom>
          <a:solidFill xmlns:a="http://schemas.openxmlformats.org/drawingml/2006/main">
            <a:srgbClr val="8B1E29"/>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551422C6-C32D-41E0-96AA-BC36279E63DB}"/>
              </a:ext>
            </a:extLst>
          </p:cNvPr>
          <p:cNvSpPr>
            <a:spLocks xmlns:a="http://schemas.openxmlformats.org/drawingml/2006/main" noGrp="1"/>
          </p:cNvSpPr>
          <p:nvPr/>
        </p:nvSpPr>
        <p:spPr>
          <a:xfrm xmlns:a="http://schemas.openxmlformats.org/drawingml/2006/main">
            <a:off x="5962650" y="2971800"/>
            <a:ext cx="400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D1C1B82B-FEC2-4D64-880C-5BBA6BBFEF66}"/>
              </a:ext>
            </a:extLst>
          </p:cNvPr>
          <p:cNvSpPr>
            <a:spLocks xmlns:a="http://schemas.openxmlformats.org/drawingml/2006/main" noGrp="1"/>
          </p:cNvSpPr>
          <p:nvPr/>
        </p:nvSpPr>
        <p:spPr>
          <a:xfrm xmlns:a="http://schemas.openxmlformats.org/drawingml/2006/main">
            <a:off x="6515100" y="2857500"/>
            <a:ext cx="47625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19" name="">
            <a:extLst xmlns:a="http://schemas.openxmlformats.org/drawingml/2006/main">
              <a:ext uri="{FF2B5EF4-FFF2-40B4-BE49-F238E27FC236}">
                <a16:creationId xmlns:a16="http://schemas.microsoft.com/office/drawing/2014/main" id="{6836FF67-3604-452A-B9A2-8AB7AF12C1CD}"/>
              </a:ext>
            </a:extLst>
          </p:cNvPr>
          <p:cNvSpPr>
            <a:spLocks xmlns:a="http://schemas.openxmlformats.org/drawingml/2006/main" noGrp="1"/>
          </p:cNvSpPr>
          <p:nvPr/>
        </p:nvSpPr>
        <p:spPr>
          <a:xfrm xmlns:a="http://schemas.openxmlformats.org/drawingml/2006/main">
            <a:off x="6705600" y="2943225"/>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1820"/>
                </a:solidFill>
                <a:latin typeface="Aptos"/>
                <a:ea typeface="Aptos"/>
                <a:cs typeface="Aptos"/>
              </a:defRPr>
            </a:pPr>
            <a:r>
              <a:rPr sz="1200" b="1">
                <a:solidFill>
                  <a:srgbClr val="101820"/>
                </a:solidFill>
                <a:latin typeface="Aptos"/>
                <a:ea typeface="Aptos"/>
                <a:cs typeface="Aptos"/>
              </a:rPr>
              <a:t>Detection</a:t>
            </a:r>
          </a:p>
        </p:txBody>
      </p:sp>
      <p:sp>
        <p:nvSpPr>
          <p:cNvPr id="20" name="">
            <a:extLst xmlns:a="http://schemas.openxmlformats.org/drawingml/2006/main">
              <a:ext uri="{FF2B5EF4-FFF2-40B4-BE49-F238E27FC236}">
                <a16:creationId xmlns:a16="http://schemas.microsoft.com/office/drawing/2014/main" id="{8DA48229-7BBB-4335-B162-1F67D194D97F}"/>
              </a:ext>
            </a:extLst>
          </p:cNvPr>
          <p:cNvSpPr>
            <a:spLocks xmlns:a="http://schemas.openxmlformats.org/drawingml/2006/main" noGrp="1"/>
          </p:cNvSpPr>
          <p:nvPr/>
        </p:nvSpPr>
        <p:spPr>
          <a:xfrm xmlns:a="http://schemas.openxmlformats.org/drawingml/2006/main">
            <a:off x="8153400" y="2943225"/>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E6872"/>
                </a:solidFill>
                <a:latin typeface="Aptos"/>
                <a:ea typeface="Aptos"/>
                <a:cs typeface="Aptos"/>
              </a:defRPr>
            </a:pPr>
            <a:r>
              <a:rPr sz="1125" b="0">
                <a:solidFill>
                  <a:srgbClr val="5E6872"/>
                </a:solidFill>
                <a:latin typeface="Aptos"/>
                <a:ea typeface="Aptos"/>
                <a:cs typeface="Aptos"/>
              </a:rPr>
              <a:t>detected class label, here: person</a:t>
            </a:r>
          </a:p>
        </p:txBody>
      </p:sp>
      <p:sp>
        <p:nvSpPr>
          <p:cNvPr id="21" name="">
            <a:extLst xmlns:a="http://schemas.openxmlformats.org/drawingml/2006/main">
              <a:ext uri="{FF2B5EF4-FFF2-40B4-BE49-F238E27FC236}">
                <a16:creationId xmlns:a16="http://schemas.microsoft.com/office/drawing/2014/main" id="{3BF244A9-5552-4A41-891C-E9EDAEFB6F7D}"/>
              </a:ext>
            </a:extLst>
          </p:cNvPr>
          <p:cNvSpPr>
            <a:spLocks xmlns:a="http://schemas.openxmlformats.org/drawingml/2006/main" noGrp="1"/>
          </p:cNvSpPr>
          <p:nvPr/>
        </p:nvSpPr>
        <p:spPr>
          <a:xfrm xmlns:a="http://schemas.openxmlformats.org/drawingml/2006/main">
            <a:off x="5962650" y="3409950"/>
            <a:ext cx="400050" cy="400050"/>
          </a:xfrm>
          <a:prstGeom xmlns:a="http://schemas.openxmlformats.org/drawingml/2006/main" prst="rect">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DF2146F6-A6B4-4788-BCFE-E78D88FD2D47}"/>
              </a:ext>
            </a:extLst>
          </p:cNvPr>
          <p:cNvSpPr>
            <a:spLocks xmlns:a="http://schemas.openxmlformats.org/drawingml/2006/main" noGrp="1"/>
          </p:cNvSpPr>
          <p:nvPr/>
        </p:nvSpPr>
        <p:spPr>
          <a:xfrm xmlns:a="http://schemas.openxmlformats.org/drawingml/2006/main">
            <a:off x="5962650" y="3505200"/>
            <a:ext cx="400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4</a:t>
            </a:r>
          </a:p>
        </p:txBody>
      </p:sp>
      <p:sp>
        <p:nvSpPr>
          <p:cNvPr id="23" name="">
            <a:extLst xmlns:a="http://schemas.openxmlformats.org/drawingml/2006/main">
              <a:ext uri="{FF2B5EF4-FFF2-40B4-BE49-F238E27FC236}">
                <a16:creationId xmlns:a16="http://schemas.microsoft.com/office/drawing/2014/main" id="{14F11638-60B9-40EC-B3F5-2286E5AB86A2}"/>
              </a:ext>
            </a:extLst>
          </p:cNvPr>
          <p:cNvSpPr>
            <a:spLocks xmlns:a="http://schemas.openxmlformats.org/drawingml/2006/main" noGrp="1"/>
          </p:cNvSpPr>
          <p:nvPr/>
        </p:nvSpPr>
        <p:spPr>
          <a:xfrm xmlns:a="http://schemas.openxmlformats.org/drawingml/2006/main">
            <a:off x="6515100" y="3390900"/>
            <a:ext cx="4762500" cy="438150"/>
          </a:xfrm>
          <a:prstGeom xmlns:a="http://schemas.openxmlformats.org/drawingml/2006/main" prst="rect">
            <a:avLst/>
          </a:prstGeom>
          <a:solidFill xmlns:a="http://schemas.openxmlformats.org/drawingml/2006/main">
            <a:srgbClr val="DDF0EF"/>
          </a:solidFill>
          <a:ln xmlns:a="http://schemas.openxmlformats.org/drawingml/2006/main" w="9525">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80CDE563-1058-40AD-838F-832399F280EB}"/>
              </a:ext>
            </a:extLst>
          </p:cNvPr>
          <p:cNvSpPr>
            <a:spLocks xmlns:a="http://schemas.openxmlformats.org/drawingml/2006/main" noGrp="1"/>
          </p:cNvSpPr>
          <p:nvPr/>
        </p:nvSpPr>
        <p:spPr>
          <a:xfrm xmlns:a="http://schemas.openxmlformats.org/drawingml/2006/main">
            <a:off x="6705600" y="3476625"/>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1820"/>
                </a:solidFill>
                <a:latin typeface="Aptos"/>
                <a:ea typeface="Aptos"/>
                <a:cs typeface="Aptos"/>
              </a:defRPr>
            </a:pPr>
            <a:r>
              <a:rPr sz="1200" b="1">
                <a:solidFill>
                  <a:srgbClr val="101820"/>
                </a:solidFill>
                <a:latin typeface="Aptos"/>
                <a:ea typeface="Aptos"/>
                <a:cs typeface="Aptos"/>
              </a:rPr>
              <a:t>Confidence</a:t>
            </a:r>
          </a:p>
        </p:txBody>
      </p:sp>
      <p:sp>
        <p:nvSpPr>
          <p:cNvPr id="25" name="">
            <a:extLst xmlns:a="http://schemas.openxmlformats.org/drawingml/2006/main">
              <a:ext uri="{FF2B5EF4-FFF2-40B4-BE49-F238E27FC236}">
                <a16:creationId xmlns:a16="http://schemas.microsoft.com/office/drawing/2014/main" id="{ED3C38A1-5A34-4933-B9A9-2BAE1C547702}"/>
              </a:ext>
            </a:extLst>
          </p:cNvPr>
          <p:cNvSpPr>
            <a:spLocks xmlns:a="http://schemas.openxmlformats.org/drawingml/2006/main" noGrp="1"/>
          </p:cNvSpPr>
          <p:nvPr/>
        </p:nvSpPr>
        <p:spPr>
          <a:xfrm xmlns:a="http://schemas.openxmlformats.org/drawingml/2006/main">
            <a:off x="8153400" y="3476625"/>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E6872"/>
                </a:solidFill>
                <a:latin typeface="Aptos"/>
                <a:ea typeface="Aptos"/>
                <a:cs typeface="Aptos"/>
              </a:defRPr>
            </a:pPr>
            <a:r>
              <a:rPr sz="1125" b="0">
                <a:solidFill>
                  <a:srgbClr val="5E6872"/>
                </a:solidFill>
                <a:latin typeface="Aptos"/>
                <a:ea typeface="Aptos"/>
                <a:cs typeface="Aptos"/>
              </a:rPr>
              <a:t>model score used to understand alert quality</a:t>
            </a:r>
          </a:p>
        </p:txBody>
      </p:sp>
      <p:sp>
        <p:nvSpPr>
          <p:cNvPr id="26" name="">
            <a:extLst xmlns:a="http://schemas.openxmlformats.org/drawingml/2006/main">
              <a:ext uri="{FF2B5EF4-FFF2-40B4-BE49-F238E27FC236}">
                <a16:creationId xmlns:a16="http://schemas.microsoft.com/office/drawing/2014/main" id="{EF489251-6C67-4427-9836-12D09DC02621}"/>
              </a:ext>
            </a:extLst>
          </p:cNvPr>
          <p:cNvSpPr>
            <a:spLocks xmlns:a="http://schemas.openxmlformats.org/drawingml/2006/main" noGrp="1"/>
          </p:cNvSpPr>
          <p:nvPr/>
        </p:nvSpPr>
        <p:spPr>
          <a:xfrm xmlns:a="http://schemas.openxmlformats.org/drawingml/2006/main">
            <a:off x="5962650" y="3943350"/>
            <a:ext cx="400050" cy="400050"/>
          </a:xfrm>
          <a:prstGeom xmlns:a="http://schemas.openxmlformats.org/drawingml/2006/main" prst="rect">
            <a:avLst/>
          </a:prstGeom>
          <a:solidFill xmlns:a="http://schemas.openxmlformats.org/drawingml/2006/main">
            <a:srgbClr val="8B1E29"/>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B528481D-860E-43BF-A724-889ED1101263}"/>
              </a:ext>
            </a:extLst>
          </p:cNvPr>
          <p:cNvSpPr>
            <a:spLocks xmlns:a="http://schemas.openxmlformats.org/drawingml/2006/main" noGrp="1"/>
          </p:cNvSpPr>
          <p:nvPr/>
        </p:nvSpPr>
        <p:spPr>
          <a:xfrm xmlns:a="http://schemas.openxmlformats.org/drawingml/2006/main">
            <a:off x="5962650" y="4038600"/>
            <a:ext cx="400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5</a:t>
            </a:r>
          </a:p>
        </p:txBody>
      </p:sp>
      <p:sp>
        <p:nvSpPr>
          <p:cNvPr id="28" name="">
            <a:extLst xmlns:a="http://schemas.openxmlformats.org/drawingml/2006/main">
              <a:ext uri="{FF2B5EF4-FFF2-40B4-BE49-F238E27FC236}">
                <a16:creationId xmlns:a16="http://schemas.microsoft.com/office/drawing/2014/main" id="{DA773D60-F08E-4705-8BCF-B1D529400D9E}"/>
              </a:ext>
            </a:extLst>
          </p:cNvPr>
          <p:cNvSpPr>
            <a:spLocks xmlns:a="http://schemas.openxmlformats.org/drawingml/2006/main" noGrp="1"/>
          </p:cNvSpPr>
          <p:nvPr/>
        </p:nvSpPr>
        <p:spPr>
          <a:xfrm xmlns:a="http://schemas.openxmlformats.org/drawingml/2006/main">
            <a:off x="6515100" y="3924300"/>
            <a:ext cx="47625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29" name="">
            <a:extLst xmlns:a="http://schemas.openxmlformats.org/drawingml/2006/main">
              <a:ext uri="{FF2B5EF4-FFF2-40B4-BE49-F238E27FC236}">
                <a16:creationId xmlns:a16="http://schemas.microsoft.com/office/drawing/2014/main" id="{4708E148-8A03-4289-A68F-035053BFB1E0}"/>
              </a:ext>
            </a:extLst>
          </p:cNvPr>
          <p:cNvSpPr>
            <a:spLocks xmlns:a="http://schemas.openxmlformats.org/drawingml/2006/main" noGrp="1"/>
          </p:cNvSpPr>
          <p:nvPr/>
        </p:nvSpPr>
        <p:spPr>
          <a:xfrm xmlns:a="http://schemas.openxmlformats.org/drawingml/2006/main">
            <a:off x="6705600" y="4010025"/>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1820"/>
                </a:solidFill>
                <a:latin typeface="Aptos"/>
                <a:ea typeface="Aptos"/>
                <a:cs typeface="Aptos"/>
              </a:defRPr>
            </a:pPr>
            <a:r>
              <a:rPr sz="1200" b="1">
                <a:solidFill>
                  <a:srgbClr val="101820"/>
                </a:solidFill>
                <a:latin typeface="Aptos"/>
                <a:ea typeface="Aptos"/>
                <a:cs typeface="Aptos"/>
              </a:rPr>
              <a:t>Confirmation frames</a:t>
            </a:r>
          </a:p>
        </p:txBody>
      </p:sp>
      <p:sp>
        <p:nvSpPr>
          <p:cNvPr id="30" name="">
            <a:extLst xmlns:a="http://schemas.openxmlformats.org/drawingml/2006/main">
              <a:ext uri="{FF2B5EF4-FFF2-40B4-BE49-F238E27FC236}">
                <a16:creationId xmlns:a16="http://schemas.microsoft.com/office/drawing/2014/main" id="{0031E9EE-E83F-471D-9E49-570405EE6EF0}"/>
              </a:ext>
            </a:extLst>
          </p:cNvPr>
          <p:cNvSpPr>
            <a:spLocks xmlns:a="http://schemas.openxmlformats.org/drawingml/2006/main" noGrp="1"/>
          </p:cNvSpPr>
          <p:nvPr/>
        </p:nvSpPr>
        <p:spPr>
          <a:xfrm xmlns:a="http://schemas.openxmlformats.org/drawingml/2006/main">
            <a:off x="8153400" y="4010025"/>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E6872"/>
                </a:solidFill>
                <a:latin typeface="Aptos"/>
                <a:ea typeface="Aptos"/>
                <a:cs typeface="Aptos"/>
              </a:defRPr>
            </a:pPr>
            <a:r>
              <a:rPr sz="1125" b="0">
                <a:solidFill>
                  <a:srgbClr val="5E6872"/>
                </a:solidFill>
                <a:latin typeface="Aptos"/>
                <a:ea typeface="Aptos"/>
                <a:cs typeface="Aptos"/>
              </a:rPr>
              <a:t>how many positive frames supported the alert</a:t>
            </a:r>
          </a:p>
        </p:txBody>
      </p:sp>
      <p:sp>
        <p:nvSpPr>
          <p:cNvPr id="31" name="">
            <a:extLst xmlns:a="http://schemas.openxmlformats.org/drawingml/2006/main">
              <a:ext uri="{FF2B5EF4-FFF2-40B4-BE49-F238E27FC236}">
                <a16:creationId xmlns:a16="http://schemas.microsoft.com/office/drawing/2014/main" id="{F7FBA67D-8E2A-4149-81C2-6178CA64066A}"/>
              </a:ext>
            </a:extLst>
          </p:cNvPr>
          <p:cNvSpPr>
            <a:spLocks xmlns:a="http://schemas.openxmlformats.org/drawingml/2006/main" noGrp="1"/>
          </p:cNvSpPr>
          <p:nvPr/>
        </p:nvSpPr>
        <p:spPr>
          <a:xfrm xmlns:a="http://schemas.openxmlformats.org/drawingml/2006/main">
            <a:off x="5962650" y="4476750"/>
            <a:ext cx="400050" cy="400050"/>
          </a:xfrm>
          <a:prstGeom xmlns:a="http://schemas.openxmlformats.org/drawingml/2006/main" prst="rect">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65ECEB61-8D7E-4F98-9A6D-4BC261F80A6A}"/>
              </a:ext>
            </a:extLst>
          </p:cNvPr>
          <p:cNvSpPr>
            <a:spLocks xmlns:a="http://schemas.openxmlformats.org/drawingml/2006/main" noGrp="1"/>
          </p:cNvSpPr>
          <p:nvPr/>
        </p:nvSpPr>
        <p:spPr>
          <a:xfrm xmlns:a="http://schemas.openxmlformats.org/drawingml/2006/main">
            <a:off x="5962650" y="4572000"/>
            <a:ext cx="400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6</a:t>
            </a:r>
          </a:p>
        </p:txBody>
      </p:sp>
      <p:sp>
        <p:nvSpPr>
          <p:cNvPr id="33" name="">
            <a:extLst xmlns:a="http://schemas.openxmlformats.org/drawingml/2006/main">
              <a:ext uri="{FF2B5EF4-FFF2-40B4-BE49-F238E27FC236}">
                <a16:creationId xmlns:a16="http://schemas.microsoft.com/office/drawing/2014/main" id="{AABC1CFA-20CD-4D12-BBAC-F7395765EE42}"/>
              </a:ext>
            </a:extLst>
          </p:cNvPr>
          <p:cNvSpPr>
            <a:spLocks xmlns:a="http://schemas.openxmlformats.org/drawingml/2006/main" noGrp="1"/>
          </p:cNvSpPr>
          <p:nvPr/>
        </p:nvSpPr>
        <p:spPr>
          <a:xfrm xmlns:a="http://schemas.openxmlformats.org/drawingml/2006/main">
            <a:off x="6515100" y="4457700"/>
            <a:ext cx="4762500" cy="438150"/>
          </a:xfrm>
          <a:prstGeom xmlns:a="http://schemas.openxmlformats.org/drawingml/2006/main" prst="rect">
            <a:avLst/>
          </a:prstGeom>
          <a:solidFill xmlns:a="http://schemas.openxmlformats.org/drawingml/2006/main">
            <a:srgbClr val="DDF0EF"/>
          </a:solidFill>
          <a:ln xmlns:a="http://schemas.openxmlformats.org/drawingml/2006/main" w="9525">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4D3499EC-A729-404E-B1D3-C7FE9184BE31}"/>
              </a:ext>
            </a:extLst>
          </p:cNvPr>
          <p:cNvSpPr>
            <a:spLocks xmlns:a="http://schemas.openxmlformats.org/drawingml/2006/main" noGrp="1"/>
          </p:cNvSpPr>
          <p:nvPr/>
        </p:nvSpPr>
        <p:spPr>
          <a:xfrm xmlns:a="http://schemas.openxmlformats.org/drawingml/2006/main">
            <a:off x="6705600" y="4543425"/>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1820"/>
                </a:solidFill>
                <a:latin typeface="Aptos"/>
                <a:ea typeface="Aptos"/>
                <a:cs typeface="Aptos"/>
              </a:defRPr>
            </a:pPr>
            <a:r>
              <a:rPr sz="1200" b="1">
                <a:solidFill>
                  <a:srgbClr val="101820"/>
                </a:solidFill>
                <a:latin typeface="Aptos"/>
                <a:ea typeface="Aptos"/>
                <a:cs typeface="Aptos"/>
              </a:rPr>
              <a:t>Timestamp</a:t>
            </a:r>
          </a:p>
        </p:txBody>
      </p:sp>
      <p:sp>
        <p:nvSpPr>
          <p:cNvPr id="35" name="">
            <a:extLst xmlns:a="http://schemas.openxmlformats.org/drawingml/2006/main">
              <a:ext uri="{FF2B5EF4-FFF2-40B4-BE49-F238E27FC236}">
                <a16:creationId xmlns:a16="http://schemas.microsoft.com/office/drawing/2014/main" id="{2C9ABA88-BC59-41A2-A71D-52EBF6BF7096}"/>
              </a:ext>
            </a:extLst>
          </p:cNvPr>
          <p:cNvSpPr>
            <a:spLocks xmlns:a="http://schemas.openxmlformats.org/drawingml/2006/main" noGrp="1"/>
          </p:cNvSpPr>
          <p:nvPr/>
        </p:nvSpPr>
        <p:spPr>
          <a:xfrm xmlns:a="http://schemas.openxmlformats.org/drawingml/2006/main">
            <a:off x="8153400" y="4543425"/>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E6872"/>
                </a:solidFill>
                <a:latin typeface="Aptos"/>
                <a:ea typeface="Aptos"/>
                <a:cs typeface="Aptos"/>
              </a:defRPr>
            </a:pPr>
            <a:r>
              <a:rPr sz="1125" b="0">
                <a:solidFill>
                  <a:srgbClr val="5E6872"/>
                </a:solidFill>
                <a:latin typeface="Aptos"/>
                <a:ea typeface="Aptos"/>
                <a:cs typeface="Aptos"/>
              </a:rPr>
              <a:t>device uptime when the alert was created</a:t>
            </a:r>
          </a:p>
        </p:txBody>
      </p:sp>
      <p:sp>
        <p:nvSpPr>
          <p:cNvPr id="36" name="">
            <a:extLst xmlns:a="http://schemas.openxmlformats.org/drawingml/2006/main">
              <a:ext uri="{FF2B5EF4-FFF2-40B4-BE49-F238E27FC236}">
                <a16:creationId xmlns:a16="http://schemas.microsoft.com/office/drawing/2014/main" id="{844362AE-0E3E-46EA-A9C7-2DDF5DFAAD3B}"/>
              </a:ext>
            </a:extLst>
          </p:cNvPr>
          <p:cNvSpPr>
            <a:spLocks xmlns:a="http://schemas.openxmlformats.org/drawingml/2006/main" noGrp="1"/>
          </p:cNvSpPr>
          <p:nvPr/>
        </p:nvSpPr>
        <p:spPr>
          <a:xfrm xmlns:a="http://schemas.openxmlformats.org/drawingml/2006/main">
            <a:off x="5962650" y="5010150"/>
            <a:ext cx="400050" cy="400050"/>
          </a:xfrm>
          <a:prstGeom xmlns:a="http://schemas.openxmlformats.org/drawingml/2006/main" prst="rect">
            <a:avLst/>
          </a:prstGeom>
          <a:solidFill xmlns:a="http://schemas.openxmlformats.org/drawingml/2006/main">
            <a:srgbClr val="8B1E29"/>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D3A3882C-5345-4CF5-8858-3FEAD962831B}"/>
              </a:ext>
            </a:extLst>
          </p:cNvPr>
          <p:cNvSpPr>
            <a:spLocks xmlns:a="http://schemas.openxmlformats.org/drawingml/2006/main" noGrp="1"/>
          </p:cNvSpPr>
          <p:nvPr/>
        </p:nvSpPr>
        <p:spPr>
          <a:xfrm xmlns:a="http://schemas.openxmlformats.org/drawingml/2006/main">
            <a:off x="5962650" y="5105400"/>
            <a:ext cx="400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7</a:t>
            </a:r>
          </a:p>
        </p:txBody>
      </p:sp>
      <p:sp>
        <p:nvSpPr>
          <p:cNvPr id="38" name="">
            <a:extLst xmlns:a="http://schemas.openxmlformats.org/drawingml/2006/main">
              <a:ext uri="{FF2B5EF4-FFF2-40B4-BE49-F238E27FC236}">
                <a16:creationId xmlns:a16="http://schemas.microsoft.com/office/drawing/2014/main" id="{8D6D7B45-699E-40A7-AA7D-FA53ADA7967A}"/>
              </a:ext>
            </a:extLst>
          </p:cNvPr>
          <p:cNvSpPr>
            <a:spLocks xmlns:a="http://schemas.openxmlformats.org/drawingml/2006/main" noGrp="1"/>
          </p:cNvSpPr>
          <p:nvPr/>
        </p:nvSpPr>
        <p:spPr>
          <a:xfrm xmlns:a="http://schemas.openxmlformats.org/drawingml/2006/main">
            <a:off x="6515100" y="4991100"/>
            <a:ext cx="47625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39" name="">
            <a:extLst xmlns:a="http://schemas.openxmlformats.org/drawingml/2006/main">
              <a:ext uri="{FF2B5EF4-FFF2-40B4-BE49-F238E27FC236}">
                <a16:creationId xmlns:a16="http://schemas.microsoft.com/office/drawing/2014/main" id="{A4AE6984-A3C1-4951-89A4-0936F8F31EBC}"/>
              </a:ext>
            </a:extLst>
          </p:cNvPr>
          <p:cNvSpPr>
            <a:spLocks xmlns:a="http://schemas.openxmlformats.org/drawingml/2006/main" noGrp="1"/>
          </p:cNvSpPr>
          <p:nvPr/>
        </p:nvSpPr>
        <p:spPr>
          <a:xfrm xmlns:a="http://schemas.openxmlformats.org/drawingml/2006/main">
            <a:off x="6705600" y="5076825"/>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1820"/>
                </a:solidFill>
                <a:latin typeface="Aptos"/>
                <a:ea typeface="Aptos"/>
                <a:cs typeface="Aptos"/>
              </a:defRPr>
            </a:pPr>
            <a:r>
              <a:rPr sz="1200" b="1">
                <a:solidFill>
                  <a:srgbClr val="101820"/>
                </a:solidFill>
                <a:latin typeface="Aptos"/>
                <a:ea typeface="Aptos"/>
                <a:cs typeface="Aptos"/>
              </a:rPr>
              <a:t>Box</a:t>
            </a:r>
          </a:p>
        </p:txBody>
      </p:sp>
      <p:sp>
        <p:nvSpPr>
          <p:cNvPr id="40" name="">
            <a:extLst xmlns:a="http://schemas.openxmlformats.org/drawingml/2006/main">
              <a:ext uri="{FF2B5EF4-FFF2-40B4-BE49-F238E27FC236}">
                <a16:creationId xmlns:a16="http://schemas.microsoft.com/office/drawing/2014/main" id="{A911415C-FA71-4D0C-91F5-327C18DA403E}"/>
              </a:ext>
            </a:extLst>
          </p:cNvPr>
          <p:cNvSpPr>
            <a:spLocks xmlns:a="http://schemas.openxmlformats.org/drawingml/2006/main" noGrp="1"/>
          </p:cNvSpPr>
          <p:nvPr/>
        </p:nvSpPr>
        <p:spPr>
          <a:xfrm xmlns:a="http://schemas.openxmlformats.org/drawingml/2006/main">
            <a:off x="8153400" y="5076825"/>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E6872"/>
                </a:solidFill>
                <a:latin typeface="Aptos"/>
                <a:ea typeface="Aptos"/>
                <a:cs typeface="Aptos"/>
              </a:defRPr>
            </a:pPr>
            <a:r>
              <a:rPr sz="1125" b="0">
                <a:solidFill>
                  <a:srgbClr val="5E6872"/>
                </a:solidFill>
                <a:latin typeface="Aptos"/>
                <a:ea typeface="Aptos"/>
                <a:cs typeface="Aptos"/>
              </a:rPr>
              <a:t>bounding-box coordinates from the detector output</a:t>
            </a:r>
          </a:p>
        </p:txBody>
      </p:sp>
      <p:sp>
        <p:nvSpPr>
          <p:cNvPr id="41" name="">
            <a:extLst xmlns:a="http://schemas.openxmlformats.org/drawingml/2006/main">
              <a:ext uri="{FF2B5EF4-FFF2-40B4-BE49-F238E27FC236}">
                <a16:creationId xmlns:a16="http://schemas.microsoft.com/office/drawing/2014/main" id="{ADC1D0EC-BBBF-441A-BFE7-6B0299BB158C}"/>
              </a:ext>
            </a:extLst>
          </p:cNvPr>
          <p:cNvSpPr>
            <a:spLocks xmlns:a="http://schemas.openxmlformats.org/drawingml/2006/main" noGrp="1"/>
          </p:cNvSpPr>
          <p:nvPr/>
        </p:nvSpPr>
        <p:spPr>
          <a:xfrm xmlns:a="http://schemas.openxmlformats.org/drawingml/2006/main">
            <a:off x="1600200" y="5619750"/>
            <a:ext cx="8991600" cy="400050"/>
          </a:xfrm>
          <a:prstGeom xmlns:a="http://schemas.openxmlformats.org/drawingml/2006/main" prst="rect">
            <a:avLst/>
          </a:prstGeom>
          <a:solidFill xmlns:a="http://schemas.openxmlformats.org/drawingml/2006/main">
            <a:srgbClr val="8B1E29"/>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B04B82FE-F68C-4812-B8F5-BCC465946404}"/>
              </a:ext>
            </a:extLst>
          </p:cNvPr>
          <p:cNvSpPr>
            <a:spLocks xmlns:a="http://schemas.openxmlformats.org/drawingml/2006/main" noGrp="1"/>
          </p:cNvSpPr>
          <p:nvPr/>
        </p:nvSpPr>
        <p:spPr>
          <a:xfrm xmlns:a="http://schemas.openxmlformats.org/drawingml/2006/main">
            <a:off x="1790700" y="5715000"/>
            <a:ext cx="8610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425" b="1">
                <a:solidFill>
                  <a:srgbClr val="FFFFFF"/>
                </a:solidFill>
                <a:latin typeface="Aptos"/>
                <a:ea typeface="Aptos"/>
                <a:cs typeface="Aptos"/>
              </a:defRPr>
            </a:pPr>
            <a:r>
              <a:rPr sz="1425" b="1">
                <a:solidFill>
                  <a:srgbClr val="FFFFFF"/>
                </a:solidFill>
                <a:latin typeface="Aptos"/>
                <a:ea typeface="Aptos"/>
                <a:cs typeface="Aptos"/>
              </a:rPr>
              <a:t>The backend forwards readable metadata, not raw camera frames.</a:t>
            </a:r>
          </a:p>
        </p:txBody>
      </p:sp>
      <p:sp>
        <p:nvSpPr>
          <p:cNvPr id="43" name="">
            <a:extLst xmlns:a="http://schemas.openxmlformats.org/drawingml/2006/main">
              <a:ext uri="{FF2B5EF4-FFF2-40B4-BE49-F238E27FC236}">
                <a16:creationId xmlns:a16="http://schemas.microsoft.com/office/drawing/2014/main" id="{879F1FD4-BB7F-40B2-87A6-F49FDC786A88}"/>
              </a:ext>
            </a:extLst>
          </p:cNvPr>
          <p:cNvSpPr>
            <a:spLocks xmlns:a="http://schemas.openxmlformats.org/drawingml/2006/main" noGrp="1"/>
          </p:cNvSpPr>
          <p:nvPr/>
        </p:nvSpPr>
        <p:spPr>
          <a:xfrm xmlns:a="http://schemas.openxmlformats.org/drawingml/2006/main">
            <a:off x="552450" y="64579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E6872"/>
                </a:solidFill>
                <a:latin typeface="Aptos"/>
                <a:ea typeface="Aptos"/>
                <a:cs typeface="Aptos"/>
              </a:defRPr>
            </a:pPr>
            <a:r>
              <a:rPr sz="1050" b="0">
                <a:solidFill>
                  <a:srgbClr val="5E6872"/>
                </a:solidFill>
                <a:latin typeface="Aptos"/>
                <a:ea typeface="Aptos"/>
                <a:cs typeface="Aptos"/>
              </a:rPr>
              <a:t>Smart Visual Alarm System | 09</a:t>
            </a:r>
          </a:p>
        </p:txBody>
      </p:sp>
    </p:spTree>
    <p:extLst>
      <p:ext uri="{BB962C8B-B14F-4D97-AF65-F5344CB8AC3E}">
        <p14:creationId xmlns:p14="http://schemas.microsoft.com/office/powerpoint/2010/main" val="33998719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A5B6B25-A6D4-45CE-B0C0-2612DA505F5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D4D8CDA-B87C-4791-BDD5-9FEB940C1CA5}"/>
              </a:ext>
            </a:extLst>
          </p:cNvPr>
          <p:cNvSpPr>
            <a:spLocks xmlns:a="http://schemas.openxmlformats.org/drawingml/2006/main" noGrp="1"/>
          </p:cNvSpPr>
          <p:nvPr/>
        </p:nvSpPr>
        <p:spPr>
          <a:xfrm xmlns:a="http://schemas.openxmlformats.org/drawingml/2006/main">
            <a:off x="552450" y="438150"/>
            <a:ext cx="8858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01820"/>
                </a:solidFill>
                <a:latin typeface="Aptos Display"/>
                <a:ea typeface="Aptos Display"/>
                <a:cs typeface="Aptos Display"/>
              </a:defRPr>
            </a:pPr>
            <a:r>
              <a:rPr sz="3300" b="1">
                <a:solidFill>
                  <a:srgbClr val="101820"/>
                </a:solidFill>
                <a:latin typeface="Aptos Display"/>
                <a:ea typeface="Aptos Display"/>
                <a:cs typeface="Aptos Display"/>
              </a:rPr>
              <a:t>Possible next steps</a:t>
            </a:r>
          </a:p>
        </p:txBody>
      </p:sp>
      <p:sp>
        <p:nvSpPr>
          <p:cNvPr id="3" name="">
            <a:extLst xmlns:a="http://schemas.openxmlformats.org/drawingml/2006/main">
              <a:ext uri="{FF2B5EF4-FFF2-40B4-BE49-F238E27FC236}">
                <a16:creationId xmlns:a16="http://schemas.microsoft.com/office/drawing/2014/main" id="{D10E73F2-645A-4BC1-BE48-99B60FD7ACB9}"/>
              </a:ext>
            </a:extLst>
          </p:cNvPr>
          <p:cNvSpPr>
            <a:spLocks xmlns:a="http://schemas.openxmlformats.org/drawingml/2006/main" noGrp="1"/>
          </p:cNvSpPr>
          <p:nvPr/>
        </p:nvSpPr>
        <p:spPr>
          <a:xfrm xmlns:a="http://schemas.openxmlformats.org/drawingml/2006/main">
            <a:off x="723900" y="1962150"/>
            <a:ext cx="4953000" cy="16573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sp>
        <p:nvSpPr>
          <p:cNvPr id="4" name="">
            <a:extLst xmlns:a="http://schemas.openxmlformats.org/drawingml/2006/main">
              <a:ext uri="{FF2B5EF4-FFF2-40B4-BE49-F238E27FC236}">
                <a16:creationId xmlns:a16="http://schemas.microsoft.com/office/drawing/2014/main" id="{4BEB46A7-2E9D-45A9-B22F-266C6CA0A356}"/>
              </a:ext>
            </a:extLst>
          </p:cNvPr>
          <p:cNvSpPr>
            <a:spLocks xmlns:a="http://schemas.openxmlformats.org/drawingml/2006/main" noGrp="1"/>
          </p:cNvSpPr>
          <p:nvPr/>
        </p:nvSpPr>
        <p:spPr>
          <a:xfrm xmlns:a="http://schemas.openxmlformats.org/drawingml/2006/main">
            <a:off x="723900" y="1962150"/>
            <a:ext cx="4953000" cy="57150"/>
          </a:xfrm>
          <a:prstGeom xmlns:a="http://schemas.openxmlformats.org/drawingml/2006/main" prst="rect">
            <a:avLst/>
          </a:prstGeom>
          <a:solidFill xmlns:a="http://schemas.openxmlformats.org/drawingml/2006/main">
            <a:srgbClr val="C32832"/>
          </a:solidFill>
          <a:ln xmlns:a="http://schemas.openxmlformats.org/drawingml/2006/main" w="0">
            <a:solidFill>
              <a:srgbClr val="000000">
                <a:alpha val="0"/>
              </a:srgbClr>
            </a:solidFill>
            <a:prstDash val="solid"/>
          </a:ln>
        </p:spPr>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b4db260bd3a945af">
            <a:extLst>
              <a:ext uri="{96DAC541-7B7A-43D3-8B79-37D633B846F1}">
                <asvg:svgBlip xmlns:asvg="http://schemas.microsoft.com/office/drawing/2016/SVG/main" r:embed="Ref4ad88a3e984219"/>
              </a:ext>
            </a:extLst>
          </a:blip>
          <a:stretch xmlns:a="http://schemas.openxmlformats.org/drawingml/2006/main"/>
        </p:blipFill>
        <p:spPr>
          <a:xfrm xmlns:a="http://schemas.openxmlformats.org/drawingml/2006/main">
            <a:off x="971550" y="2247900"/>
            <a:ext cx="323850" cy="3238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C995311-93E9-48B0-8EE2-6D1051786ADC}"/>
              </a:ext>
            </a:extLst>
          </p:cNvPr>
          <p:cNvSpPr>
            <a:spLocks xmlns:a="http://schemas.openxmlformats.org/drawingml/2006/main" noGrp="1"/>
          </p:cNvSpPr>
          <p:nvPr/>
        </p:nvSpPr>
        <p:spPr>
          <a:xfrm xmlns:a="http://schemas.openxmlformats.org/drawingml/2006/main">
            <a:off x="1466850" y="2228850"/>
            <a:ext cx="2857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01820"/>
                </a:solidFill>
                <a:latin typeface="Aptos"/>
                <a:ea typeface="Aptos"/>
                <a:cs typeface="Aptos"/>
              </a:defRPr>
            </a:pPr>
            <a:r>
              <a:rPr sz="1800" b="1">
                <a:solidFill>
                  <a:srgbClr val="101820"/>
                </a:solidFill>
                <a:latin typeface="Aptos"/>
                <a:ea typeface="Aptos"/>
                <a:cs typeface="Aptos"/>
              </a:rPr>
              <a:t>Reliability testing</a:t>
            </a:r>
          </a:p>
        </p:txBody>
      </p:sp>
      <p:sp>
        <p:nvSpPr>
          <p:cNvPr id="7" name="">
            <a:extLst xmlns:a="http://schemas.openxmlformats.org/drawingml/2006/main">
              <a:ext uri="{FF2B5EF4-FFF2-40B4-BE49-F238E27FC236}">
                <a16:creationId xmlns:a16="http://schemas.microsoft.com/office/drawing/2014/main" id="{E1D1B84D-3873-4B03-BEAE-ED3627D97A4B}"/>
              </a:ext>
            </a:extLst>
          </p:cNvPr>
          <p:cNvSpPr>
            <a:spLocks xmlns:a="http://schemas.openxmlformats.org/drawingml/2006/main" noGrp="1"/>
          </p:cNvSpPr>
          <p:nvPr/>
        </p:nvSpPr>
        <p:spPr>
          <a:xfrm xmlns:a="http://schemas.openxmlformats.org/drawingml/2006/main">
            <a:off x="1047750" y="2752725"/>
            <a:ext cx="114300" cy="114300"/>
          </a:xfrm>
          <a:prstGeom xmlns:a="http://schemas.openxmlformats.org/drawingml/2006/main" prst="ellipse">
            <a:avLst/>
          </a:prstGeom>
          <a:solidFill xmlns:a="http://schemas.openxmlformats.org/drawingml/2006/main">
            <a:srgbClr val="C328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D291331A-78A6-43C9-A555-05C302B1850B}"/>
              </a:ext>
            </a:extLst>
          </p:cNvPr>
          <p:cNvSpPr>
            <a:spLocks xmlns:a="http://schemas.openxmlformats.org/drawingml/2006/main" noGrp="1"/>
          </p:cNvSpPr>
          <p:nvPr/>
        </p:nvSpPr>
        <p:spPr>
          <a:xfrm xmlns:a="http://schemas.openxmlformats.org/drawingml/2006/main">
            <a:off x="1295400" y="2686050"/>
            <a:ext cx="40005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test empty scenes, motion, low light, backlight</a:t>
            </a:r>
          </a:p>
        </p:txBody>
      </p:sp>
      <p:sp>
        <p:nvSpPr>
          <p:cNvPr id="9" name="">
            <a:extLst xmlns:a="http://schemas.openxmlformats.org/drawingml/2006/main">
              <a:ext uri="{FF2B5EF4-FFF2-40B4-BE49-F238E27FC236}">
                <a16:creationId xmlns:a16="http://schemas.microsoft.com/office/drawing/2014/main" id="{C08767FA-327D-4357-A177-BABD18237D5D}"/>
              </a:ext>
            </a:extLst>
          </p:cNvPr>
          <p:cNvSpPr>
            <a:spLocks xmlns:a="http://schemas.openxmlformats.org/drawingml/2006/main" noGrp="1"/>
          </p:cNvSpPr>
          <p:nvPr/>
        </p:nvSpPr>
        <p:spPr>
          <a:xfrm xmlns:a="http://schemas.openxmlformats.org/drawingml/2006/main">
            <a:off x="1047750" y="2990850"/>
            <a:ext cx="114300" cy="114300"/>
          </a:xfrm>
          <a:prstGeom xmlns:a="http://schemas.openxmlformats.org/drawingml/2006/main" prst="ellipse">
            <a:avLst/>
          </a:prstGeom>
          <a:solidFill xmlns:a="http://schemas.openxmlformats.org/drawingml/2006/main">
            <a:srgbClr val="C3283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B398B33-FF24-4A4D-89E2-D40DEE9237BF}"/>
              </a:ext>
            </a:extLst>
          </p:cNvPr>
          <p:cNvSpPr>
            <a:spLocks xmlns:a="http://schemas.openxmlformats.org/drawingml/2006/main" noGrp="1"/>
          </p:cNvSpPr>
          <p:nvPr/>
        </p:nvSpPr>
        <p:spPr>
          <a:xfrm xmlns:a="http://schemas.openxmlformats.org/drawingml/2006/main">
            <a:off x="1295400" y="2924175"/>
            <a:ext cx="40005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record false positives and missed detections</a:t>
            </a:r>
          </a:p>
        </p:txBody>
      </p:sp>
      <p:sp>
        <p:nvSpPr>
          <p:cNvPr id="11" name="">
            <a:extLst xmlns:a="http://schemas.openxmlformats.org/drawingml/2006/main">
              <a:ext uri="{FF2B5EF4-FFF2-40B4-BE49-F238E27FC236}">
                <a16:creationId xmlns:a16="http://schemas.microsoft.com/office/drawing/2014/main" id="{2A07F8CE-1499-4D2C-8BF2-B777557C5B1E}"/>
              </a:ext>
            </a:extLst>
          </p:cNvPr>
          <p:cNvSpPr>
            <a:spLocks xmlns:a="http://schemas.openxmlformats.org/drawingml/2006/main" noGrp="1"/>
          </p:cNvSpPr>
          <p:nvPr/>
        </p:nvSpPr>
        <p:spPr>
          <a:xfrm xmlns:a="http://schemas.openxmlformats.org/drawingml/2006/main">
            <a:off x="1047750" y="3228975"/>
            <a:ext cx="114300" cy="114300"/>
          </a:xfrm>
          <a:prstGeom xmlns:a="http://schemas.openxmlformats.org/drawingml/2006/main" prst="ellipse">
            <a:avLst/>
          </a:prstGeom>
          <a:solidFill xmlns:a="http://schemas.openxmlformats.org/drawingml/2006/main">
            <a:srgbClr val="C328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5B229807-FCB0-4910-BDDE-1F799A487541}"/>
              </a:ext>
            </a:extLst>
          </p:cNvPr>
          <p:cNvSpPr>
            <a:spLocks xmlns:a="http://schemas.openxmlformats.org/drawingml/2006/main" noGrp="1"/>
          </p:cNvSpPr>
          <p:nvPr/>
        </p:nvSpPr>
        <p:spPr>
          <a:xfrm xmlns:a="http://schemas.openxmlformats.org/drawingml/2006/main">
            <a:off x="1295400" y="3162300"/>
            <a:ext cx="40005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compare thresholds and confirmation-frame settings</a:t>
            </a:r>
          </a:p>
        </p:txBody>
      </p:sp>
      <p:sp>
        <p:nvSpPr>
          <p:cNvPr id="13" name="">
            <a:extLst xmlns:a="http://schemas.openxmlformats.org/drawingml/2006/main">
              <a:ext uri="{FF2B5EF4-FFF2-40B4-BE49-F238E27FC236}">
                <a16:creationId xmlns:a16="http://schemas.microsoft.com/office/drawing/2014/main" id="{767FD474-6EF8-4210-904B-93DD596951B8}"/>
              </a:ext>
            </a:extLst>
          </p:cNvPr>
          <p:cNvSpPr>
            <a:spLocks xmlns:a="http://schemas.openxmlformats.org/drawingml/2006/main" noGrp="1"/>
          </p:cNvSpPr>
          <p:nvPr/>
        </p:nvSpPr>
        <p:spPr>
          <a:xfrm xmlns:a="http://schemas.openxmlformats.org/drawingml/2006/main">
            <a:off x="6496050" y="1962150"/>
            <a:ext cx="4953000" cy="1657350"/>
          </a:xfrm>
          <a:prstGeom xmlns:a="http://schemas.openxmlformats.org/drawingml/2006/main" prst="rect">
            <a:avLst/>
          </a:prstGeom>
          <a:solidFill xmlns:a="http://schemas.openxmlformats.org/drawingml/2006/main">
            <a:srgbClr val="E1EAF8"/>
          </a:solidFill>
          <a:ln xmlns:a="http://schemas.openxmlformats.org/drawingml/2006/main" w="9525">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BFCEDC92-E8FE-415C-99FA-A53170FD7A45}"/>
              </a:ext>
            </a:extLst>
          </p:cNvPr>
          <p:cNvSpPr>
            <a:spLocks xmlns:a="http://schemas.openxmlformats.org/drawingml/2006/main" noGrp="1"/>
          </p:cNvSpPr>
          <p:nvPr/>
        </p:nvSpPr>
        <p:spPr>
          <a:xfrm xmlns:a="http://schemas.openxmlformats.org/drawingml/2006/main">
            <a:off x="6496050" y="1962150"/>
            <a:ext cx="4953000" cy="57150"/>
          </a:xfrm>
          <a:prstGeom xmlns:a="http://schemas.openxmlformats.org/drawingml/2006/main" prst="rect">
            <a:avLst/>
          </a:prstGeom>
          <a:solidFill xmlns:a="http://schemas.openxmlformats.org/drawingml/2006/main">
            <a:srgbClr val="2E5EAA"/>
          </a:solidFill>
          <a:ln xmlns:a="http://schemas.openxmlformats.org/drawingml/2006/main" w="0">
            <a:solidFill>
              <a:srgbClr val="000000">
                <a:alpha val="0"/>
              </a:srgbClr>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86ce78c0da943d4">
            <a:extLst>
              <a:ext uri="{96DAC541-7B7A-43D3-8B79-37D633B846F1}">
                <asvg:svgBlip xmlns:asvg="http://schemas.microsoft.com/office/drawing/2016/SVG/main" r:embed="R74e58ac48f6f4db8"/>
              </a:ext>
            </a:extLst>
          </a:blip>
          <a:stretch xmlns:a="http://schemas.openxmlformats.org/drawingml/2006/main"/>
        </p:blipFill>
        <p:spPr>
          <a:xfrm xmlns:a="http://schemas.openxmlformats.org/drawingml/2006/main">
            <a:off x="6743700" y="2247900"/>
            <a:ext cx="323850" cy="3238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4ED8E3AD-BE66-4C94-BE67-54E0D1AA112F}"/>
              </a:ext>
            </a:extLst>
          </p:cNvPr>
          <p:cNvSpPr>
            <a:spLocks xmlns:a="http://schemas.openxmlformats.org/drawingml/2006/main" noGrp="1"/>
          </p:cNvSpPr>
          <p:nvPr/>
        </p:nvSpPr>
        <p:spPr>
          <a:xfrm xmlns:a="http://schemas.openxmlformats.org/drawingml/2006/main">
            <a:off x="7239000" y="2228850"/>
            <a:ext cx="2857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01820"/>
                </a:solidFill>
                <a:latin typeface="Aptos"/>
                <a:ea typeface="Aptos"/>
                <a:cs typeface="Aptos"/>
              </a:defRPr>
            </a:pPr>
            <a:r>
              <a:rPr sz="1800" b="1">
                <a:solidFill>
                  <a:srgbClr val="101820"/>
                </a:solidFill>
                <a:latin typeface="Aptos"/>
                <a:ea typeface="Aptos"/>
                <a:cs typeface="Aptos"/>
              </a:rPr>
              <a:t>Latency metrics</a:t>
            </a:r>
          </a:p>
        </p:txBody>
      </p:sp>
      <p:sp>
        <p:nvSpPr>
          <p:cNvPr id="17" name="">
            <a:extLst xmlns:a="http://schemas.openxmlformats.org/drawingml/2006/main">
              <a:ext uri="{FF2B5EF4-FFF2-40B4-BE49-F238E27FC236}">
                <a16:creationId xmlns:a16="http://schemas.microsoft.com/office/drawing/2014/main" id="{318F5C28-0073-4F06-9431-E1E36F0F855A}"/>
              </a:ext>
            </a:extLst>
          </p:cNvPr>
          <p:cNvSpPr>
            <a:spLocks xmlns:a="http://schemas.openxmlformats.org/drawingml/2006/main" noGrp="1"/>
          </p:cNvSpPr>
          <p:nvPr/>
        </p:nvSpPr>
        <p:spPr>
          <a:xfrm xmlns:a="http://schemas.openxmlformats.org/drawingml/2006/main">
            <a:off x="6819900" y="2752725"/>
            <a:ext cx="114300" cy="114300"/>
          </a:xfrm>
          <a:prstGeom xmlns:a="http://schemas.openxmlformats.org/drawingml/2006/main" prst="ellipse">
            <a:avLst/>
          </a:prstGeom>
          <a:solidFill xmlns:a="http://schemas.openxmlformats.org/drawingml/2006/main">
            <a:srgbClr val="2E5EAA"/>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0F33B1BA-373F-42E7-9AE8-D7381A0F59C1}"/>
              </a:ext>
            </a:extLst>
          </p:cNvPr>
          <p:cNvSpPr>
            <a:spLocks xmlns:a="http://schemas.openxmlformats.org/drawingml/2006/main" noGrp="1"/>
          </p:cNvSpPr>
          <p:nvPr/>
        </p:nvSpPr>
        <p:spPr>
          <a:xfrm xmlns:a="http://schemas.openxmlformats.org/drawingml/2006/main">
            <a:off x="7067550" y="2686050"/>
            <a:ext cx="40005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measure camera-to-MQTT timing</a:t>
            </a:r>
          </a:p>
        </p:txBody>
      </p:sp>
      <p:sp>
        <p:nvSpPr>
          <p:cNvPr id="19" name="">
            <a:extLst xmlns:a="http://schemas.openxmlformats.org/drawingml/2006/main">
              <a:ext uri="{FF2B5EF4-FFF2-40B4-BE49-F238E27FC236}">
                <a16:creationId xmlns:a16="http://schemas.microsoft.com/office/drawing/2014/main" id="{0ECE0AED-6490-496E-AA90-C6CDFFE7AF01}"/>
              </a:ext>
            </a:extLst>
          </p:cNvPr>
          <p:cNvSpPr>
            <a:spLocks xmlns:a="http://schemas.openxmlformats.org/drawingml/2006/main" noGrp="1"/>
          </p:cNvSpPr>
          <p:nvPr/>
        </p:nvSpPr>
        <p:spPr>
          <a:xfrm xmlns:a="http://schemas.openxmlformats.org/drawingml/2006/main">
            <a:off x="6819900" y="2990850"/>
            <a:ext cx="114300" cy="114300"/>
          </a:xfrm>
          <a:prstGeom xmlns:a="http://schemas.openxmlformats.org/drawingml/2006/main" prst="ellipse">
            <a:avLst/>
          </a:prstGeom>
          <a:solidFill xmlns:a="http://schemas.openxmlformats.org/drawingml/2006/main">
            <a:srgbClr val="2E5EAA"/>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2087516A-CAF3-4CBB-ACF4-A4B66BFF4DA4}"/>
              </a:ext>
            </a:extLst>
          </p:cNvPr>
          <p:cNvSpPr>
            <a:spLocks xmlns:a="http://schemas.openxmlformats.org/drawingml/2006/main" noGrp="1"/>
          </p:cNvSpPr>
          <p:nvPr/>
        </p:nvSpPr>
        <p:spPr>
          <a:xfrm xmlns:a="http://schemas.openxmlformats.org/drawingml/2006/main">
            <a:off x="7067550" y="2924175"/>
            <a:ext cx="40005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measure MQTT-to-Telegram timing</a:t>
            </a:r>
          </a:p>
        </p:txBody>
      </p:sp>
      <p:sp>
        <p:nvSpPr>
          <p:cNvPr id="21" name="">
            <a:extLst xmlns:a="http://schemas.openxmlformats.org/drawingml/2006/main">
              <a:ext uri="{FF2B5EF4-FFF2-40B4-BE49-F238E27FC236}">
                <a16:creationId xmlns:a16="http://schemas.microsoft.com/office/drawing/2014/main" id="{2C4D8273-AA14-4F38-AAC6-454D4A5ED3E2}"/>
              </a:ext>
            </a:extLst>
          </p:cNvPr>
          <p:cNvSpPr>
            <a:spLocks xmlns:a="http://schemas.openxmlformats.org/drawingml/2006/main" noGrp="1"/>
          </p:cNvSpPr>
          <p:nvPr/>
        </p:nvSpPr>
        <p:spPr>
          <a:xfrm xmlns:a="http://schemas.openxmlformats.org/drawingml/2006/main">
            <a:off x="6819900" y="3228975"/>
            <a:ext cx="114300" cy="114300"/>
          </a:xfrm>
          <a:prstGeom xmlns:a="http://schemas.openxmlformats.org/drawingml/2006/main" prst="ellipse">
            <a:avLst/>
          </a:prstGeom>
          <a:solidFill xmlns:a="http://schemas.openxmlformats.org/drawingml/2006/main">
            <a:srgbClr val="2E5EAA"/>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B9C01CF4-2604-4623-B048-9FA94B42E840}"/>
              </a:ext>
            </a:extLst>
          </p:cNvPr>
          <p:cNvSpPr>
            <a:spLocks xmlns:a="http://schemas.openxmlformats.org/drawingml/2006/main" noGrp="1"/>
          </p:cNvSpPr>
          <p:nvPr/>
        </p:nvSpPr>
        <p:spPr>
          <a:xfrm xmlns:a="http://schemas.openxmlformats.org/drawingml/2006/main">
            <a:off x="7067550" y="3162300"/>
            <a:ext cx="40005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separate model latency from network latency</a:t>
            </a:r>
          </a:p>
        </p:txBody>
      </p:sp>
      <p:sp>
        <p:nvSpPr>
          <p:cNvPr id="23" name="">
            <a:extLst xmlns:a="http://schemas.openxmlformats.org/drawingml/2006/main">
              <a:ext uri="{FF2B5EF4-FFF2-40B4-BE49-F238E27FC236}">
                <a16:creationId xmlns:a16="http://schemas.microsoft.com/office/drawing/2014/main" id="{4F3D22D5-6B50-4FDD-A8E1-6F04AB5D637A}"/>
              </a:ext>
            </a:extLst>
          </p:cNvPr>
          <p:cNvSpPr>
            <a:spLocks xmlns:a="http://schemas.openxmlformats.org/drawingml/2006/main" noGrp="1"/>
          </p:cNvSpPr>
          <p:nvPr/>
        </p:nvSpPr>
        <p:spPr>
          <a:xfrm xmlns:a="http://schemas.openxmlformats.org/drawingml/2006/main">
            <a:off x="723900" y="3981450"/>
            <a:ext cx="4953000" cy="1657350"/>
          </a:xfrm>
          <a:prstGeom xmlns:a="http://schemas.openxmlformats.org/drawingml/2006/main" prst="rect">
            <a:avLst/>
          </a:prstGeom>
          <a:solidFill xmlns:a="http://schemas.openxmlformats.org/drawingml/2006/main">
            <a:srgbClr val="DDF0EF"/>
          </a:solidFill>
          <a:ln xmlns:a="http://schemas.openxmlformats.org/drawingml/2006/main" w="9525">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8A020A7B-6CD9-4DB6-B4BF-50200E5C8CC6}"/>
              </a:ext>
            </a:extLst>
          </p:cNvPr>
          <p:cNvSpPr>
            <a:spLocks xmlns:a="http://schemas.openxmlformats.org/drawingml/2006/main" noGrp="1"/>
          </p:cNvSpPr>
          <p:nvPr/>
        </p:nvSpPr>
        <p:spPr>
          <a:xfrm xmlns:a="http://schemas.openxmlformats.org/drawingml/2006/main">
            <a:off x="723900" y="3981450"/>
            <a:ext cx="4953000" cy="57150"/>
          </a:xfrm>
          <a:prstGeom xmlns:a="http://schemas.openxmlformats.org/drawingml/2006/main" prst="rect">
            <a:avLst/>
          </a:prstGeom>
          <a:solidFill xmlns:a="http://schemas.openxmlformats.org/drawingml/2006/main">
            <a:srgbClr val="0E7C86"/>
          </a:solidFill>
          <a:ln xmlns:a="http://schemas.openxmlformats.org/drawingml/2006/main" w="0">
            <a:solidFill>
              <a:srgbClr val="000000">
                <a:alpha val="0"/>
              </a:srgbClr>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c9ee46bf28d4f58">
            <a:extLst>
              <a:ext uri="{96DAC541-7B7A-43D3-8B79-37D633B846F1}">
                <asvg:svgBlip xmlns:asvg="http://schemas.microsoft.com/office/drawing/2016/SVG/main" r:embed="Rd24ccb17178a462d"/>
              </a:ext>
            </a:extLst>
          </a:blip>
          <a:stretch xmlns:a="http://schemas.openxmlformats.org/drawingml/2006/main"/>
        </p:blipFill>
        <p:spPr>
          <a:xfrm xmlns:a="http://schemas.openxmlformats.org/drawingml/2006/main">
            <a:off x="971550" y="4267200"/>
            <a:ext cx="323850" cy="32385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904B2559-8C54-4EE2-896D-85E8CC5A86ED}"/>
              </a:ext>
            </a:extLst>
          </p:cNvPr>
          <p:cNvSpPr>
            <a:spLocks xmlns:a="http://schemas.openxmlformats.org/drawingml/2006/main" noGrp="1"/>
          </p:cNvSpPr>
          <p:nvPr/>
        </p:nvSpPr>
        <p:spPr>
          <a:xfrm xmlns:a="http://schemas.openxmlformats.org/drawingml/2006/main">
            <a:off x="1466850" y="4248150"/>
            <a:ext cx="2857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01820"/>
                </a:solidFill>
                <a:latin typeface="Aptos"/>
                <a:ea typeface="Aptos"/>
                <a:cs typeface="Aptos"/>
              </a:defRPr>
            </a:pPr>
            <a:r>
              <a:rPr sz="1800" b="1">
                <a:solidFill>
                  <a:srgbClr val="101820"/>
                </a:solidFill>
                <a:latin typeface="Aptos"/>
                <a:ea typeface="Aptos"/>
                <a:cs typeface="Aptos"/>
              </a:rPr>
              <a:t>Deployment hardening</a:t>
            </a:r>
          </a:p>
        </p:txBody>
      </p:sp>
      <p:sp>
        <p:nvSpPr>
          <p:cNvPr id="27" name="">
            <a:extLst xmlns:a="http://schemas.openxmlformats.org/drawingml/2006/main">
              <a:ext uri="{FF2B5EF4-FFF2-40B4-BE49-F238E27FC236}">
                <a16:creationId xmlns:a16="http://schemas.microsoft.com/office/drawing/2014/main" id="{2BA01D7E-91BD-4709-ACF6-8F42A48E368D}"/>
              </a:ext>
            </a:extLst>
          </p:cNvPr>
          <p:cNvSpPr>
            <a:spLocks xmlns:a="http://schemas.openxmlformats.org/drawingml/2006/main" noGrp="1"/>
          </p:cNvSpPr>
          <p:nvPr/>
        </p:nvSpPr>
        <p:spPr>
          <a:xfrm xmlns:a="http://schemas.openxmlformats.org/drawingml/2006/main">
            <a:off x="1047750" y="4772025"/>
            <a:ext cx="114300" cy="114300"/>
          </a:xfrm>
          <a:prstGeom xmlns:a="http://schemas.openxmlformats.org/drawingml/2006/main" prst="ellipse">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4941D973-C2F4-4AF0-A9B9-C106CB99CB35}"/>
              </a:ext>
            </a:extLst>
          </p:cNvPr>
          <p:cNvSpPr>
            <a:spLocks xmlns:a="http://schemas.openxmlformats.org/drawingml/2006/main" noGrp="1"/>
          </p:cNvSpPr>
          <p:nvPr/>
        </p:nvSpPr>
        <p:spPr>
          <a:xfrm xmlns:a="http://schemas.openxmlformats.org/drawingml/2006/main">
            <a:off x="1295400" y="4705350"/>
            <a:ext cx="40005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broker authentication or TLS</a:t>
            </a:r>
          </a:p>
        </p:txBody>
      </p:sp>
      <p:sp>
        <p:nvSpPr>
          <p:cNvPr id="29" name="">
            <a:extLst xmlns:a="http://schemas.openxmlformats.org/drawingml/2006/main">
              <a:ext uri="{FF2B5EF4-FFF2-40B4-BE49-F238E27FC236}">
                <a16:creationId xmlns:a16="http://schemas.microsoft.com/office/drawing/2014/main" id="{0254D79F-E956-43B3-BC26-9B1BA007C341}"/>
              </a:ext>
            </a:extLst>
          </p:cNvPr>
          <p:cNvSpPr>
            <a:spLocks xmlns:a="http://schemas.openxmlformats.org/drawingml/2006/main" noGrp="1"/>
          </p:cNvSpPr>
          <p:nvPr/>
        </p:nvSpPr>
        <p:spPr>
          <a:xfrm xmlns:a="http://schemas.openxmlformats.org/drawingml/2006/main">
            <a:off x="1047750" y="5010150"/>
            <a:ext cx="114300" cy="114300"/>
          </a:xfrm>
          <a:prstGeom xmlns:a="http://schemas.openxmlformats.org/drawingml/2006/main" prst="ellipse">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C488AD19-D4DB-4A16-B120-9AD709E32997}"/>
              </a:ext>
            </a:extLst>
          </p:cNvPr>
          <p:cNvSpPr>
            <a:spLocks xmlns:a="http://schemas.openxmlformats.org/drawingml/2006/main" noGrp="1"/>
          </p:cNvSpPr>
          <p:nvPr/>
        </p:nvSpPr>
        <p:spPr>
          <a:xfrm xmlns:a="http://schemas.openxmlformats.org/drawingml/2006/main">
            <a:off x="1295400" y="4943475"/>
            <a:ext cx="40005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watchdog and reconnect handling</a:t>
            </a:r>
          </a:p>
        </p:txBody>
      </p:sp>
      <p:sp>
        <p:nvSpPr>
          <p:cNvPr id="31" name="">
            <a:extLst xmlns:a="http://schemas.openxmlformats.org/drawingml/2006/main">
              <a:ext uri="{FF2B5EF4-FFF2-40B4-BE49-F238E27FC236}">
                <a16:creationId xmlns:a16="http://schemas.microsoft.com/office/drawing/2014/main" id="{9934C5F5-FE78-4A93-B93E-FB4EFA5A4D42}"/>
              </a:ext>
            </a:extLst>
          </p:cNvPr>
          <p:cNvSpPr>
            <a:spLocks xmlns:a="http://schemas.openxmlformats.org/drawingml/2006/main" noGrp="1"/>
          </p:cNvSpPr>
          <p:nvPr/>
        </p:nvSpPr>
        <p:spPr>
          <a:xfrm xmlns:a="http://schemas.openxmlformats.org/drawingml/2006/main">
            <a:off x="1047750" y="5248275"/>
            <a:ext cx="114300" cy="114300"/>
          </a:xfrm>
          <a:prstGeom xmlns:a="http://schemas.openxmlformats.org/drawingml/2006/main" prst="ellipse">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F3E7ACDB-C8C1-4BDA-A6EB-82B8985CF094}"/>
              </a:ext>
            </a:extLst>
          </p:cNvPr>
          <p:cNvSpPr>
            <a:spLocks xmlns:a="http://schemas.openxmlformats.org/drawingml/2006/main" noGrp="1"/>
          </p:cNvSpPr>
          <p:nvPr/>
        </p:nvSpPr>
        <p:spPr>
          <a:xfrm xmlns:a="http://schemas.openxmlformats.org/drawingml/2006/main">
            <a:off x="1295400" y="5181600"/>
            <a:ext cx="40005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token rotation and cleaner secret handling</a:t>
            </a:r>
          </a:p>
        </p:txBody>
      </p:sp>
      <p:sp>
        <p:nvSpPr>
          <p:cNvPr id="33" name="">
            <a:extLst xmlns:a="http://schemas.openxmlformats.org/drawingml/2006/main">
              <a:ext uri="{FF2B5EF4-FFF2-40B4-BE49-F238E27FC236}">
                <a16:creationId xmlns:a16="http://schemas.microsoft.com/office/drawing/2014/main" id="{BD80F21D-0CFE-4E15-B619-B4C982B371D4}"/>
              </a:ext>
            </a:extLst>
          </p:cNvPr>
          <p:cNvSpPr>
            <a:spLocks xmlns:a="http://schemas.openxmlformats.org/drawingml/2006/main" noGrp="1"/>
          </p:cNvSpPr>
          <p:nvPr/>
        </p:nvSpPr>
        <p:spPr>
          <a:xfrm xmlns:a="http://schemas.openxmlformats.org/drawingml/2006/main">
            <a:off x="6496050" y="3981450"/>
            <a:ext cx="4953000" cy="1657350"/>
          </a:xfrm>
          <a:prstGeom xmlns:a="http://schemas.openxmlformats.org/drawingml/2006/main" prst="rect">
            <a:avLst/>
          </a:prstGeom>
          <a:solidFill xmlns:a="http://schemas.openxmlformats.org/drawingml/2006/main">
            <a:srgbClr val="DFF0E5"/>
          </a:solidFill>
          <a:ln xmlns:a="http://schemas.openxmlformats.org/drawingml/2006/main" w="9525">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EF0BF6E7-16B2-4693-B0AF-6906648504F6}"/>
              </a:ext>
            </a:extLst>
          </p:cNvPr>
          <p:cNvSpPr>
            <a:spLocks xmlns:a="http://schemas.openxmlformats.org/drawingml/2006/main" noGrp="1"/>
          </p:cNvSpPr>
          <p:nvPr/>
        </p:nvSpPr>
        <p:spPr>
          <a:xfrm xmlns:a="http://schemas.openxmlformats.org/drawingml/2006/main">
            <a:off x="6496050" y="3981450"/>
            <a:ext cx="4953000" cy="57150"/>
          </a:xfrm>
          <a:prstGeom xmlns:a="http://schemas.openxmlformats.org/drawingml/2006/main" prst="rect">
            <a:avLst/>
          </a:prstGeom>
          <a:solidFill xmlns:a="http://schemas.openxmlformats.org/drawingml/2006/main">
            <a:srgbClr val="2E7D46"/>
          </a:solidFill>
          <a:ln xmlns:a="http://schemas.openxmlformats.org/drawingml/2006/main" w="0">
            <a:solidFill>
              <a:srgbClr val="000000">
                <a:alpha val="0"/>
              </a:srgbClr>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fdeecb42aff4723">
            <a:extLst>
              <a:ext uri="{96DAC541-7B7A-43D3-8B79-37D633B846F1}">
                <asvg:svgBlip xmlns:asvg="http://schemas.microsoft.com/office/drawing/2016/SVG/main" r:embed="R98f29b338e7b4ccf"/>
              </a:ext>
            </a:extLst>
          </a:blip>
          <a:stretch xmlns:a="http://schemas.openxmlformats.org/drawingml/2006/main"/>
        </p:blipFill>
        <p:spPr>
          <a:xfrm xmlns:a="http://schemas.openxmlformats.org/drawingml/2006/main">
            <a:off x="6743700" y="4267200"/>
            <a:ext cx="323850" cy="323850"/>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838BFB9E-8080-4AC7-8199-54E0B594BA07}"/>
              </a:ext>
            </a:extLst>
          </p:cNvPr>
          <p:cNvSpPr>
            <a:spLocks xmlns:a="http://schemas.openxmlformats.org/drawingml/2006/main" noGrp="1"/>
          </p:cNvSpPr>
          <p:nvPr/>
        </p:nvSpPr>
        <p:spPr>
          <a:xfrm xmlns:a="http://schemas.openxmlformats.org/drawingml/2006/main">
            <a:off x="7239000" y="4248150"/>
            <a:ext cx="2857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01820"/>
                </a:solidFill>
                <a:latin typeface="Aptos"/>
                <a:ea typeface="Aptos"/>
                <a:cs typeface="Aptos"/>
              </a:defRPr>
            </a:pPr>
            <a:r>
              <a:rPr sz="1800" b="1">
                <a:solidFill>
                  <a:srgbClr val="101820"/>
                </a:solidFill>
                <a:latin typeface="Aptos"/>
                <a:ea typeface="Aptos"/>
                <a:cs typeface="Aptos"/>
              </a:rPr>
              <a:t>Product features</a:t>
            </a:r>
          </a:p>
        </p:txBody>
      </p:sp>
      <p:sp>
        <p:nvSpPr>
          <p:cNvPr id="37" name="">
            <a:extLst xmlns:a="http://schemas.openxmlformats.org/drawingml/2006/main">
              <a:ext uri="{FF2B5EF4-FFF2-40B4-BE49-F238E27FC236}">
                <a16:creationId xmlns:a16="http://schemas.microsoft.com/office/drawing/2014/main" id="{D72F4B98-2483-4BD2-8ABE-23C85E6F4CE6}"/>
              </a:ext>
            </a:extLst>
          </p:cNvPr>
          <p:cNvSpPr>
            <a:spLocks xmlns:a="http://schemas.openxmlformats.org/drawingml/2006/main" noGrp="1"/>
          </p:cNvSpPr>
          <p:nvPr/>
        </p:nvSpPr>
        <p:spPr>
          <a:xfrm xmlns:a="http://schemas.openxmlformats.org/drawingml/2006/main">
            <a:off x="6819900" y="4772025"/>
            <a:ext cx="114300" cy="114300"/>
          </a:xfrm>
          <a:prstGeom xmlns:a="http://schemas.openxmlformats.org/drawingml/2006/main" prst="ellipse">
            <a:avLst/>
          </a:prstGeom>
          <a:solidFill xmlns:a="http://schemas.openxmlformats.org/drawingml/2006/main">
            <a:srgbClr val="2E7D46"/>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20B38229-75D5-4EB6-80D6-08822A645DCE}"/>
              </a:ext>
            </a:extLst>
          </p:cNvPr>
          <p:cNvSpPr>
            <a:spLocks xmlns:a="http://schemas.openxmlformats.org/drawingml/2006/main" noGrp="1"/>
          </p:cNvSpPr>
          <p:nvPr/>
        </p:nvSpPr>
        <p:spPr>
          <a:xfrm xmlns:a="http://schemas.openxmlformats.org/drawingml/2006/main">
            <a:off x="7067550" y="4705350"/>
            <a:ext cx="40005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web dashboard for event history</a:t>
            </a:r>
          </a:p>
        </p:txBody>
      </p:sp>
      <p:sp>
        <p:nvSpPr>
          <p:cNvPr id="39" name="">
            <a:extLst xmlns:a="http://schemas.openxmlformats.org/drawingml/2006/main">
              <a:ext uri="{FF2B5EF4-FFF2-40B4-BE49-F238E27FC236}">
                <a16:creationId xmlns:a16="http://schemas.microsoft.com/office/drawing/2014/main" id="{3D633519-A218-4337-85F1-20EF6C0D21E5}"/>
              </a:ext>
            </a:extLst>
          </p:cNvPr>
          <p:cNvSpPr>
            <a:spLocks xmlns:a="http://schemas.openxmlformats.org/drawingml/2006/main" noGrp="1"/>
          </p:cNvSpPr>
          <p:nvPr/>
        </p:nvSpPr>
        <p:spPr>
          <a:xfrm xmlns:a="http://schemas.openxmlformats.org/drawingml/2006/main">
            <a:off x="6819900" y="5010150"/>
            <a:ext cx="114300" cy="114300"/>
          </a:xfrm>
          <a:prstGeom xmlns:a="http://schemas.openxmlformats.org/drawingml/2006/main" prst="ellipse">
            <a:avLst/>
          </a:prstGeom>
          <a:solidFill xmlns:a="http://schemas.openxmlformats.org/drawingml/2006/main">
            <a:srgbClr val="2E7D46"/>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4C5811B3-CDDF-4C19-8DB3-AB772A7C287A}"/>
              </a:ext>
            </a:extLst>
          </p:cNvPr>
          <p:cNvSpPr>
            <a:spLocks xmlns:a="http://schemas.openxmlformats.org/drawingml/2006/main" noGrp="1"/>
          </p:cNvSpPr>
          <p:nvPr/>
        </p:nvSpPr>
        <p:spPr>
          <a:xfrm xmlns:a="http://schemas.openxmlformats.org/drawingml/2006/main">
            <a:off x="7067550" y="4943475"/>
            <a:ext cx="40005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configurable zones or schedules</a:t>
            </a:r>
          </a:p>
        </p:txBody>
      </p:sp>
      <p:sp>
        <p:nvSpPr>
          <p:cNvPr id="41" name="">
            <a:extLst xmlns:a="http://schemas.openxmlformats.org/drawingml/2006/main">
              <a:ext uri="{FF2B5EF4-FFF2-40B4-BE49-F238E27FC236}">
                <a16:creationId xmlns:a16="http://schemas.microsoft.com/office/drawing/2014/main" id="{F1DC8405-A471-420F-8D69-7F5CEF1DAFF6}"/>
              </a:ext>
            </a:extLst>
          </p:cNvPr>
          <p:cNvSpPr>
            <a:spLocks xmlns:a="http://schemas.openxmlformats.org/drawingml/2006/main" noGrp="1"/>
          </p:cNvSpPr>
          <p:nvPr/>
        </p:nvSpPr>
        <p:spPr>
          <a:xfrm xmlns:a="http://schemas.openxmlformats.org/drawingml/2006/main">
            <a:off x="6819900" y="5248275"/>
            <a:ext cx="114300" cy="114300"/>
          </a:xfrm>
          <a:prstGeom xmlns:a="http://schemas.openxmlformats.org/drawingml/2006/main" prst="ellipse">
            <a:avLst/>
          </a:prstGeom>
          <a:solidFill xmlns:a="http://schemas.openxmlformats.org/drawingml/2006/main">
            <a:srgbClr val="2E7D46"/>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F29A6477-9799-4C34-8A5D-1DD116A4B2E8}"/>
              </a:ext>
            </a:extLst>
          </p:cNvPr>
          <p:cNvSpPr>
            <a:spLocks xmlns:a="http://schemas.openxmlformats.org/drawingml/2006/main" noGrp="1"/>
          </p:cNvSpPr>
          <p:nvPr/>
        </p:nvSpPr>
        <p:spPr>
          <a:xfrm xmlns:a="http://schemas.openxmlformats.org/drawingml/2006/main">
            <a:off x="7067550" y="5181600"/>
            <a:ext cx="40005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820"/>
                </a:solidFill>
                <a:latin typeface="Aptos"/>
                <a:ea typeface="Aptos"/>
                <a:cs typeface="Aptos"/>
              </a:defRPr>
            </a:pPr>
            <a:r>
              <a:rPr sz="1125" b="0">
                <a:solidFill>
                  <a:srgbClr val="101820"/>
                </a:solidFill>
                <a:latin typeface="Aptos"/>
                <a:ea typeface="Aptos"/>
                <a:cs typeface="Aptos"/>
              </a:rPr>
              <a:t>optional image snapshot with privacy controls</a:t>
            </a:r>
          </a:p>
        </p:txBody>
      </p:sp>
      <p:sp>
        <p:nvSpPr>
          <p:cNvPr id="43" name="">
            <a:extLst xmlns:a="http://schemas.openxmlformats.org/drawingml/2006/main">
              <a:ext uri="{FF2B5EF4-FFF2-40B4-BE49-F238E27FC236}">
                <a16:creationId xmlns:a16="http://schemas.microsoft.com/office/drawing/2014/main" id="{97D5951C-3C5C-406F-99DE-3C6759E5FCA4}"/>
              </a:ext>
            </a:extLst>
          </p:cNvPr>
          <p:cNvSpPr>
            <a:spLocks xmlns:a="http://schemas.openxmlformats.org/drawingml/2006/main" noGrp="1"/>
          </p:cNvSpPr>
          <p:nvPr/>
        </p:nvSpPr>
        <p:spPr>
          <a:xfrm xmlns:a="http://schemas.openxmlformats.org/drawingml/2006/main">
            <a:off x="552450" y="64579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E6872"/>
                </a:solidFill>
                <a:latin typeface="Aptos"/>
                <a:ea typeface="Aptos"/>
                <a:cs typeface="Aptos"/>
              </a:defRPr>
            </a:pPr>
            <a:r>
              <a:rPr sz="1050" b="0">
                <a:solidFill>
                  <a:srgbClr val="5E6872"/>
                </a:solidFill>
                <a:latin typeface="Aptos"/>
                <a:ea typeface="Aptos"/>
                <a:cs typeface="Aptos"/>
              </a:rPr>
              <a:t>Smart Visual Alarm System | 10</a:t>
            </a:r>
          </a:p>
        </p:txBody>
      </p:sp>
    </p:spTree>
    <p:extLst>
      <p:ext uri="{BB962C8B-B14F-4D97-AF65-F5344CB8AC3E}">
        <p14:creationId xmlns:p14="http://schemas.microsoft.com/office/powerpoint/2010/main" val="133756693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A9BDC8-5A86-437C-B9D5-08E6FB3F78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582EA58-5C4D-47C7-93C0-2AD6B3926831}"/>
              </a:ext>
            </a:extLst>
          </p:cNvPr>
          <p:cNvSpPr>
            <a:spLocks xmlns:a="http://schemas.openxmlformats.org/drawingml/2006/main" noGrp="1"/>
          </p:cNvSpPr>
          <p:nvPr/>
        </p:nvSpPr>
        <p:spPr>
          <a:xfrm xmlns:a="http://schemas.openxmlformats.org/drawingml/2006/main">
            <a:off x="552450" y="438150"/>
            <a:ext cx="8191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01820"/>
                </a:solidFill>
                <a:latin typeface="Aptos Display"/>
                <a:ea typeface="Aptos Display"/>
                <a:cs typeface="Aptos Display"/>
              </a:defRPr>
            </a:pPr>
            <a:r>
              <a:rPr sz="3300" b="1">
                <a:solidFill>
                  <a:srgbClr val="101820"/>
                </a:solidFill>
                <a:latin typeface="Aptos Display"/>
                <a:ea typeface="Aptos Display"/>
                <a:cs typeface="Aptos Display"/>
              </a:rPr>
              <a:t>Summary</a:t>
            </a:r>
          </a:p>
        </p:txBody>
      </p:sp>
      <p:sp>
        <p:nvSpPr>
          <p:cNvPr id="3" name="">
            <a:extLst xmlns:a="http://schemas.openxmlformats.org/drawingml/2006/main">
              <a:ext uri="{FF2B5EF4-FFF2-40B4-BE49-F238E27FC236}">
                <a16:creationId xmlns:a16="http://schemas.microsoft.com/office/drawing/2014/main" id="{37E99AF8-1955-479F-A43F-EEFAE11FCB95}"/>
              </a:ext>
            </a:extLst>
          </p:cNvPr>
          <p:cNvSpPr>
            <a:spLocks xmlns:a="http://schemas.openxmlformats.org/drawingml/2006/main" noGrp="1"/>
          </p:cNvSpPr>
          <p:nvPr/>
        </p:nvSpPr>
        <p:spPr>
          <a:xfrm xmlns:a="http://schemas.openxmlformats.org/drawingml/2006/main">
            <a:off x="762000" y="1924050"/>
            <a:ext cx="4953000" cy="32575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5"/>
            </a:solidFill>
            <a:prstDash val="solid"/>
          </a:ln>
        </p:spPr>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cb5729815ae244ff">
            <a:extLst>
              <a:ext uri="{96DAC541-7B7A-43D3-8B79-37D633B846F1}">
                <asvg:svgBlip xmlns:asvg="http://schemas.microsoft.com/office/drawing/2016/SVG/main" r:embed="Rf3c0dec1e04648fa"/>
              </a:ext>
            </a:extLst>
          </a:blip>
          <a:stretch xmlns:a="http://schemas.openxmlformats.org/drawingml/2006/main"/>
        </p:blipFill>
        <p:spPr>
          <a:xfrm xmlns:a="http://schemas.openxmlformats.org/drawingml/2006/main">
            <a:off x="1066800" y="2247900"/>
            <a:ext cx="381000" cy="38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5411A24-86C6-479F-8196-BD19FA02C767}"/>
              </a:ext>
            </a:extLst>
          </p:cNvPr>
          <p:cNvSpPr>
            <a:spLocks xmlns:a="http://schemas.openxmlformats.org/drawingml/2006/main" noGrp="1"/>
          </p:cNvSpPr>
          <p:nvPr/>
        </p:nvSpPr>
        <p:spPr>
          <a:xfrm xmlns:a="http://schemas.openxmlformats.org/drawingml/2006/main">
            <a:off x="1619250" y="2247900"/>
            <a:ext cx="3143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1820"/>
                </a:solidFill>
                <a:latin typeface="Aptos"/>
                <a:ea typeface="Aptos"/>
                <a:cs typeface="Aptos"/>
              </a:defRPr>
            </a:pPr>
            <a:r>
              <a:rPr sz="2100" b="1">
                <a:solidFill>
                  <a:srgbClr val="101820"/>
                </a:solidFill>
                <a:latin typeface="Aptos"/>
                <a:ea typeface="Aptos"/>
                <a:cs typeface="Aptos"/>
              </a:rPr>
              <a:t>Implemented capabilities</a:t>
            </a:r>
          </a:p>
        </p:txBody>
      </p:sp>
      <p:sp>
        <p:nvSpPr>
          <p:cNvPr id="6" name="">
            <a:extLst xmlns:a="http://schemas.openxmlformats.org/drawingml/2006/main">
              <a:ext uri="{FF2B5EF4-FFF2-40B4-BE49-F238E27FC236}">
                <a16:creationId xmlns:a16="http://schemas.microsoft.com/office/drawing/2014/main" id="{39D6DEA5-3EB0-4DB3-BB73-469965994674}"/>
              </a:ext>
            </a:extLst>
          </p:cNvPr>
          <p:cNvSpPr>
            <a:spLocks xmlns:a="http://schemas.openxmlformats.org/drawingml/2006/main" noGrp="1"/>
          </p:cNvSpPr>
          <p:nvPr/>
        </p:nvSpPr>
        <p:spPr>
          <a:xfrm xmlns:a="http://schemas.openxmlformats.org/drawingml/2006/main">
            <a:off x="1123950" y="2981325"/>
            <a:ext cx="114300" cy="114300"/>
          </a:xfrm>
          <a:prstGeom xmlns:a="http://schemas.openxmlformats.org/drawingml/2006/main" prst="ellipse">
            <a:avLst/>
          </a:prstGeom>
          <a:solidFill xmlns:a="http://schemas.openxmlformats.org/drawingml/2006/main">
            <a:srgbClr val="2E7D46"/>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6DAEFCCA-8E11-4D4C-AB6B-360BE1322DFD}"/>
              </a:ext>
            </a:extLst>
          </p:cNvPr>
          <p:cNvSpPr>
            <a:spLocks xmlns:a="http://schemas.openxmlformats.org/drawingml/2006/main" noGrp="1"/>
          </p:cNvSpPr>
          <p:nvPr/>
        </p:nvSpPr>
        <p:spPr>
          <a:xfrm xmlns:a="http://schemas.openxmlformats.org/drawingml/2006/main">
            <a:off x="1371600" y="2914650"/>
            <a:ext cx="3905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01820"/>
                </a:solidFill>
                <a:latin typeface="Aptos"/>
                <a:ea typeface="Aptos"/>
                <a:cs typeface="Aptos"/>
              </a:defRPr>
            </a:pPr>
            <a:r>
              <a:rPr sz="1275" b="0">
                <a:solidFill>
                  <a:srgbClr val="101820"/>
                </a:solidFill>
                <a:latin typeface="Aptos"/>
                <a:ea typeface="Aptos"/>
                <a:cs typeface="Aptos"/>
              </a:rPr>
              <a:t>ESP32-S3-EYE camera, LCD, and detector pipeline</a:t>
            </a:r>
          </a:p>
        </p:txBody>
      </p:sp>
      <p:sp>
        <p:nvSpPr>
          <p:cNvPr id="8" name="">
            <a:extLst xmlns:a="http://schemas.openxmlformats.org/drawingml/2006/main">
              <a:ext uri="{FF2B5EF4-FFF2-40B4-BE49-F238E27FC236}">
                <a16:creationId xmlns:a16="http://schemas.microsoft.com/office/drawing/2014/main" id="{A8E051F1-6A24-48C8-A9F3-E863C546B495}"/>
              </a:ext>
            </a:extLst>
          </p:cNvPr>
          <p:cNvSpPr>
            <a:spLocks xmlns:a="http://schemas.openxmlformats.org/drawingml/2006/main" noGrp="1"/>
          </p:cNvSpPr>
          <p:nvPr/>
        </p:nvSpPr>
        <p:spPr>
          <a:xfrm xmlns:a="http://schemas.openxmlformats.org/drawingml/2006/main">
            <a:off x="1123950" y="3362325"/>
            <a:ext cx="114300" cy="114300"/>
          </a:xfrm>
          <a:prstGeom xmlns:a="http://schemas.openxmlformats.org/drawingml/2006/main" prst="ellipse">
            <a:avLst/>
          </a:prstGeom>
          <a:solidFill xmlns:a="http://schemas.openxmlformats.org/drawingml/2006/main">
            <a:srgbClr val="2E7D4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FC16E660-0B81-41E7-9DAE-E3677864CDC6}"/>
              </a:ext>
            </a:extLst>
          </p:cNvPr>
          <p:cNvSpPr>
            <a:spLocks xmlns:a="http://schemas.openxmlformats.org/drawingml/2006/main" noGrp="1"/>
          </p:cNvSpPr>
          <p:nvPr/>
        </p:nvSpPr>
        <p:spPr>
          <a:xfrm xmlns:a="http://schemas.openxmlformats.org/drawingml/2006/main">
            <a:off x="1371600" y="3295650"/>
            <a:ext cx="3905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01820"/>
                </a:solidFill>
                <a:latin typeface="Aptos"/>
                <a:ea typeface="Aptos"/>
                <a:cs typeface="Aptos"/>
              </a:defRPr>
            </a:pPr>
            <a:r>
              <a:rPr sz="1275" b="0">
                <a:solidFill>
                  <a:srgbClr val="101820"/>
                </a:solidFill>
                <a:latin typeface="Aptos"/>
                <a:ea typeface="Aptos"/>
                <a:cs typeface="Aptos"/>
              </a:rPr>
              <a:t>on-device pedestrian model with confidence output</a:t>
            </a:r>
          </a:p>
        </p:txBody>
      </p:sp>
      <p:sp>
        <p:nvSpPr>
          <p:cNvPr id="10" name="">
            <a:extLst xmlns:a="http://schemas.openxmlformats.org/drawingml/2006/main">
              <a:ext uri="{FF2B5EF4-FFF2-40B4-BE49-F238E27FC236}">
                <a16:creationId xmlns:a16="http://schemas.microsoft.com/office/drawing/2014/main" id="{895AFA0C-8196-402C-9A59-387E1406B951}"/>
              </a:ext>
            </a:extLst>
          </p:cNvPr>
          <p:cNvSpPr>
            <a:spLocks xmlns:a="http://schemas.openxmlformats.org/drawingml/2006/main" noGrp="1"/>
          </p:cNvSpPr>
          <p:nvPr/>
        </p:nvSpPr>
        <p:spPr>
          <a:xfrm xmlns:a="http://schemas.openxmlformats.org/drawingml/2006/main">
            <a:off x="1123950" y="3743325"/>
            <a:ext cx="114300" cy="114300"/>
          </a:xfrm>
          <a:prstGeom xmlns:a="http://schemas.openxmlformats.org/drawingml/2006/main" prst="ellipse">
            <a:avLst/>
          </a:prstGeom>
          <a:solidFill xmlns:a="http://schemas.openxmlformats.org/drawingml/2006/main">
            <a:srgbClr val="2E7D46"/>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0BDC1627-8888-4DD6-AD2F-692958E442D8}"/>
              </a:ext>
            </a:extLst>
          </p:cNvPr>
          <p:cNvSpPr>
            <a:spLocks xmlns:a="http://schemas.openxmlformats.org/drawingml/2006/main" noGrp="1"/>
          </p:cNvSpPr>
          <p:nvPr/>
        </p:nvSpPr>
        <p:spPr>
          <a:xfrm xmlns:a="http://schemas.openxmlformats.org/drawingml/2006/main">
            <a:off x="1371600" y="3676650"/>
            <a:ext cx="3905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01820"/>
                </a:solidFill>
                <a:latin typeface="Aptos"/>
                <a:ea typeface="Aptos"/>
                <a:cs typeface="Aptos"/>
              </a:defRPr>
            </a:pPr>
            <a:r>
              <a:rPr sz="1275" b="0">
                <a:solidFill>
                  <a:srgbClr val="101820"/>
                </a:solidFill>
                <a:latin typeface="Aptos"/>
                <a:ea typeface="Aptos"/>
                <a:cs typeface="Aptos"/>
              </a:rPr>
              <a:t>confirmation and cooldown alarm policy</a:t>
            </a:r>
          </a:p>
        </p:txBody>
      </p:sp>
      <p:sp>
        <p:nvSpPr>
          <p:cNvPr id="12" name="">
            <a:extLst xmlns:a="http://schemas.openxmlformats.org/drawingml/2006/main">
              <a:ext uri="{FF2B5EF4-FFF2-40B4-BE49-F238E27FC236}">
                <a16:creationId xmlns:a16="http://schemas.microsoft.com/office/drawing/2014/main" id="{CA94EDD1-0948-40CA-83BA-1E62CB2000DC}"/>
              </a:ext>
            </a:extLst>
          </p:cNvPr>
          <p:cNvSpPr>
            <a:spLocks xmlns:a="http://schemas.openxmlformats.org/drawingml/2006/main" noGrp="1"/>
          </p:cNvSpPr>
          <p:nvPr/>
        </p:nvSpPr>
        <p:spPr>
          <a:xfrm xmlns:a="http://schemas.openxmlformats.org/drawingml/2006/main">
            <a:off x="1123950" y="4124325"/>
            <a:ext cx="114300" cy="114300"/>
          </a:xfrm>
          <a:prstGeom xmlns:a="http://schemas.openxmlformats.org/drawingml/2006/main" prst="ellipse">
            <a:avLst/>
          </a:prstGeom>
          <a:solidFill xmlns:a="http://schemas.openxmlformats.org/drawingml/2006/main">
            <a:srgbClr val="2E7D4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1838C60A-1D5E-4604-A226-77B1F38842C4}"/>
              </a:ext>
            </a:extLst>
          </p:cNvPr>
          <p:cNvSpPr>
            <a:spLocks xmlns:a="http://schemas.openxmlformats.org/drawingml/2006/main" noGrp="1"/>
          </p:cNvSpPr>
          <p:nvPr/>
        </p:nvSpPr>
        <p:spPr>
          <a:xfrm xmlns:a="http://schemas.openxmlformats.org/drawingml/2006/main">
            <a:off x="1371600" y="4057650"/>
            <a:ext cx="3905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01820"/>
                </a:solidFill>
                <a:latin typeface="Aptos"/>
                <a:ea typeface="Aptos"/>
                <a:cs typeface="Aptos"/>
              </a:defRPr>
            </a:pPr>
            <a:r>
              <a:rPr sz="1275" b="0">
                <a:solidFill>
                  <a:srgbClr val="101820"/>
                </a:solidFill>
                <a:latin typeface="Aptos"/>
                <a:ea typeface="Aptos"/>
                <a:cs typeface="Aptos"/>
              </a:rPr>
              <a:t>MQTT JSON event publishing</a:t>
            </a:r>
          </a:p>
        </p:txBody>
      </p:sp>
      <p:sp>
        <p:nvSpPr>
          <p:cNvPr id="14" name="">
            <a:extLst xmlns:a="http://schemas.openxmlformats.org/drawingml/2006/main">
              <a:ext uri="{FF2B5EF4-FFF2-40B4-BE49-F238E27FC236}">
                <a16:creationId xmlns:a16="http://schemas.microsoft.com/office/drawing/2014/main" id="{02F5C005-E75F-48DD-9BE9-96A6CBC6D33A}"/>
              </a:ext>
            </a:extLst>
          </p:cNvPr>
          <p:cNvSpPr>
            <a:spLocks xmlns:a="http://schemas.openxmlformats.org/drawingml/2006/main" noGrp="1"/>
          </p:cNvSpPr>
          <p:nvPr/>
        </p:nvSpPr>
        <p:spPr>
          <a:xfrm xmlns:a="http://schemas.openxmlformats.org/drawingml/2006/main">
            <a:off x="1123950" y="4505325"/>
            <a:ext cx="114300" cy="114300"/>
          </a:xfrm>
          <a:prstGeom xmlns:a="http://schemas.openxmlformats.org/drawingml/2006/main" prst="ellipse">
            <a:avLst/>
          </a:prstGeom>
          <a:solidFill xmlns:a="http://schemas.openxmlformats.org/drawingml/2006/main">
            <a:srgbClr val="2E7D46"/>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F14A395F-2692-4949-BE7F-348CB4C8F480}"/>
              </a:ext>
            </a:extLst>
          </p:cNvPr>
          <p:cNvSpPr>
            <a:spLocks xmlns:a="http://schemas.openxmlformats.org/drawingml/2006/main" noGrp="1"/>
          </p:cNvSpPr>
          <p:nvPr/>
        </p:nvSpPr>
        <p:spPr>
          <a:xfrm xmlns:a="http://schemas.openxmlformats.org/drawingml/2006/main">
            <a:off x="1371600" y="4438650"/>
            <a:ext cx="3905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01820"/>
                </a:solidFill>
                <a:latin typeface="Aptos"/>
                <a:ea typeface="Aptos"/>
                <a:cs typeface="Aptos"/>
              </a:defRPr>
            </a:pPr>
            <a:r>
              <a:rPr sz="1275" b="0">
                <a:solidFill>
                  <a:srgbClr val="101820"/>
                </a:solidFill>
                <a:latin typeface="Aptos"/>
                <a:ea typeface="Aptos"/>
                <a:cs typeface="Aptos"/>
              </a:rPr>
              <a:t>Python Telegram notification bridge</a:t>
            </a:r>
          </a:p>
        </p:txBody>
      </p:sp>
      <p:sp>
        <p:nvSpPr>
          <p:cNvPr id="16" name="">
            <a:extLst xmlns:a="http://schemas.openxmlformats.org/drawingml/2006/main">
              <a:ext uri="{FF2B5EF4-FFF2-40B4-BE49-F238E27FC236}">
                <a16:creationId xmlns:a16="http://schemas.microsoft.com/office/drawing/2014/main" id="{B2523DA6-734B-4763-85D6-407BA21E074B}"/>
              </a:ext>
            </a:extLst>
          </p:cNvPr>
          <p:cNvSpPr>
            <a:spLocks xmlns:a="http://schemas.openxmlformats.org/drawingml/2006/main" noGrp="1"/>
          </p:cNvSpPr>
          <p:nvPr/>
        </p:nvSpPr>
        <p:spPr>
          <a:xfrm xmlns:a="http://schemas.openxmlformats.org/drawingml/2006/main">
            <a:off x="6457950" y="1924050"/>
            <a:ext cx="4476750" cy="1466850"/>
          </a:xfrm>
          <a:prstGeom xmlns:a="http://schemas.openxmlformats.org/drawingml/2006/main" prst="rect">
            <a:avLst/>
          </a:prstGeom>
          <a:solidFill xmlns:a="http://schemas.openxmlformats.org/drawingml/2006/main">
            <a:srgbClr val="FFF1F2"/>
          </a:solidFill>
          <a:ln xmlns:a="http://schemas.openxmlformats.org/drawingml/2006/main" w="9525">
            <a:solidFill>
              <a:srgbClr val="E6B7BC"/>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92950bebec24797">
            <a:extLst>
              <a:ext uri="{96DAC541-7B7A-43D3-8B79-37D633B846F1}">
                <asvg:svgBlip xmlns:asvg="http://schemas.microsoft.com/office/drawing/2016/SVG/main" r:embed="Rd627ebc97db64532"/>
              </a:ext>
            </a:extLst>
          </a:blip>
          <a:stretch xmlns:a="http://schemas.openxmlformats.org/drawingml/2006/main"/>
        </p:blipFill>
        <p:spPr>
          <a:xfrm xmlns:a="http://schemas.openxmlformats.org/drawingml/2006/main">
            <a:off x="6743700" y="2209800"/>
            <a:ext cx="342900" cy="3429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B612F921-60CE-4BC5-92CD-5ADA05C68501}"/>
              </a:ext>
            </a:extLst>
          </p:cNvPr>
          <p:cNvSpPr>
            <a:spLocks xmlns:a="http://schemas.openxmlformats.org/drawingml/2006/main" noGrp="1"/>
          </p:cNvSpPr>
          <p:nvPr/>
        </p:nvSpPr>
        <p:spPr>
          <a:xfrm xmlns:a="http://schemas.openxmlformats.org/drawingml/2006/main">
            <a:off x="7277100" y="2190750"/>
            <a:ext cx="2571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820"/>
                </a:solidFill>
                <a:latin typeface="Aptos"/>
                <a:ea typeface="Aptos"/>
                <a:cs typeface="Aptos"/>
              </a:defRPr>
            </a:pPr>
            <a:r>
              <a:rPr sz="1950" b="1">
                <a:solidFill>
                  <a:srgbClr val="101820"/>
                </a:solidFill>
                <a:latin typeface="Aptos"/>
                <a:ea typeface="Aptos"/>
                <a:cs typeface="Aptos"/>
              </a:rPr>
              <a:t>Runtime path</a:t>
            </a:r>
          </a:p>
        </p:txBody>
      </p:sp>
      <p:sp>
        <p:nvSpPr>
          <p:cNvPr id="19" name="">
            <a:extLst xmlns:a="http://schemas.openxmlformats.org/drawingml/2006/main">
              <a:ext uri="{FF2B5EF4-FFF2-40B4-BE49-F238E27FC236}">
                <a16:creationId xmlns:a16="http://schemas.microsoft.com/office/drawing/2014/main" id="{7DF5D6B6-8893-43AC-80A5-BA584737787D}"/>
              </a:ext>
            </a:extLst>
          </p:cNvPr>
          <p:cNvSpPr>
            <a:spLocks xmlns:a="http://schemas.openxmlformats.org/drawingml/2006/main" noGrp="1"/>
          </p:cNvSpPr>
          <p:nvPr/>
        </p:nvSpPr>
        <p:spPr>
          <a:xfrm xmlns:a="http://schemas.openxmlformats.org/drawingml/2006/main">
            <a:off x="6800850" y="2724150"/>
            <a:ext cx="3714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01820"/>
                </a:solidFill>
                <a:latin typeface="Aptos"/>
                <a:ea typeface="Aptos"/>
                <a:cs typeface="Aptos"/>
              </a:defRPr>
            </a:pPr>
            <a:r>
              <a:rPr sz="1350" b="1">
                <a:solidFill>
                  <a:srgbClr val="101820"/>
                </a:solidFill>
                <a:latin typeface="Aptos"/>
                <a:ea typeface="Aptos"/>
                <a:cs typeface="Aptos"/>
              </a:rPr>
              <a:t>ESP32 camera -&gt; on-device AI -&gt; MQTT event -&gt; Python backend -&gt; Telegram alert</a:t>
            </a:r>
          </a:p>
        </p:txBody>
      </p:sp>
      <p:sp>
        <p:nvSpPr>
          <p:cNvPr id="20" name="">
            <a:extLst xmlns:a="http://schemas.openxmlformats.org/drawingml/2006/main">
              <a:ext uri="{FF2B5EF4-FFF2-40B4-BE49-F238E27FC236}">
                <a16:creationId xmlns:a16="http://schemas.microsoft.com/office/drawing/2014/main" id="{B47D4388-A87A-4D74-86F6-E1863B0A0F5B}"/>
              </a:ext>
            </a:extLst>
          </p:cNvPr>
          <p:cNvSpPr>
            <a:spLocks xmlns:a="http://schemas.openxmlformats.org/drawingml/2006/main" noGrp="1"/>
          </p:cNvSpPr>
          <p:nvPr/>
        </p:nvSpPr>
        <p:spPr>
          <a:xfrm xmlns:a="http://schemas.openxmlformats.org/drawingml/2006/main">
            <a:off x="6457950" y="3886200"/>
            <a:ext cx="4476750" cy="1295400"/>
          </a:xfrm>
          <a:prstGeom xmlns:a="http://schemas.openxmlformats.org/drawingml/2006/main" prst="rect">
            <a:avLst/>
          </a:prstGeom>
          <a:solidFill xmlns:a="http://schemas.openxmlformats.org/drawingml/2006/main">
            <a:srgbClr val="DDF0EF"/>
          </a:solidFill>
          <a:ln xmlns:a="http://schemas.openxmlformats.org/drawingml/2006/main" w="9525">
            <a:solidFill>
              <a:srgbClr val="9FD1C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95d97ac86584c6b">
            <a:extLst>
              <a:ext uri="{96DAC541-7B7A-43D3-8B79-37D633B846F1}">
                <asvg:svgBlip xmlns:asvg="http://schemas.microsoft.com/office/drawing/2016/SVG/main" r:embed="Rd37f790bf7594abd"/>
              </a:ext>
            </a:extLst>
          </a:blip>
          <a:stretch xmlns:a="http://schemas.openxmlformats.org/drawingml/2006/main"/>
        </p:blipFill>
        <p:spPr>
          <a:xfrm xmlns:a="http://schemas.openxmlformats.org/drawingml/2006/main">
            <a:off x="6743700" y="4171950"/>
            <a:ext cx="323850" cy="3238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8B32F163-62F9-4224-85C5-C81DF7CB6BF5}"/>
              </a:ext>
            </a:extLst>
          </p:cNvPr>
          <p:cNvSpPr>
            <a:spLocks xmlns:a="http://schemas.openxmlformats.org/drawingml/2006/main" noGrp="1"/>
          </p:cNvSpPr>
          <p:nvPr/>
        </p:nvSpPr>
        <p:spPr>
          <a:xfrm xmlns:a="http://schemas.openxmlformats.org/drawingml/2006/main">
            <a:off x="7277100" y="4133850"/>
            <a:ext cx="2476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01820"/>
                </a:solidFill>
                <a:latin typeface="Aptos"/>
                <a:ea typeface="Aptos"/>
                <a:cs typeface="Aptos"/>
              </a:defRPr>
            </a:pPr>
            <a:r>
              <a:rPr sz="1875" b="1">
                <a:solidFill>
                  <a:srgbClr val="101820"/>
                </a:solidFill>
                <a:latin typeface="Aptos"/>
                <a:ea typeface="Aptos"/>
                <a:cs typeface="Aptos"/>
              </a:rPr>
              <a:t>Repository</a:t>
            </a:r>
          </a:p>
        </p:txBody>
      </p:sp>
      <p:sp>
        <p:nvSpPr>
          <p:cNvPr id="23" name="">
            <a:extLst xmlns:a="http://schemas.openxmlformats.org/drawingml/2006/main">
              <a:ext uri="{FF2B5EF4-FFF2-40B4-BE49-F238E27FC236}">
                <a16:creationId xmlns:a16="http://schemas.microsoft.com/office/drawing/2014/main" id="{230C1CC7-4B06-4C6B-BB31-CC45075AC68E}"/>
              </a:ext>
            </a:extLst>
          </p:cNvPr>
          <p:cNvSpPr>
            <a:spLocks xmlns:a="http://schemas.openxmlformats.org/drawingml/2006/main" noGrp="1"/>
          </p:cNvSpPr>
          <p:nvPr/>
        </p:nvSpPr>
        <p:spPr>
          <a:xfrm xmlns:a="http://schemas.openxmlformats.org/drawingml/2006/main">
            <a:off x="6800850" y="4667250"/>
            <a:ext cx="3714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425" b="1">
                <a:solidFill>
                  <a:srgbClr val="101820"/>
                </a:solidFill>
                <a:latin typeface="Aptos"/>
                <a:ea typeface="Aptos"/>
                <a:cs typeface="Aptos"/>
              </a:defRPr>
            </a:pPr>
            <a:r>
              <a:rPr sz="1425" b="1">
                <a:solidFill>
                  <a:srgbClr val="101820"/>
                </a:solidFill>
                <a:latin typeface="Aptos"/>
                <a:ea typeface="Aptos"/>
                <a:cs typeface="Aptos"/>
              </a:rPr>
              <a:t>ernyei13/iot-project-pedestrian-detector</a:t>
            </a:r>
          </a:p>
        </p:txBody>
      </p:sp>
      <p:sp>
        <p:nvSpPr>
          <p:cNvPr id="24" name="">
            <a:extLst xmlns:a="http://schemas.openxmlformats.org/drawingml/2006/main">
              <a:ext uri="{FF2B5EF4-FFF2-40B4-BE49-F238E27FC236}">
                <a16:creationId xmlns:a16="http://schemas.microsoft.com/office/drawing/2014/main" id="{EF0C75EF-CB61-4A64-AC41-339C2D8ADEB5}"/>
              </a:ext>
            </a:extLst>
          </p:cNvPr>
          <p:cNvSpPr>
            <a:spLocks xmlns:a="http://schemas.openxmlformats.org/drawingml/2006/main" noGrp="1"/>
          </p:cNvSpPr>
          <p:nvPr/>
        </p:nvSpPr>
        <p:spPr>
          <a:xfrm xmlns:a="http://schemas.openxmlformats.org/drawingml/2006/main">
            <a:off x="1162050" y="5791200"/>
            <a:ext cx="9810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101820"/>
                </a:solidFill>
                <a:latin typeface="Aptos"/>
                <a:ea typeface="Aptos"/>
                <a:cs typeface="Aptos"/>
              </a:defRPr>
            </a:pPr>
            <a:r>
              <a:rPr sz="1800" b="1">
                <a:solidFill>
                  <a:srgbClr val="101820"/>
                </a:solidFill>
                <a:latin typeface="Aptos"/>
                <a:ea typeface="Aptos"/>
                <a:cs typeface="Aptos"/>
              </a:rPr>
              <a:t>Key idea: useful alarm metadata leaves the device; raw camera frames do not need to.</a:t>
            </a:r>
          </a:p>
        </p:txBody>
      </p:sp>
      <p:sp>
        <p:nvSpPr>
          <p:cNvPr id="25" name="">
            <a:extLst xmlns:a="http://schemas.openxmlformats.org/drawingml/2006/main">
              <a:ext uri="{FF2B5EF4-FFF2-40B4-BE49-F238E27FC236}">
                <a16:creationId xmlns:a16="http://schemas.microsoft.com/office/drawing/2014/main" id="{9EF1AADD-C038-4079-95F6-EA8427DBDFCD}"/>
              </a:ext>
            </a:extLst>
          </p:cNvPr>
          <p:cNvSpPr>
            <a:spLocks xmlns:a="http://schemas.openxmlformats.org/drawingml/2006/main" noGrp="1"/>
          </p:cNvSpPr>
          <p:nvPr/>
        </p:nvSpPr>
        <p:spPr>
          <a:xfrm xmlns:a="http://schemas.openxmlformats.org/drawingml/2006/main">
            <a:off x="552450" y="64579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E6872"/>
                </a:solidFill>
                <a:latin typeface="Aptos"/>
                <a:ea typeface="Aptos"/>
                <a:cs typeface="Aptos"/>
              </a:defRPr>
            </a:pPr>
            <a:r>
              <a:rPr sz="1050" b="0">
                <a:solidFill>
                  <a:srgbClr val="5E6872"/>
                </a:solidFill>
                <a:latin typeface="Aptos"/>
                <a:ea typeface="Aptos"/>
                <a:cs typeface="Aptos"/>
              </a:rPr>
              <a:t>Smart Visual Alarm System | 11</a:t>
            </a:r>
          </a:p>
        </p:txBody>
      </p:sp>
    </p:spTree>
    <p:extLst>
      <p:ext uri="{BB962C8B-B14F-4D97-AF65-F5344CB8AC3E}">
        <p14:creationId xmlns:p14="http://schemas.microsoft.com/office/powerpoint/2010/main" val="58018558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7EDC3B9-9351-4EC2-AFEA-FB1DD8CFB44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B522A1B-8597-45F6-8C60-53C701906351}"/>
              </a:ext>
            </a:extLst>
          </p:cNvPr>
          <p:cNvSpPr>
            <a:spLocks xmlns:a="http://schemas.openxmlformats.org/drawingml/2006/main" noGrp="1"/>
          </p:cNvSpPr>
          <p:nvPr/>
        </p:nvSpPr>
        <p:spPr>
          <a:xfrm xmlns:a="http://schemas.openxmlformats.org/drawingml/2006/main">
            <a:off x="552450" y="438150"/>
            <a:ext cx="8763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01820"/>
                </a:solidFill>
                <a:latin typeface="Aptos Display"/>
                <a:ea typeface="Aptos Display"/>
                <a:cs typeface="Aptos Display"/>
              </a:defRPr>
            </a:pPr>
            <a:r>
              <a:rPr sz="3300" b="1">
                <a:solidFill>
                  <a:srgbClr val="101820"/>
                </a:solidFill>
                <a:latin typeface="Aptos Display"/>
                <a:ea typeface="Aptos Display"/>
                <a:cs typeface="Aptos Display"/>
              </a:rPr>
              <a:t>End-to-end system flow</a:t>
            </a:r>
          </a:p>
        </p:txBody>
      </p:sp>
      <p:sp>
        <p:nvSpPr>
          <p:cNvPr id="3" name="">
            <a:extLst xmlns:a="http://schemas.openxmlformats.org/drawingml/2006/main">
              <a:ext uri="{FF2B5EF4-FFF2-40B4-BE49-F238E27FC236}">
                <a16:creationId xmlns:a16="http://schemas.microsoft.com/office/drawing/2014/main" id="{697AD58F-F81F-437B-A381-0DC2BD6B94B5}"/>
              </a:ext>
            </a:extLst>
          </p:cNvPr>
          <p:cNvSpPr>
            <a:spLocks xmlns:a="http://schemas.openxmlformats.org/drawingml/2006/main" noGrp="1"/>
          </p:cNvSpPr>
          <p:nvPr/>
        </p:nvSpPr>
        <p:spPr>
          <a:xfrm xmlns:a="http://schemas.openxmlformats.org/drawingml/2006/main">
            <a:off x="2152650" y="1143000"/>
            <a:ext cx="7886700" cy="2171700"/>
          </a:xfrm>
          <a:prstGeom xmlns:a="http://schemas.openxmlformats.org/drawingml/2006/main" prst="rect">
            <a:avLst/>
          </a:prstGeom>
          <a:solidFill xmlns:a="http://schemas.openxmlformats.org/drawingml/2006/main">
            <a:srgbClr val="FAFAFA"/>
          </a:solidFill>
          <a:ln xmlns:a="http://schemas.openxmlformats.org/drawingml/2006/main" w="9525">
            <a:solidFill>
              <a:srgbClr val="D7DCE2"/>
            </a:solidFill>
            <a:prstDash val="solid"/>
          </a:ln>
        </p:spPr>
      </p:sp>
      <p:sp>
        <p:nvSpPr>
          <p:cNvPr id="4" name="">
            <a:extLst xmlns:a="http://schemas.openxmlformats.org/drawingml/2006/main">
              <a:ext uri="{FF2B5EF4-FFF2-40B4-BE49-F238E27FC236}">
                <a16:creationId xmlns:a16="http://schemas.microsoft.com/office/drawing/2014/main" id="{97A9460C-E3DC-4C63-AF9C-1EB540B3D045}"/>
              </a:ext>
            </a:extLst>
          </p:cNvPr>
          <p:cNvSpPr>
            <a:spLocks xmlns:a="http://schemas.openxmlformats.org/drawingml/2006/main" noGrp="1"/>
          </p:cNvSpPr>
          <p:nvPr/>
        </p:nvSpPr>
        <p:spPr>
          <a:xfrm xmlns:a="http://schemas.openxmlformats.org/drawingml/2006/main">
            <a:off x="2400300" y="1257300"/>
            <a:ext cx="739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8B1E29"/>
                </a:solidFill>
                <a:latin typeface="Aptos"/>
                <a:ea typeface="Aptos"/>
                <a:cs typeface="Aptos"/>
              </a:defRPr>
            </a:pPr>
            <a:r>
              <a:rPr sz="1125" b="1">
                <a:solidFill>
                  <a:srgbClr val="8B1E29"/>
                </a:solidFill>
                <a:latin typeface="Aptos"/>
                <a:ea typeface="Aptos"/>
                <a:cs typeface="Aptos"/>
              </a:rPr>
              <a:t>ESP32-S3-EYE local processing: raw frames stay on the board</a:t>
            </a:r>
          </a:p>
        </p:txBody>
      </p:sp>
      <p:sp>
        <p:nvSpPr>
          <p:cNvPr id="5" name="">
            <a:extLst xmlns:a="http://schemas.openxmlformats.org/drawingml/2006/main">
              <a:ext uri="{FF2B5EF4-FFF2-40B4-BE49-F238E27FC236}">
                <a16:creationId xmlns:a16="http://schemas.microsoft.com/office/drawing/2014/main" id="{B44529E0-EAAF-4293-8A26-6C31786AFCE3}"/>
              </a:ext>
            </a:extLst>
          </p:cNvPr>
          <p:cNvSpPr>
            <a:spLocks xmlns:a="http://schemas.openxmlformats.org/drawingml/2006/main" noGrp="1"/>
          </p:cNvSpPr>
          <p:nvPr/>
        </p:nvSpPr>
        <p:spPr>
          <a:xfrm xmlns:a="http://schemas.openxmlformats.org/drawingml/2006/main">
            <a:off x="2457450" y="1543050"/>
            <a:ext cx="7277100" cy="533400"/>
          </a:xfrm>
          <a:prstGeom xmlns:a="http://schemas.openxmlformats.org/drawingml/2006/main" prst="rect">
            <a:avLst/>
          </a:prstGeom>
          <a:solidFill xmlns:a="http://schemas.openxmlformats.org/drawingml/2006/main">
            <a:srgbClr val="FFF7F7"/>
          </a:solidFill>
          <a:ln xmlns:a="http://schemas.openxmlformats.org/drawingml/2006/main" w="9525">
            <a:solidFill>
              <a:srgbClr val="C32832"/>
            </a:solidFill>
            <a:prstDash val="solid"/>
          </a:ln>
        </p:spPr>
      </p:sp>
      <p:sp>
        <p:nvSpPr>
          <p:cNvPr id="6" name="">
            <a:extLst xmlns:a="http://schemas.openxmlformats.org/drawingml/2006/main">
              <a:ext uri="{FF2B5EF4-FFF2-40B4-BE49-F238E27FC236}">
                <a16:creationId xmlns:a16="http://schemas.microsoft.com/office/drawing/2014/main" id="{14C948AC-3054-4CF5-A713-6E8A9FB2AD7F}"/>
              </a:ext>
            </a:extLst>
          </p:cNvPr>
          <p:cNvSpPr>
            <a:spLocks xmlns:a="http://schemas.openxmlformats.org/drawingml/2006/main" noGrp="1"/>
          </p:cNvSpPr>
          <p:nvPr/>
        </p:nvSpPr>
        <p:spPr>
          <a:xfrm xmlns:a="http://schemas.openxmlformats.org/drawingml/2006/main">
            <a:off x="2457450" y="1543050"/>
            <a:ext cx="514350" cy="533400"/>
          </a:xfrm>
          <a:prstGeom xmlns:a="http://schemas.openxmlformats.org/drawingml/2006/main" prst="rect">
            <a:avLst/>
          </a:prstGeom>
          <a:solidFill xmlns:a="http://schemas.openxmlformats.org/drawingml/2006/main">
            <a:srgbClr val="C328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E5B75A19-587F-49C1-92EB-65F8D0D338DE}"/>
              </a:ext>
            </a:extLst>
          </p:cNvPr>
          <p:cNvSpPr>
            <a:spLocks xmlns:a="http://schemas.openxmlformats.org/drawingml/2006/main" noGrp="1"/>
          </p:cNvSpPr>
          <p:nvPr/>
        </p:nvSpPr>
        <p:spPr>
          <a:xfrm xmlns:a="http://schemas.openxmlformats.org/drawingml/2006/main">
            <a:off x="2457450" y="1647825"/>
            <a:ext cx="514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EA44C2B3-9F17-4D29-8AB9-828B35A7100A}"/>
              </a:ext>
            </a:extLst>
          </p:cNvPr>
          <p:cNvSpPr>
            <a:spLocks xmlns:a="http://schemas.openxmlformats.org/drawingml/2006/main" noGrp="1"/>
          </p:cNvSpPr>
          <p:nvPr/>
        </p:nvSpPr>
        <p:spPr>
          <a:xfrm xmlns:a="http://schemas.openxmlformats.org/drawingml/2006/main">
            <a:off x="3143250" y="1609725"/>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1820"/>
                </a:solidFill>
                <a:latin typeface="Aptos"/>
                <a:ea typeface="Aptos"/>
                <a:cs typeface="Aptos"/>
              </a:defRPr>
            </a:pPr>
            <a:r>
              <a:rPr sz="1275" b="1">
                <a:solidFill>
                  <a:srgbClr val="101820"/>
                </a:solidFill>
                <a:latin typeface="Aptos"/>
                <a:ea typeface="Aptos"/>
                <a:cs typeface="Aptos"/>
              </a:rPr>
              <a:t>Camera + LCD</a:t>
            </a:r>
          </a:p>
        </p:txBody>
      </p:sp>
      <p:sp>
        <p:nvSpPr>
          <p:cNvPr id="9" name="">
            <a:extLst xmlns:a="http://schemas.openxmlformats.org/drawingml/2006/main">
              <a:ext uri="{FF2B5EF4-FFF2-40B4-BE49-F238E27FC236}">
                <a16:creationId xmlns:a16="http://schemas.microsoft.com/office/drawing/2014/main" id="{10ED17AF-9E30-4EDE-980B-5CA99D2C1DDA}"/>
              </a:ext>
            </a:extLst>
          </p:cNvPr>
          <p:cNvSpPr>
            <a:spLocks xmlns:a="http://schemas.openxmlformats.org/drawingml/2006/main" noGrp="1"/>
          </p:cNvSpPr>
          <p:nvPr/>
        </p:nvSpPr>
        <p:spPr>
          <a:xfrm xmlns:a="http://schemas.openxmlformats.org/drawingml/2006/main">
            <a:off x="5372100" y="1666875"/>
            <a:ext cx="415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E6872"/>
                </a:solidFill>
                <a:latin typeface="Aptos"/>
                <a:ea typeface="Aptos"/>
                <a:cs typeface="Aptos"/>
              </a:defRPr>
            </a:pPr>
            <a:r>
              <a:rPr sz="975" b="0">
                <a:solidFill>
                  <a:srgbClr val="5E6872"/>
                </a:solidFill>
                <a:latin typeface="Aptos"/>
                <a:ea typeface="Aptos"/>
                <a:cs typeface="Aptos"/>
              </a:rPr>
              <a:t>Captures RGB565 frames locally and draws the person box on the LCD.</a:t>
            </a:r>
          </a:p>
        </p:txBody>
      </p:sp>
      <p:sp>
        <p:nvSpPr>
          <p:cNvPr id="10" name="">
            <a:extLst xmlns:a="http://schemas.openxmlformats.org/drawingml/2006/main">
              <a:ext uri="{FF2B5EF4-FFF2-40B4-BE49-F238E27FC236}">
                <a16:creationId xmlns:a16="http://schemas.microsoft.com/office/drawing/2014/main" id="{793BAA7B-8E63-4E1A-81AD-341701C975FB}"/>
              </a:ext>
            </a:extLst>
          </p:cNvPr>
          <p:cNvSpPr>
            <a:spLocks xmlns:a="http://schemas.openxmlformats.org/drawingml/2006/main" noGrp="1"/>
          </p:cNvSpPr>
          <p:nvPr/>
        </p:nvSpPr>
        <p:spPr>
          <a:xfrm xmlns:a="http://schemas.openxmlformats.org/drawingml/2006/main">
            <a:off x="2457450" y="2133600"/>
            <a:ext cx="7277100" cy="533400"/>
          </a:xfrm>
          <a:prstGeom xmlns:a="http://schemas.openxmlformats.org/drawingml/2006/main" prst="rect">
            <a:avLst/>
          </a:prstGeom>
          <a:solidFill xmlns:a="http://schemas.openxmlformats.org/drawingml/2006/main">
            <a:srgbClr val="F1FBFA"/>
          </a:solidFill>
          <a:ln xmlns:a="http://schemas.openxmlformats.org/drawingml/2006/main" w="9525">
            <a:solidFill>
              <a:srgbClr val="0E7C86"/>
            </a:solidFill>
            <a:prstDash val="solid"/>
          </a:ln>
        </p:spPr>
      </p:sp>
      <p:sp>
        <p:nvSpPr>
          <p:cNvPr id="11" name="">
            <a:extLst xmlns:a="http://schemas.openxmlformats.org/drawingml/2006/main">
              <a:ext uri="{FF2B5EF4-FFF2-40B4-BE49-F238E27FC236}">
                <a16:creationId xmlns:a16="http://schemas.microsoft.com/office/drawing/2014/main" id="{D92CEE55-04A8-4229-93EA-BC571539A9D2}"/>
              </a:ext>
            </a:extLst>
          </p:cNvPr>
          <p:cNvSpPr>
            <a:spLocks xmlns:a="http://schemas.openxmlformats.org/drawingml/2006/main" noGrp="1"/>
          </p:cNvSpPr>
          <p:nvPr/>
        </p:nvSpPr>
        <p:spPr>
          <a:xfrm xmlns:a="http://schemas.openxmlformats.org/drawingml/2006/main">
            <a:off x="2457450" y="2133600"/>
            <a:ext cx="514350" cy="533400"/>
          </a:xfrm>
          <a:prstGeom xmlns:a="http://schemas.openxmlformats.org/drawingml/2006/main" prst="rect">
            <a:avLst/>
          </a:prstGeom>
          <a:solidFill xmlns:a="http://schemas.openxmlformats.org/drawingml/2006/main">
            <a:srgbClr val="0E7C86"/>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8EBDB9CA-2364-4C3C-A9C8-7F8DCDC08AE4}"/>
              </a:ext>
            </a:extLst>
          </p:cNvPr>
          <p:cNvSpPr>
            <a:spLocks xmlns:a="http://schemas.openxmlformats.org/drawingml/2006/main" noGrp="1"/>
          </p:cNvSpPr>
          <p:nvPr/>
        </p:nvSpPr>
        <p:spPr>
          <a:xfrm xmlns:a="http://schemas.openxmlformats.org/drawingml/2006/main">
            <a:off x="2457450" y="2238375"/>
            <a:ext cx="514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7C7D7095-1F33-44AB-A6DE-6D9C28BC23DE}"/>
              </a:ext>
            </a:extLst>
          </p:cNvPr>
          <p:cNvSpPr>
            <a:spLocks xmlns:a="http://schemas.openxmlformats.org/drawingml/2006/main" noGrp="1"/>
          </p:cNvSpPr>
          <p:nvPr/>
        </p:nvSpPr>
        <p:spPr>
          <a:xfrm xmlns:a="http://schemas.openxmlformats.org/drawingml/2006/main">
            <a:off x="3143250" y="2200275"/>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1820"/>
                </a:solidFill>
                <a:latin typeface="Aptos"/>
                <a:ea typeface="Aptos"/>
                <a:cs typeface="Aptos"/>
              </a:defRPr>
            </a:pPr>
            <a:r>
              <a:rPr sz="1275" b="1">
                <a:solidFill>
                  <a:srgbClr val="101820"/>
                </a:solidFill>
                <a:latin typeface="Aptos"/>
                <a:ea typeface="Aptos"/>
                <a:cs typeface="Aptos"/>
              </a:rPr>
              <a:t>On-device AI</a:t>
            </a:r>
          </a:p>
        </p:txBody>
      </p:sp>
      <p:sp>
        <p:nvSpPr>
          <p:cNvPr id="14" name="">
            <a:extLst xmlns:a="http://schemas.openxmlformats.org/drawingml/2006/main">
              <a:ext uri="{FF2B5EF4-FFF2-40B4-BE49-F238E27FC236}">
                <a16:creationId xmlns:a16="http://schemas.microsoft.com/office/drawing/2014/main" id="{C2E009BB-95E1-4C5A-A855-7507AC891B73}"/>
              </a:ext>
            </a:extLst>
          </p:cNvPr>
          <p:cNvSpPr>
            <a:spLocks xmlns:a="http://schemas.openxmlformats.org/drawingml/2006/main" noGrp="1"/>
          </p:cNvSpPr>
          <p:nvPr/>
        </p:nvSpPr>
        <p:spPr>
          <a:xfrm xmlns:a="http://schemas.openxmlformats.org/drawingml/2006/main">
            <a:off x="5372100" y="2257425"/>
            <a:ext cx="415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E6872"/>
                </a:solidFill>
                <a:latin typeface="Aptos"/>
                <a:ea typeface="Aptos"/>
                <a:cs typeface="Aptos"/>
              </a:defRPr>
            </a:pPr>
            <a:r>
              <a:rPr sz="975" b="0">
                <a:solidFill>
                  <a:srgbClr val="5E6872"/>
                </a:solidFill>
                <a:latin typeface="Aptos"/>
                <a:ea typeface="Aptos"/>
                <a:cs typeface="Aptos"/>
              </a:rPr>
              <a:t>Resizes to 224x224x3 and runs ESP-DL PICO_S8_V1 on the board.</a:t>
            </a:r>
          </a:p>
        </p:txBody>
      </p:sp>
      <p:sp>
        <p:nvSpPr>
          <p:cNvPr id="15" name="">
            <a:extLst xmlns:a="http://schemas.openxmlformats.org/drawingml/2006/main">
              <a:ext uri="{FF2B5EF4-FFF2-40B4-BE49-F238E27FC236}">
                <a16:creationId xmlns:a16="http://schemas.microsoft.com/office/drawing/2014/main" id="{FB1C4768-AD4D-4CEC-9B40-7A1011459CC9}"/>
              </a:ext>
            </a:extLst>
          </p:cNvPr>
          <p:cNvSpPr>
            <a:spLocks xmlns:a="http://schemas.openxmlformats.org/drawingml/2006/main" noGrp="1"/>
          </p:cNvSpPr>
          <p:nvPr/>
        </p:nvSpPr>
        <p:spPr>
          <a:xfrm xmlns:a="http://schemas.openxmlformats.org/drawingml/2006/main">
            <a:off x="2457450" y="2724150"/>
            <a:ext cx="7277100" cy="533400"/>
          </a:xfrm>
          <a:prstGeom xmlns:a="http://schemas.openxmlformats.org/drawingml/2006/main" prst="rect">
            <a:avLst/>
          </a:prstGeom>
          <a:solidFill xmlns:a="http://schemas.openxmlformats.org/drawingml/2006/main">
            <a:srgbClr val="F3FBF5"/>
          </a:solidFill>
          <a:ln xmlns:a="http://schemas.openxmlformats.org/drawingml/2006/main" w="9525">
            <a:solidFill>
              <a:srgbClr val="2E7D46"/>
            </a:solidFill>
            <a:prstDash val="solid"/>
          </a:ln>
        </p:spPr>
      </p:sp>
      <p:sp>
        <p:nvSpPr>
          <p:cNvPr id="16" name="">
            <a:extLst xmlns:a="http://schemas.openxmlformats.org/drawingml/2006/main">
              <a:ext uri="{FF2B5EF4-FFF2-40B4-BE49-F238E27FC236}">
                <a16:creationId xmlns:a16="http://schemas.microsoft.com/office/drawing/2014/main" id="{B37840B0-ADFD-491D-9FD9-7D7C2746FF73}"/>
              </a:ext>
            </a:extLst>
          </p:cNvPr>
          <p:cNvSpPr>
            <a:spLocks xmlns:a="http://schemas.openxmlformats.org/drawingml/2006/main" noGrp="1"/>
          </p:cNvSpPr>
          <p:nvPr/>
        </p:nvSpPr>
        <p:spPr>
          <a:xfrm xmlns:a="http://schemas.openxmlformats.org/drawingml/2006/main">
            <a:off x="2457450" y="2724150"/>
            <a:ext cx="514350" cy="533400"/>
          </a:xfrm>
          <a:prstGeom xmlns:a="http://schemas.openxmlformats.org/drawingml/2006/main" prst="rect">
            <a:avLst/>
          </a:prstGeom>
          <a:solidFill xmlns:a="http://schemas.openxmlformats.org/drawingml/2006/main">
            <a:srgbClr val="2E7D46"/>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057153D1-CA8D-48BD-B6F0-B6A6DDA0B91E}"/>
              </a:ext>
            </a:extLst>
          </p:cNvPr>
          <p:cNvSpPr>
            <a:spLocks xmlns:a="http://schemas.openxmlformats.org/drawingml/2006/main" noGrp="1"/>
          </p:cNvSpPr>
          <p:nvPr/>
        </p:nvSpPr>
        <p:spPr>
          <a:xfrm xmlns:a="http://schemas.openxmlformats.org/drawingml/2006/main">
            <a:off x="2457450" y="2828925"/>
            <a:ext cx="514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D2A66335-B3D0-4123-AFF2-A912E714CB75}"/>
              </a:ext>
            </a:extLst>
          </p:cNvPr>
          <p:cNvSpPr>
            <a:spLocks xmlns:a="http://schemas.openxmlformats.org/drawingml/2006/main" noGrp="1"/>
          </p:cNvSpPr>
          <p:nvPr/>
        </p:nvSpPr>
        <p:spPr>
          <a:xfrm xmlns:a="http://schemas.openxmlformats.org/drawingml/2006/main">
            <a:off x="3143250" y="2790825"/>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1820"/>
                </a:solidFill>
                <a:latin typeface="Aptos"/>
                <a:ea typeface="Aptos"/>
                <a:cs typeface="Aptos"/>
              </a:defRPr>
            </a:pPr>
            <a:r>
              <a:rPr sz="1275" b="1">
                <a:solidFill>
                  <a:srgbClr val="101820"/>
                </a:solidFill>
                <a:latin typeface="Aptos"/>
                <a:ea typeface="Aptos"/>
                <a:cs typeface="Aptos"/>
              </a:rPr>
              <a:t>Alarm decision</a:t>
            </a:r>
          </a:p>
        </p:txBody>
      </p:sp>
      <p:sp>
        <p:nvSpPr>
          <p:cNvPr id="19" name="">
            <a:extLst xmlns:a="http://schemas.openxmlformats.org/drawingml/2006/main">
              <a:ext uri="{FF2B5EF4-FFF2-40B4-BE49-F238E27FC236}">
                <a16:creationId xmlns:a16="http://schemas.microsoft.com/office/drawing/2014/main" id="{4BE0982F-CF90-4D6F-A3A7-D9B1EB5F4FC8}"/>
              </a:ext>
            </a:extLst>
          </p:cNvPr>
          <p:cNvSpPr>
            <a:spLocks xmlns:a="http://schemas.openxmlformats.org/drawingml/2006/main" noGrp="1"/>
          </p:cNvSpPr>
          <p:nvPr/>
        </p:nvSpPr>
        <p:spPr>
          <a:xfrm xmlns:a="http://schemas.openxmlformats.org/drawingml/2006/main">
            <a:off x="5372100" y="2847975"/>
            <a:ext cx="415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E6872"/>
                </a:solidFill>
                <a:latin typeface="Aptos"/>
                <a:ea typeface="Aptos"/>
                <a:cs typeface="Aptos"/>
              </a:defRPr>
            </a:pPr>
            <a:r>
              <a:rPr sz="975" b="0">
                <a:solidFill>
                  <a:srgbClr val="5E6872"/>
                </a:solidFill>
                <a:latin typeface="Aptos"/>
                <a:ea typeface="Aptos"/>
                <a:cs typeface="Aptos"/>
              </a:rPr>
              <a:t>Checks confidence, confirmed frames, and cooldown before publishing.</a:t>
            </a:r>
          </a:p>
        </p:txBody>
      </p:sp>
      <p:sp>
        <p:nvSpPr>
          <p:cNvPr id="20" name="">
            <a:extLst xmlns:a="http://schemas.openxmlformats.org/drawingml/2006/main">
              <a:ext uri="{FF2B5EF4-FFF2-40B4-BE49-F238E27FC236}">
                <a16:creationId xmlns:a16="http://schemas.microsoft.com/office/drawing/2014/main" id="{2DAD920D-623A-4971-B3D4-184D896A4884}"/>
              </a:ext>
            </a:extLst>
          </p:cNvPr>
          <p:cNvSpPr>
            <a:spLocks xmlns:a="http://schemas.openxmlformats.org/drawingml/2006/main" noGrp="1"/>
          </p:cNvSpPr>
          <p:nvPr/>
        </p:nvSpPr>
        <p:spPr>
          <a:xfrm xmlns:a="http://schemas.openxmlformats.org/drawingml/2006/main">
            <a:off x="4400550" y="3448050"/>
            <a:ext cx="3390900" cy="266700"/>
          </a:xfrm>
          <a:prstGeom xmlns:a="http://schemas.openxmlformats.org/drawingml/2006/main" prst="rect">
            <a:avLst/>
          </a:prstGeom>
          <a:solidFill xmlns:a="http://schemas.openxmlformats.org/drawingml/2006/main">
            <a:srgbClr val="F4F7FF"/>
          </a:solidFill>
          <a:ln xmlns:a="http://schemas.openxmlformats.org/drawingml/2006/main" w="9525">
            <a:solidFill>
              <a:srgbClr val="2E5EAA"/>
            </a:solidFill>
            <a:prstDash val="solid"/>
          </a:ln>
        </p:spPr>
      </p:sp>
      <p:sp>
        <p:nvSpPr>
          <p:cNvPr id="21" name="">
            <a:extLst xmlns:a="http://schemas.openxmlformats.org/drawingml/2006/main">
              <a:ext uri="{FF2B5EF4-FFF2-40B4-BE49-F238E27FC236}">
                <a16:creationId xmlns:a16="http://schemas.microsoft.com/office/drawing/2014/main" id="{6E2DBDE2-23DD-4464-9BED-FBD388DC936A}"/>
              </a:ext>
            </a:extLst>
          </p:cNvPr>
          <p:cNvSpPr>
            <a:spLocks xmlns:a="http://schemas.openxmlformats.org/drawingml/2006/main" noGrp="1"/>
          </p:cNvSpPr>
          <p:nvPr/>
        </p:nvSpPr>
        <p:spPr>
          <a:xfrm xmlns:a="http://schemas.openxmlformats.org/drawingml/2006/main">
            <a:off x="4400550" y="3505200"/>
            <a:ext cx="3390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2E5EAA"/>
                </a:solidFill>
                <a:latin typeface="Aptos"/>
                <a:ea typeface="Aptos"/>
                <a:cs typeface="Aptos"/>
              </a:defRPr>
            </a:pPr>
            <a:r>
              <a:rPr sz="1125" b="1">
                <a:solidFill>
                  <a:srgbClr val="2E5EAA"/>
                </a:solidFill>
                <a:latin typeface="Aptos"/>
                <a:ea typeface="Aptos"/>
                <a:cs typeface="Aptos"/>
              </a:rPr>
              <a:t>metadata only leaves the device</a:t>
            </a:r>
          </a:p>
        </p:txBody>
      </p:sp>
      <p:sp>
        <p:nvSpPr>
          <p:cNvPr id="22" name="">
            <a:extLst xmlns:a="http://schemas.openxmlformats.org/drawingml/2006/main">
              <a:ext uri="{FF2B5EF4-FFF2-40B4-BE49-F238E27FC236}">
                <a16:creationId xmlns:a16="http://schemas.microsoft.com/office/drawing/2014/main" id="{EDE2B518-B702-4068-800D-BA4A29E2BFB6}"/>
              </a:ext>
            </a:extLst>
          </p:cNvPr>
          <p:cNvSpPr>
            <a:spLocks xmlns:a="http://schemas.openxmlformats.org/drawingml/2006/main" noGrp="1"/>
          </p:cNvSpPr>
          <p:nvPr/>
        </p:nvSpPr>
        <p:spPr>
          <a:xfrm xmlns:a="http://schemas.openxmlformats.org/drawingml/2006/main">
            <a:off x="2457450" y="3829050"/>
            <a:ext cx="7277100" cy="533400"/>
          </a:xfrm>
          <a:prstGeom xmlns:a="http://schemas.openxmlformats.org/drawingml/2006/main" prst="rect">
            <a:avLst/>
          </a:prstGeom>
          <a:solidFill xmlns:a="http://schemas.openxmlformats.org/drawingml/2006/main">
            <a:srgbClr val="F4F7FF"/>
          </a:solidFill>
          <a:ln xmlns:a="http://schemas.openxmlformats.org/drawingml/2006/main" w="9525">
            <a:solidFill>
              <a:srgbClr val="2E5EAA"/>
            </a:solidFill>
            <a:prstDash val="solid"/>
          </a:ln>
        </p:spPr>
      </p:sp>
      <p:sp>
        <p:nvSpPr>
          <p:cNvPr id="23" name="">
            <a:extLst xmlns:a="http://schemas.openxmlformats.org/drawingml/2006/main">
              <a:ext uri="{FF2B5EF4-FFF2-40B4-BE49-F238E27FC236}">
                <a16:creationId xmlns:a16="http://schemas.microsoft.com/office/drawing/2014/main" id="{7CF782A4-78C1-4BDC-B4B9-8BC0EA26DC1E}"/>
              </a:ext>
            </a:extLst>
          </p:cNvPr>
          <p:cNvSpPr>
            <a:spLocks xmlns:a="http://schemas.openxmlformats.org/drawingml/2006/main" noGrp="1"/>
          </p:cNvSpPr>
          <p:nvPr/>
        </p:nvSpPr>
        <p:spPr>
          <a:xfrm xmlns:a="http://schemas.openxmlformats.org/drawingml/2006/main">
            <a:off x="2457450" y="3829050"/>
            <a:ext cx="514350" cy="533400"/>
          </a:xfrm>
          <a:prstGeom xmlns:a="http://schemas.openxmlformats.org/drawingml/2006/main" prst="rect">
            <a:avLst/>
          </a:prstGeom>
          <a:solidFill xmlns:a="http://schemas.openxmlformats.org/drawingml/2006/main">
            <a:srgbClr val="2E5EAA"/>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464AA8BC-386C-491F-9026-B57B100B6618}"/>
              </a:ext>
            </a:extLst>
          </p:cNvPr>
          <p:cNvSpPr>
            <a:spLocks xmlns:a="http://schemas.openxmlformats.org/drawingml/2006/main" noGrp="1"/>
          </p:cNvSpPr>
          <p:nvPr/>
        </p:nvSpPr>
        <p:spPr>
          <a:xfrm xmlns:a="http://schemas.openxmlformats.org/drawingml/2006/main">
            <a:off x="2457450" y="3933825"/>
            <a:ext cx="514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4</a:t>
            </a:r>
          </a:p>
        </p:txBody>
      </p:sp>
      <p:sp>
        <p:nvSpPr>
          <p:cNvPr id="25" name="">
            <a:extLst xmlns:a="http://schemas.openxmlformats.org/drawingml/2006/main">
              <a:ext uri="{FF2B5EF4-FFF2-40B4-BE49-F238E27FC236}">
                <a16:creationId xmlns:a16="http://schemas.microsoft.com/office/drawing/2014/main" id="{9475F185-7A2E-4216-A576-9E7038312937}"/>
              </a:ext>
            </a:extLst>
          </p:cNvPr>
          <p:cNvSpPr>
            <a:spLocks xmlns:a="http://schemas.openxmlformats.org/drawingml/2006/main" noGrp="1"/>
          </p:cNvSpPr>
          <p:nvPr/>
        </p:nvSpPr>
        <p:spPr>
          <a:xfrm xmlns:a="http://schemas.openxmlformats.org/drawingml/2006/main">
            <a:off x="3143250" y="3895725"/>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1820"/>
                </a:solidFill>
                <a:latin typeface="Aptos"/>
                <a:ea typeface="Aptos"/>
                <a:cs typeface="Aptos"/>
              </a:defRPr>
            </a:pPr>
            <a:r>
              <a:rPr sz="1275" b="1">
                <a:solidFill>
                  <a:srgbClr val="101820"/>
                </a:solidFill>
                <a:latin typeface="Aptos"/>
                <a:ea typeface="Aptos"/>
                <a:cs typeface="Aptos"/>
              </a:rPr>
              <a:t>MQTT JSON event</a:t>
            </a:r>
          </a:p>
        </p:txBody>
      </p:sp>
      <p:sp>
        <p:nvSpPr>
          <p:cNvPr id="26" name="">
            <a:extLst xmlns:a="http://schemas.openxmlformats.org/drawingml/2006/main">
              <a:ext uri="{FF2B5EF4-FFF2-40B4-BE49-F238E27FC236}">
                <a16:creationId xmlns:a16="http://schemas.microsoft.com/office/drawing/2014/main" id="{A5DF240E-9D1A-4E7C-AAA3-273B8E762341}"/>
              </a:ext>
            </a:extLst>
          </p:cNvPr>
          <p:cNvSpPr>
            <a:spLocks xmlns:a="http://schemas.openxmlformats.org/drawingml/2006/main" noGrp="1"/>
          </p:cNvSpPr>
          <p:nvPr/>
        </p:nvSpPr>
        <p:spPr>
          <a:xfrm xmlns:a="http://schemas.openxmlformats.org/drawingml/2006/main">
            <a:off x="5372100" y="3952875"/>
            <a:ext cx="415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E6872"/>
                </a:solidFill>
                <a:latin typeface="Aptos"/>
                <a:ea typeface="Aptos"/>
                <a:cs typeface="Aptos"/>
              </a:defRPr>
            </a:pPr>
            <a:r>
              <a:rPr sz="975" b="0">
                <a:solidFill>
                  <a:srgbClr val="5E6872"/>
                </a:solidFill>
                <a:latin typeface="Aptos"/>
                <a:ea typeface="Aptos"/>
                <a:cs typeface="Aptos"/>
              </a:rPr>
              <a:t>Publishes device, event, label, confidence, count, time, and box.</a:t>
            </a:r>
          </a:p>
        </p:txBody>
      </p:sp>
      <p:sp>
        <p:nvSpPr>
          <p:cNvPr id="27" name="">
            <a:extLst xmlns:a="http://schemas.openxmlformats.org/drawingml/2006/main">
              <a:ext uri="{FF2B5EF4-FFF2-40B4-BE49-F238E27FC236}">
                <a16:creationId xmlns:a16="http://schemas.microsoft.com/office/drawing/2014/main" id="{2615DBEE-07C8-41C2-9793-6E00C97ACF80}"/>
              </a:ext>
            </a:extLst>
          </p:cNvPr>
          <p:cNvSpPr>
            <a:spLocks xmlns:a="http://schemas.openxmlformats.org/drawingml/2006/main" noGrp="1"/>
          </p:cNvSpPr>
          <p:nvPr/>
        </p:nvSpPr>
        <p:spPr>
          <a:xfrm xmlns:a="http://schemas.openxmlformats.org/drawingml/2006/main">
            <a:off x="2457450" y="4419600"/>
            <a:ext cx="7277100" cy="533400"/>
          </a:xfrm>
          <a:prstGeom xmlns:a="http://schemas.openxmlformats.org/drawingml/2006/main" prst="rect">
            <a:avLst/>
          </a:prstGeom>
          <a:solidFill xmlns:a="http://schemas.openxmlformats.org/drawingml/2006/main">
            <a:srgbClr val="F4F7FF"/>
          </a:solidFill>
          <a:ln xmlns:a="http://schemas.openxmlformats.org/drawingml/2006/main" w="9525">
            <a:solidFill>
              <a:srgbClr val="2E5EAA"/>
            </a:solidFill>
            <a:prstDash val="solid"/>
          </a:ln>
        </p:spPr>
      </p:sp>
      <p:sp>
        <p:nvSpPr>
          <p:cNvPr id="28" name="">
            <a:extLst xmlns:a="http://schemas.openxmlformats.org/drawingml/2006/main">
              <a:ext uri="{FF2B5EF4-FFF2-40B4-BE49-F238E27FC236}">
                <a16:creationId xmlns:a16="http://schemas.microsoft.com/office/drawing/2014/main" id="{6614CAFC-E4A7-416E-934C-FE04D34CF788}"/>
              </a:ext>
            </a:extLst>
          </p:cNvPr>
          <p:cNvSpPr>
            <a:spLocks xmlns:a="http://schemas.openxmlformats.org/drawingml/2006/main" noGrp="1"/>
          </p:cNvSpPr>
          <p:nvPr/>
        </p:nvSpPr>
        <p:spPr>
          <a:xfrm xmlns:a="http://schemas.openxmlformats.org/drawingml/2006/main">
            <a:off x="2457450" y="4419600"/>
            <a:ext cx="514350" cy="533400"/>
          </a:xfrm>
          <a:prstGeom xmlns:a="http://schemas.openxmlformats.org/drawingml/2006/main" prst="rect">
            <a:avLst/>
          </a:prstGeom>
          <a:solidFill xmlns:a="http://schemas.openxmlformats.org/drawingml/2006/main">
            <a:srgbClr val="2E5EA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C694F809-1909-4CC2-AD28-9E080E0E2F38}"/>
              </a:ext>
            </a:extLst>
          </p:cNvPr>
          <p:cNvSpPr>
            <a:spLocks xmlns:a="http://schemas.openxmlformats.org/drawingml/2006/main" noGrp="1"/>
          </p:cNvSpPr>
          <p:nvPr/>
        </p:nvSpPr>
        <p:spPr>
          <a:xfrm xmlns:a="http://schemas.openxmlformats.org/drawingml/2006/main">
            <a:off x="2457450" y="4524375"/>
            <a:ext cx="514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5</a:t>
            </a:r>
          </a:p>
        </p:txBody>
      </p:sp>
      <p:sp>
        <p:nvSpPr>
          <p:cNvPr id="30" name="">
            <a:extLst xmlns:a="http://schemas.openxmlformats.org/drawingml/2006/main">
              <a:ext uri="{FF2B5EF4-FFF2-40B4-BE49-F238E27FC236}">
                <a16:creationId xmlns:a16="http://schemas.microsoft.com/office/drawing/2014/main" id="{FB2CA69E-AD5B-4698-8E1C-1D3BE677BFB3}"/>
              </a:ext>
            </a:extLst>
          </p:cNvPr>
          <p:cNvSpPr>
            <a:spLocks xmlns:a="http://schemas.openxmlformats.org/drawingml/2006/main" noGrp="1"/>
          </p:cNvSpPr>
          <p:nvPr/>
        </p:nvSpPr>
        <p:spPr>
          <a:xfrm xmlns:a="http://schemas.openxmlformats.org/drawingml/2006/main">
            <a:off x="3143250" y="4486275"/>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1820"/>
                </a:solidFill>
                <a:latin typeface="Aptos"/>
                <a:ea typeface="Aptos"/>
                <a:cs typeface="Aptos"/>
              </a:defRPr>
            </a:pPr>
            <a:r>
              <a:rPr sz="1275" b="1">
                <a:solidFill>
                  <a:srgbClr val="101820"/>
                </a:solidFill>
                <a:latin typeface="Aptos"/>
                <a:ea typeface="Aptos"/>
                <a:cs typeface="Aptos"/>
              </a:rPr>
              <a:t>Mosquitto broker</a:t>
            </a:r>
          </a:p>
        </p:txBody>
      </p:sp>
      <p:sp>
        <p:nvSpPr>
          <p:cNvPr id="31" name="">
            <a:extLst xmlns:a="http://schemas.openxmlformats.org/drawingml/2006/main">
              <a:ext uri="{FF2B5EF4-FFF2-40B4-BE49-F238E27FC236}">
                <a16:creationId xmlns:a16="http://schemas.microsoft.com/office/drawing/2014/main" id="{28BF26FD-9CED-45E8-87E4-2B332289DCD7}"/>
              </a:ext>
            </a:extLst>
          </p:cNvPr>
          <p:cNvSpPr>
            <a:spLocks xmlns:a="http://schemas.openxmlformats.org/drawingml/2006/main" noGrp="1"/>
          </p:cNvSpPr>
          <p:nvPr/>
        </p:nvSpPr>
        <p:spPr>
          <a:xfrm xmlns:a="http://schemas.openxmlformats.org/drawingml/2006/main">
            <a:off x="5372100" y="4543425"/>
            <a:ext cx="415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E6872"/>
                </a:solidFill>
                <a:latin typeface="Aptos"/>
                <a:ea typeface="Aptos"/>
                <a:cs typeface="Aptos"/>
              </a:defRPr>
            </a:pPr>
            <a:r>
              <a:rPr sz="975" b="0">
                <a:solidFill>
                  <a:srgbClr val="5E6872"/>
                </a:solidFill>
                <a:latin typeface="Aptos"/>
                <a:ea typeface="Aptos"/>
                <a:cs typeface="Aptos"/>
              </a:rPr>
              <a:t>Transports the compact alarm event on the local LAN.</a:t>
            </a:r>
          </a:p>
        </p:txBody>
      </p:sp>
      <p:sp>
        <p:nvSpPr>
          <p:cNvPr id="32" name="">
            <a:extLst xmlns:a="http://schemas.openxmlformats.org/drawingml/2006/main">
              <a:ext uri="{FF2B5EF4-FFF2-40B4-BE49-F238E27FC236}">
                <a16:creationId xmlns:a16="http://schemas.microsoft.com/office/drawing/2014/main" id="{2D287CD1-BB95-4E08-9C56-3AE3E098E4AA}"/>
              </a:ext>
            </a:extLst>
          </p:cNvPr>
          <p:cNvSpPr>
            <a:spLocks xmlns:a="http://schemas.openxmlformats.org/drawingml/2006/main" noGrp="1"/>
          </p:cNvSpPr>
          <p:nvPr/>
        </p:nvSpPr>
        <p:spPr>
          <a:xfrm xmlns:a="http://schemas.openxmlformats.org/drawingml/2006/main">
            <a:off x="2457450" y="5010150"/>
            <a:ext cx="7277100" cy="533400"/>
          </a:xfrm>
          <a:prstGeom xmlns:a="http://schemas.openxmlformats.org/drawingml/2006/main" prst="rect">
            <a:avLst/>
          </a:prstGeom>
          <a:solidFill xmlns:a="http://schemas.openxmlformats.org/drawingml/2006/main">
            <a:srgbClr val="FFF8E6"/>
          </a:solidFill>
          <a:ln xmlns:a="http://schemas.openxmlformats.org/drawingml/2006/main" w="9525">
            <a:solidFill>
              <a:srgbClr val="F2A900"/>
            </a:solidFill>
            <a:prstDash val="solid"/>
          </a:ln>
        </p:spPr>
      </p:sp>
      <p:sp>
        <p:nvSpPr>
          <p:cNvPr id="33" name="">
            <a:extLst xmlns:a="http://schemas.openxmlformats.org/drawingml/2006/main">
              <a:ext uri="{FF2B5EF4-FFF2-40B4-BE49-F238E27FC236}">
                <a16:creationId xmlns:a16="http://schemas.microsoft.com/office/drawing/2014/main" id="{AC4C60F7-BB1B-4AEA-850C-AA9B4C8AEED1}"/>
              </a:ext>
            </a:extLst>
          </p:cNvPr>
          <p:cNvSpPr>
            <a:spLocks xmlns:a="http://schemas.openxmlformats.org/drawingml/2006/main" noGrp="1"/>
          </p:cNvSpPr>
          <p:nvPr/>
        </p:nvSpPr>
        <p:spPr>
          <a:xfrm xmlns:a="http://schemas.openxmlformats.org/drawingml/2006/main">
            <a:off x="2457450" y="5010150"/>
            <a:ext cx="514350" cy="533400"/>
          </a:xfrm>
          <a:prstGeom xmlns:a="http://schemas.openxmlformats.org/drawingml/2006/main" prst="rect">
            <a:avLst/>
          </a:prstGeom>
          <a:solidFill xmlns:a="http://schemas.openxmlformats.org/drawingml/2006/main">
            <a:srgbClr val="F2A900"/>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D8FE7D77-6CE4-4C19-B0BD-B59B8A95E92B}"/>
              </a:ext>
            </a:extLst>
          </p:cNvPr>
          <p:cNvSpPr>
            <a:spLocks xmlns:a="http://schemas.openxmlformats.org/drawingml/2006/main" noGrp="1"/>
          </p:cNvSpPr>
          <p:nvPr/>
        </p:nvSpPr>
        <p:spPr>
          <a:xfrm xmlns:a="http://schemas.openxmlformats.org/drawingml/2006/main">
            <a:off x="2457450" y="5114925"/>
            <a:ext cx="514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6</a:t>
            </a:r>
          </a:p>
        </p:txBody>
      </p:sp>
      <p:sp>
        <p:nvSpPr>
          <p:cNvPr id="35" name="">
            <a:extLst xmlns:a="http://schemas.openxmlformats.org/drawingml/2006/main">
              <a:ext uri="{FF2B5EF4-FFF2-40B4-BE49-F238E27FC236}">
                <a16:creationId xmlns:a16="http://schemas.microsoft.com/office/drawing/2014/main" id="{1108FC34-EA04-46A7-932C-6AE458F3E7DD}"/>
              </a:ext>
            </a:extLst>
          </p:cNvPr>
          <p:cNvSpPr>
            <a:spLocks xmlns:a="http://schemas.openxmlformats.org/drawingml/2006/main" noGrp="1"/>
          </p:cNvSpPr>
          <p:nvPr/>
        </p:nvSpPr>
        <p:spPr>
          <a:xfrm xmlns:a="http://schemas.openxmlformats.org/drawingml/2006/main">
            <a:off x="3143250" y="5076825"/>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1820"/>
                </a:solidFill>
                <a:latin typeface="Aptos"/>
                <a:ea typeface="Aptos"/>
                <a:cs typeface="Aptos"/>
              </a:defRPr>
            </a:pPr>
            <a:r>
              <a:rPr sz="1275" b="1">
                <a:solidFill>
                  <a:srgbClr val="101820"/>
                </a:solidFill>
                <a:latin typeface="Aptos"/>
                <a:ea typeface="Aptos"/>
                <a:cs typeface="Aptos"/>
              </a:rPr>
              <a:t>Python backend</a:t>
            </a:r>
          </a:p>
        </p:txBody>
      </p:sp>
      <p:sp>
        <p:nvSpPr>
          <p:cNvPr id="36" name="">
            <a:extLst xmlns:a="http://schemas.openxmlformats.org/drawingml/2006/main">
              <a:ext uri="{FF2B5EF4-FFF2-40B4-BE49-F238E27FC236}">
                <a16:creationId xmlns:a16="http://schemas.microsoft.com/office/drawing/2014/main" id="{16E4C36A-AAEA-44A4-867A-F4902B59A03D}"/>
              </a:ext>
            </a:extLst>
          </p:cNvPr>
          <p:cNvSpPr>
            <a:spLocks xmlns:a="http://schemas.openxmlformats.org/drawingml/2006/main" noGrp="1"/>
          </p:cNvSpPr>
          <p:nvPr/>
        </p:nvSpPr>
        <p:spPr>
          <a:xfrm xmlns:a="http://schemas.openxmlformats.org/drawingml/2006/main">
            <a:off x="5372100" y="5133975"/>
            <a:ext cx="415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E6872"/>
                </a:solidFill>
                <a:latin typeface="Aptos"/>
                <a:ea typeface="Aptos"/>
                <a:cs typeface="Aptos"/>
              </a:defRPr>
            </a:pPr>
            <a:r>
              <a:rPr sz="975" b="0">
                <a:solidFill>
                  <a:srgbClr val="5E6872"/>
                </a:solidFill>
                <a:latin typeface="Aptos"/>
                <a:ea typeface="Aptos"/>
                <a:cs typeface="Aptos"/>
              </a:rPr>
              <a:t>Validates JSON, formats text, and calls the Telegram API.</a:t>
            </a:r>
          </a:p>
        </p:txBody>
      </p:sp>
      <p:sp>
        <p:nvSpPr>
          <p:cNvPr id="37" name="">
            <a:extLst xmlns:a="http://schemas.openxmlformats.org/drawingml/2006/main">
              <a:ext uri="{FF2B5EF4-FFF2-40B4-BE49-F238E27FC236}">
                <a16:creationId xmlns:a16="http://schemas.microsoft.com/office/drawing/2014/main" id="{CCED4955-DA61-40E8-9240-B416C9E27932}"/>
              </a:ext>
            </a:extLst>
          </p:cNvPr>
          <p:cNvSpPr>
            <a:spLocks xmlns:a="http://schemas.openxmlformats.org/drawingml/2006/main" noGrp="1"/>
          </p:cNvSpPr>
          <p:nvPr/>
        </p:nvSpPr>
        <p:spPr>
          <a:xfrm xmlns:a="http://schemas.openxmlformats.org/drawingml/2006/main">
            <a:off x="2457450" y="5600700"/>
            <a:ext cx="7277100" cy="533400"/>
          </a:xfrm>
          <a:prstGeom xmlns:a="http://schemas.openxmlformats.org/drawingml/2006/main" prst="rect">
            <a:avLst/>
          </a:prstGeom>
          <a:solidFill xmlns:a="http://schemas.openxmlformats.org/drawingml/2006/main">
            <a:srgbClr val="FFF7F7"/>
          </a:solidFill>
          <a:ln xmlns:a="http://schemas.openxmlformats.org/drawingml/2006/main" w="9525">
            <a:solidFill>
              <a:srgbClr val="C32832"/>
            </a:solidFill>
            <a:prstDash val="solid"/>
          </a:ln>
        </p:spPr>
      </p:sp>
      <p:sp>
        <p:nvSpPr>
          <p:cNvPr id="38" name="">
            <a:extLst xmlns:a="http://schemas.openxmlformats.org/drawingml/2006/main">
              <a:ext uri="{FF2B5EF4-FFF2-40B4-BE49-F238E27FC236}">
                <a16:creationId xmlns:a16="http://schemas.microsoft.com/office/drawing/2014/main" id="{8FB09B40-E7FD-4CBD-B087-032628A288BB}"/>
              </a:ext>
            </a:extLst>
          </p:cNvPr>
          <p:cNvSpPr>
            <a:spLocks xmlns:a="http://schemas.openxmlformats.org/drawingml/2006/main" noGrp="1"/>
          </p:cNvSpPr>
          <p:nvPr/>
        </p:nvSpPr>
        <p:spPr>
          <a:xfrm xmlns:a="http://schemas.openxmlformats.org/drawingml/2006/main">
            <a:off x="2457450" y="5600700"/>
            <a:ext cx="514350" cy="533400"/>
          </a:xfrm>
          <a:prstGeom xmlns:a="http://schemas.openxmlformats.org/drawingml/2006/main" prst="rect">
            <a:avLst/>
          </a:prstGeom>
          <a:solidFill xmlns:a="http://schemas.openxmlformats.org/drawingml/2006/main">
            <a:srgbClr val="C32832"/>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AE1DE45B-A6D0-4A67-AB5D-36CA6ECC8CBE}"/>
              </a:ext>
            </a:extLst>
          </p:cNvPr>
          <p:cNvSpPr>
            <a:spLocks xmlns:a="http://schemas.openxmlformats.org/drawingml/2006/main" noGrp="1"/>
          </p:cNvSpPr>
          <p:nvPr/>
        </p:nvSpPr>
        <p:spPr>
          <a:xfrm xmlns:a="http://schemas.openxmlformats.org/drawingml/2006/main">
            <a:off x="2457450" y="5705475"/>
            <a:ext cx="514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7</a:t>
            </a:r>
          </a:p>
        </p:txBody>
      </p:sp>
      <p:sp>
        <p:nvSpPr>
          <p:cNvPr id="40" name="">
            <a:extLst xmlns:a="http://schemas.openxmlformats.org/drawingml/2006/main">
              <a:ext uri="{FF2B5EF4-FFF2-40B4-BE49-F238E27FC236}">
                <a16:creationId xmlns:a16="http://schemas.microsoft.com/office/drawing/2014/main" id="{16F2FE76-717A-497E-B077-FB68356A3DB6}"/>
              </a:ext>
            </a:extLst>
          </p:cNvPr>
          <p:cNvSpPr>
            <a:spLocks xmlns:a="http://schemas.openxmlformats.org/drawingml/2006/main" noGrp="1"/>
          </p:cNvSpPr>
          <p:nvPr/>
        </p:nvSpPr>
        <p:spPr>
          <a:xfrm xmlns:a="http://schemas.openxmlformats.org/drawingml/2006/main">
            <a:off x="3143250" y="5667375"/>
            <a:ext cx="2190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1820"/>
                </a:solidFill>
                <a:latin typeface="Aptos"/>
                <a:ea typeface="Aptos"/>
                <a:cs typeface="Aptos"/>
              </a:defRPr>
            </a:pPr>
            <a:r>
              <a:rPr sz="1275" b="1">
                <a:solidFill>
                  <a:srgbClr val="101820"/>
                </a:solidFill>
                <a:latin typeface="Aptos"/>
                <a:ea typeface="Aptos"/>
                <a:cs typeface="Aptos"/>
              </a:rPr>
              <a:t>Telegram alert</a:t>
            </a:r>
          </a:p>
        </p:txBody>
      </p:sp>
      <p:sp>
        <p:nvSpPr>
          <p:cNvPr id="41" name="">
            <a:extLst xmlns:a="http://schemas.openxmlformats.org/drawingml/2006/main">
              <a:ext uri="{FF2B5EF4-FFF2-40B4-BE49-F238E27FC236}">
                <a16:creationId xmlns:a16="http://schemas.microsoft.com/office/drawing/2014/main" id="{2C17053F-6A5B-4268-B45B-C96867A471C5}"/>
              </a:ext>
            </a:extLst>
          </p:cNvPr>
          <p:cNvSpPr>
            <a:spLocks xmlns:a="http://schemas.openxmlformats.org/drawingml/2006/main" noGrp="1"/>
          </p:cNvSpPr>
          <p:nvPr/>
        </p:nvSpPr>
        <p:spPr>
          <a:xfrm xmlns:a="http://schemas.openxmlformats.org/drawingml/2006/main">
            <a:off x="5372100" y="5724525"/>
            <a:ext cx="415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E6872"/>
                </a:solidFill>
                <a:latin typeface="Aptos"/>
                <a:ea typeface="Aptos"/>
                <a:cs typeface="Aptos"/>
              </a:defRPr>
            </a:pPr>
            <a:r>
              <a:rPr sz="975" b="0">
                <a:solidFill>
                  <a:srgbClr val="5E6872"/>
                </a:solidFill>
                <a:latin typeface="Aptos"/>
                <a:ea typeface="Aptos"/>
                <a:cs typeface="Aptos"/>
              </a:rPr>
              <a:t>Sends a readable alarm message to the user.</a:t>
            </a:r>
          </a:p>
        </p:txBody>
      </p:sp>
      <p:sp>
        <p:nvSpPr>
          <p:cNvPr id="42" name="">
            <a:extLst xmlns:a="http://schemas.openxmlformats.org/drawingml/2006/main">
              <a:ext uri="{FF2B5EF4-FFF2-40B4-BE49-F238E27FC236}">
                <a16:creationId xmlns:a16="http://schemas.microsoft.com/office/drawing/2014/main" id="{5C29D888-6F05-4F77-BB67-A080A7F6E6FF}"/>
              </a:ext>
            </a:extLst>
          </p:cNvPr>
          <p:cNvSpPr>
            <a:spLocks xmlns:a="http://schemas.openxmlformats.org/drawingml/2006/main" noGrp="1"/>
          </p:cNvSpPr>
          <p:nvPr/>
        </p:nvSpPr>
        <p:spPr>
          <a:xfrm xmlns:a="http://schemas.openxmlformats.org/drawingml/2006/main">
            <a:off x="552450" y="64579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E6872"/>
                </a:solidFill>
                <a:latin typeface="Aptos"/>
                <a:ea typeface="Aptos"/>
                <a:cs typeface="Aptos"/>
              </a:defRPr>
            </a:pPr>
            <a:r>
              <a:rPr sz="1050" b="0">
                <a:solidFill>
                  <a:srgbClr val="5E6872"/>
                </a:solidFill>
                <a:latin typeface="Aptos"/>
                <a:ea typeface="Aptos"/>
                <a:cs typeface="Aptos"/>
              </a:rPr>
              <a:t>Smart Visual Alarm System | 12</a:t>
            </a:r>
          </a:p>
        </p:txBody>
      </p:sp>
    </p:spTree>
    <p:extLst>
      <p:ext uri="{BB962C8B-B14F-4D97-AF65-F5344CB8AC3E}">
        <p14:creationId xmlns:p14="http://schemas.microsoft.com/office/powerpoint/2010/main" val="135928010"/>
      </p:ext>
    </p:extLst>
  </p:cSld>
</p:sld>
</file>

<file path=ppt/theme/theme1.xml><?xml version="1.0" encoding="utf-8"?>
<a:theme xmlns:a="http://schemas.openxmlformats.org/drawingml/2006/main" name="Project">
  <a:themeElements>
    <a:clrScheme name="Projec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Projec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2026-06-12T09:29:33.2430000Z</dcterms:created>
  <dcterms:modified xsi:type="dcterms:W3CDTF">2026-06-12T09:29:33.2430000Z</dcterms:modified>
</coreProperties>
</file>